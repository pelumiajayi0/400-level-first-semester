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6" r:id="rId11"/>
    <p:sldId id="277" r:id="rId12"/>
    <p:sldId id="273" r:id="rId13"/>
    <p:sldId id="274" r:id="rId14"/>
    <p:sldId id="27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-540" y="-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“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 panose="020B0604020202020204"/>
              </a:rPr>
              <a:t>”</a:t>
            </a:r>
            <a:endParaRPr lang="en-US" sz="8000" baseline="0" dirty="0">
              <a:ln w="3175" cmpd="sng">
                <a:noFill/>
              </a:ln>
              <a:solidFill>
                <a:schemeClr val="accent1"/>
              </a:solidFill>
              <a:effectLst/>
              <a:latin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panose="05040102010807070707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9142" y="4394200"/>
            <a:ext cx="9394258" cy="1107162"/>
          </a:xfrm>
        </p:spPr>
        <p:txBody>
          <a:bodyPr>
            <a:normAutofit fontScale="90000"/>
          </a:bodyPr>
          <a:lstStyle/>
          <a:p>
            <a:pPr algn="ctr"/>
            <a:br>
              <a:rPr lang="en-GB" sz="2400" b="1" dirty="0" smtClean="0"/>
            </a:br>
            <a:br>
              <a:rPr lang="en-GB" sz="2400" b="1" dirty="0" smtClean="0"/>
            </a:br>
            <a:br>
              <a:rPr lang="en-GB" sz="2400" b="1" dirty="0" smtClean="0"/>
            </a:br>
            <a:br>
              <a:rPr lang="en-GB" sz="2400" b="1" dirty="0"/>
            </a:br>
            <a:br>
              <a:rPr lang="en-GB" sz="2400" b="1" dirty="0" smtClean="0"/>
            </a:br>
            <a:br>
              <a:rPr lang="en-GB" sz="2400" b="1" dirty="0"/>
            </a:br>
            <a:br>
              <a:rPr lang="en-GB" sz="2400" b="1" dirty="0" smtClean="0"/>
            </a:br>
            <a:br>
              <a:rPr lang="en-GB" sz="2400" b="1" dirty="0"/>
            </a:br>
            <a:r>
              <a:rPr lang="en-GB" sz="2400" b="1" dirty="0" smtClean="0"/>
              <a:t>Engr. A. S. </a:t>
            </a:r>
            <a:r>
              <a:rPr lang="en-GB" sz="2400" b="1" dirty="0" err="1" smtClean="0"/>
              <a:t>Oluwajembola</a:t>
            </a:r>
            <a:br>
              <a:rPr lang="en-US" sz="2400" b="1" dirty="0"/>
            </a:br>
            <a:br>
              <a:rPr lang="en-US" sz="2400" b="1" dirty="0" smtClean="0"/>
            </a:br>
            <a:endParaRPr lang="en-US" sz="2400" b="1" dirty="0"/>
          </a:p>
        </p:txBody>
      </p:sp>
      <p:sp>
        <p:nvSpPr>
          <p:cNvPr id="4" name="Title 1"/>
          <p:cNvSpPr txBox="1"/>
          <p:nvPr/>
        </p:nvSpPr>
        <p:spPr>
          <a:xfrm>
            <a:off x="1758462" y="724181"/>
            <a:ext cx="8934938" cy="27048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GB" sz="3400" b="1" dirty="0" smtClean="0"/>
              <a:t>STARTING </a:t>
            </a:r>
            <a:r>
              <a:rPr lang="en-GB" sz="3400" b="1" dirty="0"/>
              <a:t>THE PROJECT</a:t>
            </a:r>
            <a:br>
              <a:rPr lang="en-GB" sz="3200" b="1" dirty="0" smtClean="0"/>
            </a:br>
            <a:br>
              <a:rPr lang="en-GB" sz="3200" b="1" dirty="0" smtClean="0"/>
            </a:br>
            <a:r>
              <a:rPr lang="en-GB" sz="2800" b="1" dirty="0" smtClean="0"/>
              <a:t>AUL-DHS 413</a:t>
            </a:r>
            <a:endParaRPr lang="en-US" sz="28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1280890"/>
          </a:xfrm>
        </p:spPr>
        <p:txBody>
          <a:bodyPr/>
          <a:lstStyle/>
          <a:p>
            <a:pPr algn="ctr"/>
            <a:r>
              <a:rPr lang="en-US" dirty="0"/>
              <a:t>Starting a project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29509" y="2133600"/>
            <a:ext cx="9875104" cy="377762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3200" dirty="0"/>
              <a:t>Starting a project according to the Project Management Institute (PMI) Guide, specifically the PMBOK® Guide (Project Management Body of Knowledge), follows the Initiating Process Group. This phase establishes the foundation for a successful project by defining high-level objectives, stakeholders, and project feasibility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GB" b="1" dirty="0" smtClean="0"/>
              <a:t>What is project Charter?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77815" y="1518834"/>
            <a:ext cx="10226797" cy="4392388"/>
          </a:xfrm>
        </p:spPr>
        <p:txBody>
          <a:bodyPr>
            <a:normAutofit fontScale="92500"/>
          </a:bodyPr>
          <a:lstStyle/>
          <a:p>
            <a:pPr algn="just"/>
            <a:r>
              <a:rPr lang="en-US" sz="3200" dirty="0"/>
              <a:t>The </a:t>
            </a:r>
            <a:r>
              <a:rPr lang="en-US" sz="3200" dirty="0">
                <a:highlight>
                  <a:srgbClr val="FFFF00"/>
                </a:highlight>
              </a:rPr>
              <a:t>Project Charter is a formal document that authorizes the project and gives the project manager the authority to apply organizational resources to project activities.</a:t>
            </a:r>
            <a:r>
              <a:rPr lang="en-US" sz="3200" dirty="0"/>
              <a:t> It serves as a high-level document that outlines the project's objectives, Key stakeholders and their roles, scope, high-level requirements and key deliverables, Budget and schedule overview, assigned project manager and their authority level.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ctr"/>
            <a:r>
              <a:rPr lang="en-GB" b="1" dirty="0" smtClean="0"/>
              <a:t>Purposes of project Charter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9768801" cy="4392388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en-US" sz="3200" dirty="0" smtClean="0"/>
              <a:t>1.</a:t>
            </a:r>
            <a:r>
              <a:rPr lang="en-US" sz="3200" dirty="0"/>
              <a:t>	</a:t>
            </a:r>
            <a:r>
              <a:rPr lang="en-US" sz="3200" b="1" dirty="0"/>
              <a:t>Formally Authorizes the Project </a:t>
            </a:r>
            <a:r>
              <a:rPr lang="en-US" sz="3200" dirty="0"/>
              <a:t>– It grants official approval for the project to begin.</a:t>
            </a:r>
            <a:endParaRPr lang="en-US" sz="3200" dirty="0"/>
          </a:p>
          <a:p>
            <a:pPr algn="just"/>
            <a:r>
              <a:rPr lang="en-US" sz="3200" dirty="0"/>
              <a:t>2.	</a:t>
            </a:r>
            <a:r>
              <a:rPr lang="en-US" sz="3200" b="1" dirty="0"/>
              <a:t>Defines High-Level Objectives and Scope </a:t>
            </a:r>
            <a:r>
              <a:rPr lang="en-US" sz="3200" dirty="0"/>
              <a:t>– It provides a broad understanding of what the project aims to achieve.</a:t>
            </a:r>
            <a:endParaRPr lang="en-US" sz="3200" dirty="0"/>
          </a:p>
          <a:p>
            <a:pPr algn="just"/>
            <a:r>
              <a:rPr lang="en-US" sz="3200" dirty="0"/>
              <a:t>3.	</a:t>
            </a:r>
            <a:r>
              <a:rPr lang="en-US" sz="3200" b="1" dirty="0"/>
              <a:t>Identifies Key Stakeholders </a:t>
            </a:r>
            <a:r>
              <a:rPr lang="en-US" sz="3200" dirty="0"/>
              <a:t>– Lists important stakeholders and their roles in the project.</a:t>
            </a:r>
            <a:endParaRPr lang="en-US" sz="3200" dirty="0"/>
          </a:p>
          <a:p>
            <a:pPr algn="just"/>
            <a:r>
              <a:rPr lang="en-US" sz="3200" dirty="0"/>
              <a:t>4.	</a:t>
            </a:r>
            <a:r>
              <a:rPr lang="en-US" sz="3200" b="1" dirty="0"/>
              <a:t>Appoints the Project Manager </a:t>
            </a:r>
            <a:r>
              <a:rPr lang="en-US" sz="3200" dirty="0"/>
              <a:t>– Gives the project manager authority to use organizational resources.</a:t>
            </a:r>
            <a:endParaRPr lang="en-US" sz="3200" dirty="0"/>
          </a:p>
          <a:p>
            <a:pPr algn="just"/>
            <a:r>
              <a:rPr lang="en-US" sz="3200" dirty="0"/>
              <a:t>5.	</a:t>
            </a:r>
            <a:r>
              <a:rPr lang="en-US" sz="3200" b="1" dirty="0"/>
              <a:t>Serves as a Reference Document </a:t>
            </a:r>
            <a:r>
              <a:rPr lang="en-US" sz="3200" dirty="0"/>
              <a:t>– Acts as a guiding document throughout the project lifecycle.</a:t>
            </a:r>
            <a:endParaRPr lang="en-US" sz="3200" dirty="0"/>
          </a:p>
          <a:p>
            <a:pPr algn="just"/>
            <a:r>
              <a:rPr lang="en-US" sz="3200" dirty="0"/>
              <a:t>6.	</a:t>
            </a:r>
            <a:r>
              <a:rPr lang="en-US" sz="3200" b="1" dirty="0"/>
              <a:t>Links the Project to Organizational Goals </a:t>
            </a:r>
            <a:r>
              <a:rPr lang="en-US" sz="3200" dirty="0"/>
              <a:t>– Ensures the project aligns with business objectives and strategic goals.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US" b="1" dirty="0"/>
              <a:t>Key elements of a project charter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29508" y="1518834"/>
            <a:ext cx="10339753" cy="4682674"/>
          </a:xfrm>
        </p:spPr>
        <p:txBody>
          <a:bodyPr>
            <a:normAutofit fontScale="70000" lnSpcReduction="20000"/>
          </a:bodyPr>
          <a:lstStyle/>
          <a:p>
            <a:pPr algn="just"/>
            <a:r>
              <a:rPr lang="en-US" sz="3200" dirty="0"/>
              <a:t>1. </a:t>
            </a:r>
            <a:r>
              <a:rPr lang="en-US" sz="3200" b="1" dirty="0"/>
              <a:t>Project Purpose or Justification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Explains why the project is being undertaken.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Defines how the project aligns with business objectives or solves a problem.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"This project aims to automate manual data entry, reducing errors and increasing efficiency by 30%."</a:t>
            </a:r>
            <a:endParaRPr lang="en-US" sz="3200" dirty="0"/>
          </a:p>
          <a:p>
            <a:pPr algn="just"/>
            <a:r>
              <a:rPr lang="en-US" sz="3200" dirty="0"/>
              <a:t>2. </a:t>
            </a:r>
            <a:r>
              <a:rPr lang="en-US" sz="3200" b="1" dirty="0"/>
              <a:t>Measurable Project Objectives and Success Criteria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Specifies clear and measurable goals.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Defines how project success will be evaluated.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Uses SMART Criteria (Specific, Measurable, Achievable, Relevant, Time-bound).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"The project will deliver a functional e-commerce website within six months, staying within a $500,000 budget</a:t>
            </a:r>
            <a:endParaRPr lang="en-US" sz="3200" dirty="0"/>
          </a:p>
          <a:p>
            <a:pPr algn="just"/>
            <a:endParaRPr lang="en-GB" sz="3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/>
          <a:lstStyle/>
          <a:p>
            <a:pPr algn="just"/>
            <a:r>
              <a:rPr lang="en-US" b="1" dirty="0"/>
              <a:t>Key elements of a project charter</a:t>
            </a:r>
            <a:endParaRPr lang="en-GB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47446" y="1518833"/>
            <a:ext cx="10046677" cy="4670951"/>
          </a:xfrm>
        </p:spPr>
        <p:txBody>
          <a:bodyPr>
            <a:normAutofit fontScale="70000" lnSpcReduction="20000"/>
          </a:bodyPr>
          <a:lstStyle/>
          <a:p>
            <a:pPr algn="just"/>
            <a:r>
              <a:rPr lang="en-US" sz="3200" dirty="0"/>
              <a:t>3. </a:t>
            </a:r>
            <a:r>
              <a:rPr lang="en-US" sz="3200" b="1" dirty="0"/>
              <a:t>High-Level Project Scope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Outlines what the project will and will not include (In-Scope vs. Out-of-Scope).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Helps prevent scope creep (uncontrolled changes or expansion).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"The project includes designing a new website but does not cover ongoing website maintenance."</a:t>
            </a:r>
            <a:endParaRPr lang="en-US" sz="3200" dirty="0"/>
          </a:p>
          <a:p>
            <a:pPr marL="0" indent="0" algn="just">
              <a:buNone/>
            </a:pPr>
            <a:endParaRPr lang="en-US" sz="3200" dirty="0"/>
          </a:p>
          <a:p>
            <a:pPr algn="just"/>
            <a:r>
              <a:rPr lang="en-US" sz="3200" dirty="0"/>
              <a:t>4. </a:t>
            </a:r>
            <a:r>
              <a:rPr lang="en-US" sz="3200" b="1" dirty="0"/>
              <a:t>High-Level Requirements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Identifies major business or technical requirements.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Provides an overview of essential features or deliverables.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"The system must support 1,000 concurrent users and integrate with the company’s existing CRM."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US" sz="3200" b="1" dirty="0"/>
              <a:t>Key elements of a project charter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0" y="1518834"/>
            <a:ext cx="10198100" cy="4392388"/>
          </a:xfrm>
        </p:spPr>
        <p:txBody>
          <a:bodyPr>
            <a:normAutofit fontScale="70000" lnSpcReduction="20000"/>
          </a:bodyPr>
          <a:lstStyle/>
          <a:p>
            <a:pPr algn="just"/>
            <a:r>
              <a:rPr lang="en-US" sz="3200" dirty="0" smtClean="0"/>
              <a:t>5 . </a:t>
            </a:r>
            <a:r>
              <a:rPr lang="en-US" sz="3200" b="1" dirty="0" smtClean="0"/>
              <a:t>Project </a:t>
            </a:r>
            <a:r>
              <a:rPr lang="en-US" sz="3200" b="1" dirty="0"/>
              <a:t>Assumptions and Constraints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Assumptions: Conditions considered true for planning but not yet proven.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Constraints: Limitations such as budget, time, resources, or regulations.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	Assumption: "The client will provide timely feedback within 48 hours."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	</a:t>
            </a:r>
            <a:r>
              <a:rPr lang="en-US" sz="3200" dirty="0" smtClean="0"/>
              <a:t>Constraint</a:t>
            </a:r>
            <a:r>
              <a:rPr lang="en-US" sz="3200" dirty="0"/>
              <a:t>: "The project must be completed within a $1M budget and by December 31, 2025."</a:t>
            </a:r>
            <a:endParaRPr lang="en-US" sz="3200" dirty="0"/>
          </a:p>
          <a:p>
            <a:pPr algn="just"/>
            <a:r>
              <a:rPr lang="en-US" sz="3200" dirty="0"/>
              <a:t>6. </a:t>
            </a:r>
            <a:r>
              <a:rPr lang="en-US" sz="3200" b="1" dirty="0"/>
              <a:t>Project Risks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Identifies high-level risks that could impact the project.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"A key risk is supplier delays, which could impact the project timeline."</a:t>
            </a:r>
            <a:endParaRPr lang="en-US" sz="3200" dirty="0"/>
          </a:p>
          <a:p>
            <a:pPr marL="0" indent="0" algn="just">
              <a:buNone/>
            </a:pP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US" sz="3200" b="1" dirty="0"/>
              <a:t>Key elements of a project charter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518834"/>
            <a:ext cx="10037089" cy="4424766"/>
          </a:xfrm>
        </p:spPr>
        <p:txBody>
          <a:bodyPr>
            <a:normAutofit fontScale="70000" lnSpcReduction="20000"/>
          </a:bodyPr>
          <a:lstStyle/>
          <a:p>
            <a:pPr algn="just"/>
            <a:r>
              <a:rPr lang="en-US" sz="3200" dirty="0" smtClean="0"/>
              <a:t>7 </a:t>
            </a:r>
            <a:r>
              <a:rPr lang="en-US" sz="3200" b="1" dirty="0" smtClean="0"/>
              <a:t>Project </a:t>
            </a:r>
            <a:r>
              <a:rPr lang="en-US" sz="3200" b="1" dirty="0"/>
              <a:t>Milestones and Timeline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Lists major phases or significant events with estimated dates.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 smtClean="0"/>
              <a:t>   </a:t>
            </a:r>
            <a:r>
              <a:rPr lang="en-US" sz="3200" dirty="0"/>
              <a:t>Milestone	Expected Date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Project Kickoff	April 10, 2025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Prototype Development Complete	July 20, 2025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Final Testing &amp; Deployment	December 1, 2025</a:t>
            </a:r>
            <a:endParaRPr lang="en-US" sz="3200" dirty="0"/>
          </a:p>
          <a:p>
            <a:pPr algn="just"/>
            <a:r>
              <a:rPr lang="en-US" sz="3200" dirty="0"/>
              <a:t>8. </a:t>
            </a:r>
            <a:r>
              <a:rPr lang="en-US" sz="3200" b="1" dirty="0"/>
              <a:t>Budget Summary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Provides an estimated budget range or allocation.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"The project has a budget of $500,000, with 40% allocated to development and 20% to testing."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811" y="624110"/>
            <a:ext cx="9768802" cy="894724"/>
          </a:xfrm>
        </p:spPr>
        <p:txBody>
          <a:bodyPr>
            <a:noAutofit/>
          </a:bodyPr>
          <a:lstStyle/>
          <a:p>
            <a:pPr algn="just"/>
            <a:r>
              <a:rPr lang="en-US" sz="3200" b="1" dirty="0"/>
              <a:t>Key elements of a project charter</a:t>
            </a:r>
            <a:endParaRPr lang="en-GB" sz="32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35811" y="1282700"/>
            <a:ext cx="9948189" cy="5384800"/>
          </a:xfrm>
        </p:spPr>
        <p:txBody>
          <a:bodyPr>
            <a:normAutofit fontScale="55000" lnSpcReduction="20000"/>
          </a:bodyPr>
          <a:lstStyle/>
          <a:p>
            <a:pPr algn="just"/>
            <a:r>
              <a:rPr lang="en-US" sz="3200" dirty="0"/>
              <a:t>9. </a:t>
            </a:r>
            <a:r>
              <a:rPr lang="en-US" sz="3200" b="1" dirty="0"/>
              <a:t>Key Stakeholders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Identifies key individuals or groups with interest or influence over the project.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</a:t>
            </a:r>
            <a:r>
              <a:rPr lang="en-US" sz="3200" dirty="0" smtClean="0"/>
              <a:t>:</a:t>
            </a:r>
            <a:endParaRPr lang="en-US" sz="3200" dirty="0" smtClean="0"/>
          </a:p>
          <a:p>
            <a:pPr marL="0" indent="0" algn="just">
              <a:buNone/>
            </a:pPr>
            <a:endParaRPr lang="en-US" sz="3200" dirty="0"/>
          </a:p>
          <a:p>
            <a:pPr marL="0" indent="0" algn="just">
              <a:buNone/>
            </a:pPr>
            <a:endParaRPr lang="en-US" sz="3200" dirty="0" smtClean="0"/>
          </a:p>
          <a:p>
            <a:pPr marL="0" indent="0" algn="just">
              <a:buNone/>
            </a:pPr>
            <a:endParaRPr lang="en-US" sz="3200" dirty="0" smtClean="0"/>
          </a:p>
          <a:p>
            <a:pPr marL="0" indent="0" algn="just">
              <a:buNone/>
            </a:pPr>
            <a:endParaRPr lang="en-US" sz="3200" dirty="0" smtClean="0"/>
          </a:p>
          <a:p>
            <a:pPr marL="0" indent="0" algn="just">
              <a:buNone/>
            </a:pPr>
            <a:endParaRPr lang="en-US" sz="3200" dirty="0"/>
          </a:p>
          <a:p>
            <a:pPr algn="just"/>
            <a:r>
              <a:rPr lang="en-US" sz="3200" dirty="0" smtClean="0"/>
              <a:t>10</a:t>
            </a:r>
            <a:r>
              <a:rPr lang="en-US" sz="3200" dirty="0"/>
              <a:t>. </a:t>
            </a:r>
            <a:r>
              <a:rPr lang="en-US" sz="3200" b="1" dirty="0"/>
              <a:t>Project Manager and Authority Level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Names the Project Manager and defines their level of authority.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Example: "John Doe is assigned as Project Manager and has the authority to approve expenses up to $50,000</a:t>
            </a:r>
            <a:r>
              <a:rPr lang="en-US" sz="3200" dirty="0" smtClean="0"/>
              <a:t>.“</a:t>
            </a:r>
            <a:endParaRPr lang="en-US" sz="3200" dirty="0" smtClean="0"/>
          </a:p>
          <a:p>
            <a:pPr marL="0" indent="0" algn="just">
              <a:buNone/>
            </a:pPr>
            <a:r>
              <a:rPr lang="en-US" sz="3200" dirty="0"/>
              <a:t>11. </a:t>
            </a:r>
            <a:r>
              <a:rPr lang="en-US" sz="3200" b="1" dirty="0"/>
              <a:t>Approval and Authorization</a:t>
            </a:r>
            <a:endParaRPr lang="en-US" sz="3200" b="1" dirty="0"/>
          </a:p>
          <a:p>
            <a:pPr marL="0" indent="0" algn="just">
              <a:buNone/>
            </a:pPr>
            <a:r>
              <a:rPr lang="en-US" sz="3200" dirty="0"/>
              <a:t>•	Contains signatures from key decision-makers (e.g., sponsor, steering committee).</a:t>
            </a:r>
            <a:endParaRPr lang="en-US" sz="3200" dirty="0"/>
          </a:p>
          <a:p>
            <a:pPr marL="0" indent="0" algn="just">
              <a:buNone/>
            </a:pPr>
            <a:r>
              <a:rPr lang="en-US" sz="3200" dirty="0"/>
              <a:t>•	Officially authorizes the project and grants authority to the project manager</a:t>
            </a:r>
            <a:endParaRPr lang="en-US" sz="3200" dirty="0"/>
          </a:p>
          <a:p>
            <a:pPr marL="0" indent="0" algn="just">
              <a:buNone/>
            </a:pPr>
            <a:endParaRPr lang="en-US" sz="3200" dirty="0" smtClean="0"/>
          </a:p>
          <a:p>
            <a:pPr marL="0" indent="0" algn="just">
              <a:buNone/>
            </a:pPr>
            <a:endParaRPr lang="en-US" sz="3200" dirty="0"/>
          </a:p>
          <a:p>
            <a:pPr algn="just"/>
            <a:endParaRPr lang="en-GB" sz="3200" dirty="0" smtClean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68500" y="2362200"/>
          <a:ext cx="8128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  <a:gridCol w="2032000"/>
                <a:gridCol w="2032000"/>
              </a:tblGrid>
              <a:tr h="193040">
                <a:tc>
                  <a:txBody>
                    <a:bodyPr/>
                    <a:lstStyle/>
                    <a:p>
                      <a:r>
                        <a:rPr lang="en-US" sz="1800" b="1" dirty="0" smtClean="0"/>
                        <a:t>s/n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 smtClean="0"/>
                        <a:t>Stakeholder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dirty="0" smtClean="0"/>
                        <a:t>Role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dirty="0" smtClean="0"/>
                        <a:t>Influence Level</a:t>
                      </a:r>
                      <a:endParaRPr lang="en-US" sz="1800" b="1" dirty="0" smtClean="0"/>
                    </a:p>
                    <a:p>
                      <a:endParaRPr lang="en-US" dirty="0"/>
                    </a:p>
                  </a:txBody>
                  <a:tcPr/>
                </a:tc>
              </a:tr>
              <a:tr h="364023"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John</a:t>
                      </a:r>
                      <a:r>
                        <a:rPr lang="en-US" baseline="0" dirty="0" smtClean="0"/>
                        <a:t> Doe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Project Sponsor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High</a:t>
                      </a:r>
                      <a:endParaRPr lang="en-US" dirty="0"/>
                    </a:p>
                  </a:txBody>
                  <a:tcPr/>
                </a:tc>
              </a:tr>
              <a:tr h="364023"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Jane</a:t>
                      </a:r>
                      <a:r>
                        <a:rPr lang="en-US" baseline="0" dirty="0" smtClean="0"/>
                        <a:t> Smith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IT Director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Medium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611" y="2732310"/>
            <a:ext cx="9768802" cy="894724"/>
          </a:xfrm>
        </p:spPr>
        <p:txBody>
          <a:bodyPr>
            <a:noAutofit/>
          </a:bodyPr>
          <a:lstStyle/>
          <a:p>
            <a:pPr marL="0" indent="0" algn="ctr"/>
            <a:r>
              <a:rPr lang="en-US" sz="4400" b="1" dirty="0"/>
              <a:t>QUIZ</a:t>
            </a:r>
            <a:endParaRPr lang="en-US" sz="44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5954" y="778840"/>
            <a:ext cx="10914184" cy="1280890"/>
          </a:xfrm>
        </p:spPr>
        <p:txBody>
          <a:bodyPr>
            <a:normAutofit/>
          </a:bodyPr>
          <a:lstStyle/>
          <a:p>
            <a:r>
              <a:rPr lang="en-US" sz="1800" b="1" dirty="0"/>
              <a:t>For each item listed, simply </a:t>
            </a:r>
            <a:r>
              <a:rPr lang="en-US" sz="1800" b="1" dirty="0" err="1"/>
              <a:t>detemtine</a:t>
            </a:r>
            <a:r>
              <a:rPr lang="en-US" sz="1800" b="1" dirty="0"/>
              <a:t> if it is done in initiating:, planning, executing, monitoring and controlling or closing.</a:t>
            </a:r>
            <a:endParaRPr lang="en-US" sz="1800" dirty="0"/>
          </a:p>
        </p:txBody>
      </p:sp>
      <p:sp>
        <p:nvSpPr>
          <p:cNvPr id="5" name="Title 1"/>
          <p:cNvSpPr txBox="1"/>
          <p:nvPr/>
        </p:nvSpPr>
        <p:spPr>
          <a:xfrm>
            <a:off x="1195754" y="152400"/>
            <a:ext cx="10914184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. QUESTIONS 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1195754" y="1419285"/>
            <a:ext cx="10996246" cy="50158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1</a:t>
            </a:r>
            <a:r>
              <a:rPr lang="en-US" sz="2000" dirty="0" smtClean="0"/>
              <a:t>. Sponsor(s</a:t>
            </a:r>
            <a:r>
              <a:rPr lang="en-US" sz="2000" dirty="0"/>
              <a:t>) selects </a:t>
            </a:r>
            <a:r>
              <a:rPr lang="en-US" sz="2000" dirty="0" smtClean="0"/>
              <a:t>the </a:t>
            </a:r>
            <a:r>
              <a:rPr lang="en-US" sz="2000" dirty="0"/>
              <a:t>project </a:t>
            </a:r>
            <a:r>
              <a:rPr lang="en-US" sz="2000" dirty="0" smtClean="0"/>
              <a:t>manager. (Initiating)</a:t>
            </a:r>
            <a:endParaRPr lang="en-US" sz="2000" dirty="0"/>
          </a:p>
          <a:p>
            <a:r>
              <a:rPr lang="en-US" sz="2000" dirty="0" smtClean="0"/>
              <a:t>2. Sponsor(s</a:t>
            </a:r>
            <a:r>
              <a:rPr lang="en-US" sz="2000" dirty="0"/>
              <a:t>) determines the </a:t>
            </a:r>
            <a:r>
              <a:rPr lang="en-US" sz="2000" dirty="0" smtClean="0"/>
              <a:t>authority of </a:t>
            </a:r>
            <a:r>
              <a:rPr lang="en-US" sz="2000" dirty="0"/>
              <a:t>the project manager.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3. </a:t>
            </a:r>
            <a:r>
              <a:rPr lang="en-US" sz="2000" dirty="0"/>
              <a:t>Collect historical information.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4. </a:t>
            </a:r>
            <a:r>
              <a:rPr lang="en-US" sz="2000" dirty="0"/>
              <a:t>Divide large projects into phases. Use project </a:t>
            </a:r>
            <a:r>
              <a:rPr lang="en-US" sz="2000" dirty="0" smtClean="0"/>
              <a:t>governance </a:t>
            </a:r>
            <a:r>
              <a:rPr lang="en-US" sz="2000" dirty="0"/>
              <a:t>rules and apply</a:t>
            </a:r>
            <a:endParaRPr lang="en-US" sz="2000" dirty="0"/>
          </a:p>
          <a:p>
            <a:r>
              <a:rPr lang="en-US" sz="2000" dirty="0"/>
              <a:t>them to the </a:t>
            </a:r>
            <a:r>
              <a:rPr lang="en-US" sz="2000" dirty="0" smtClean="0"/>
              <a:t>projec</a:t>
            </a:r>
            <a:r>
              <a:rPr lang="en-US" sz="2000" dirty="0"/>
              <a:t>t</a:t>
            </a:r>
            <a:r>
              <a:rPr lang="en-US" sz="2000" dirty="0" smtClean="0"/>
              <a:t>.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5. </a:t>
            </a:r>
            <a:r>
              <a:rPr lang="en-US" sz="2000" dirty="0"/>
              <a:t>Identify stakeholders, and </a:t>
            </a:r>
            <a:r>
              <a:rPr lang="en-US" sz="2000" dirty="0" smtClean="0"/>
              <a:t>determine </a:t>
            </a:r>
            <a:r>
              <a:rPr lang="en-US" sz="2000" dirty="0"/>
              <a:t>their influence, expectations, and</a:t>
            </a:r>
            <a:endParaRPr lang="en-US" sz="2000" dirty="0"/>
          </a:p>
          <a:p>
            <a:r>
              <a:rPr lang="en-US" sz="2000" dirty="0"/>
              <a:t>impact. Document that information in a stakeholder </a:t>
            </a:r>
            <a:r>
              <a:rPr lang="en-US" sz="2000" dirty="0" smtClean="0"/>
              <a:t>register</a:t>
            </a:r>
            <a:r>
              <a:rPr lang="en-US" sz="2000" dirty="0"/>
              <a:t>.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6. </a:t>
            </a:r>
            <a:r>
              <a:rPr lang="en-US" sz="2000" dirty="0"/>
              <a:t>Determine </a:t>
            </a:r>
            <a:r>
              <a:rPr lang="en-US" sz="2000" dirty="0" smtClean="0"/>
              <a:t>high-level </a:t>
            </a:r>
            <a:r>
              <a:rPr lang="en-US" sz="2000" dirty="0"/>
              <a:t>requirements, constraints, assumptions, and risks.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7. </a:t>
            </a:r>
            <a:r>
              <a:rPr lang="en-US" sz="2000" dirty="0"/>
              <a:t>Turn high-level stakeholder needs, wants, and expectations into</a:t>
            </a:r>
            <a:endParaRPr lang="en-US" sz="2000" dirty="0"/>
          </a:p>
          <a:p>
            <a:r>
              <a:rPr lang="en-US" sz="2000" dirty="0" smtClean="0"/>
              <a:t>requirement.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8. </a:t>
            </a:r>
            <a:r>
              <a:rPr lang="en-US" sz="2000" dirty="0"/>
              <a:t>Make sure the business case and the </a:t>
            </a:r>
            <a:r>
              <a:rPr lang="en-US" sz="2000" dirty="0" smtClean="0"/>
              <a:t>analysis </a:t>
            </a:r>
            <a:r>
              <a:rPr lang="en-US" sz="2000" dirty="0"/>
              <a:t>supporting the </a:t>
            </a:r>
            <a:r>
              <a:rPr lang="en-US" sz="2000" dirty="0" smtClean="0"/>
              <a:t>need for </a:t>
            </a:r>
            <a:r>
              <a:rPr lang="en-US" sz="2000" dirty="0"/>
              <a:t>the</a:t>
            </a:r>
            <a:endParaRPr lang="en-US" sz="2000" dirty="0"/>
          </a:p>
          <a:p>
            <a:r>
              <a:rPr lang="en-US" sz="2000" dirty="0"/>
              <a:t>project are documented and </a:t>
            </a:r>
            <a:r>
              <a:rPr lang="en-US" sz="2000" dirty="0" smtClean="0"/>
              <a:t>underst</a:t>
            </a:r>
            <a:r>
              <a:rPr lang="en-US" sz="2000" dirty="0"/>
              <a:t>o</a:t>
            </a:r>
            <a:r>
              <a:rPr lang="en-US" sz="2000" dirty="0" smtClean="0"/>
              <a:t>od</a:t>
            </a:r>
            <a:r>
              <a:rPr lang="en-US" sz="2000" dirty="0"/>
              <a:t>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9. </a:t>
            </a:r>
            <a:r>
              <a:rPr lang="en-US" sz="2000" dirty="0"/>
              <a:t>Use the benefits management plan to understand the </a:t>
            </a:r>
            <a:r>
              <a:rPr lang="en-US" sz="2000" dirty="0" smtClean="0"/>
              <a:t>benefits </a:t>
            </a:r>
            <a:r>
              <a:rPr lang="en-US" sz="2000" dirty="0"/>
              <a:t>that </a:t>
            </a:r>
            <a:r>
              <a:rPr lang="en-US" sz="2000" dirty="0" smtClean="0"/>
              <a:t>the project </a:t>
            </a:r>
            <a:r>
              <a:rPr lang="en-US" sz="2000" dirty="0"/>
              <a:t>is </a:t>
            </a:r>
            <a:r>
              <a:rPr lang="en-US" sz="2000" dirty="0" smtClean="0"/>
              <a:t>expected </a:t>
            </a:r>
            <a:r>
              <a:rPr lang="en-US" sz="2000" dirty="0"/>
              <a:t>to deliver to the business.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10. </a:t>
            </a:r>
            <a:r>
              <a:rPr lang="en-US" sz="2000" dirty="0"/>
              <a:t>Ensure the </a:t>
            </a:r>
            <a:r>
              <a:rPr lang="en-US" sz="2000" dirty="0" smtClean="0"/>
              <a:t>high-level product </a:t>
            </a:r>
            <a:r>
              <a:rPr lang="en-US" sz="2000" dirty="0"/>
              <a:t>scope is </a:t>
            </a:r>
            <a:r>
              <a:rPr lang="en-US" sz="2000" dirty="0" smtClean="0"/>
              <a:t>documented </a:t>
            </a:r>
            <a:r>
              <a:rPr lang="en-US" sz="2000" dirty="0"/>
              <a:t>with as much detail </a:t>
            </a:r>
            <a:r>
              <a:rPr lang="en-US" sz="2000" dirty="0" smtClean="0"/>
              <a:t>as is practical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/>
          <p:nvPr/>
        </p:nvSpPr>
        <p:spPr>
          <a:xfrm>
            <a:off x="1195754" y="0"/>
            <a:ext cx="10914184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. QUESTIONS 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789940" y="1113790"/>
            <a:ext cx="11739880" cy="590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100" dirty="0" smtClean="0"/>
              <a:t>11. Understand </a:t>
            </a:r>
            <a:r>
              <a:rPr lang="en-US" sz="2100" dirty="0"/>
              <a:t>how the project supports the organizations </a:t>
            </a:r>
            <a:r>
              <a:rPr lang="en-US" sz="2100" dirty="0" smtClean="0"/>
              <a:t>strategic objectives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12. </a:t>
            </a:r>
            <a:r>
              <a:rPr lang="en-US" sz="2100" dirty="0"/>
              <a:t>Collect and use any </a:t>
            </a:r>
            <a:r>
              <a:rPr lang="en-US" sz="2100" dirty="0" smtClean="0"/>
              <a:t>relevant</a:t>
            </a:r>
            <a:r>
              <a:rPr lang="en-US" sz="2100" dirty="0"/>
              <a:t>, existing agreements {including contracts)</a:t>
            </a:r>
            <a:endParaRPr lang="en-US" sz="2100" dirty="0"/>
          </a:p>
          <a:p>
            <a:r>
              <a:rPr lang="en-US" sz="2100" dirty="0"/>
              <a:t>that might be generating the </a:t>
            </a:r>
            <a:r>
              <a:rPr lang="en-US" sz="2100" dirty="0" smtClean="0"/>
              <a:t>project </a:t>
            </a:r>
            <a:r>
              <a:rPr lang="en-US" sz="2100" dirty="0"/>
              <a:t>or that will be required during </a:t>
            </a:r>
            <a:r>
              <a:rPr lang="en-US" sz="2100" dirty="0" smtClean="0"/>
              <a:t>the project</a:t>
            </a:r>
            <a:r>
              <a:rPr lang="en-US" sz="2100" dirty="0"/>
              <a:t>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13. </a:t>
            </a:r>
            <a:r>
              <a:rPr lang="en-US" sz="2100" dirty="0"/>
              <a:t>Determine success </a:t>
            </a:r>
            <a:r>
              <a:rPr lang="en-US" sz="2100" dirty="0" smtClean="0"/>
              <a:t>criteria </a:t>
            </a:r>
            <a:r>
              <a:rPr lang="en-US" sz="2100" dirty="0"/>
              <a:t>and measurable project and product</a:t>
            </a:r>
            <a:endParaRPr lang="en-US" sz="2100" dirty="0"/>
          </a:p>
          <a:p>
            <a:r>
              <a:rPr lang="en-US" sz="2100" dirty="0"/>
              <a:t>objectives.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14. </a:t>
            </a:r>
            <a:r>
              <a:rPr lang="en-US" sz="2100" dirty="0"/>
              <a:t>Facilitate the resolution of </a:t>
            </a:r>
            <a:r>
              <a:rPr lang="en-US" sz="2100" dirty="0" smtClean="0"/>
              <a:t>conflicting </a:t>
            </a:r>
            <a:r>
              <a:rPr lang="en-US" sz="2100" dirty="0"/>
              <a:t>objectives</a:t>
            </a:r>
            <a:r>
              <a:rPr lang="en-US" sz="2100" dirty="0" smtClean="0"/>
              <a:t>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 smtClean="0"/>
          </a:p>
          <a:p>
            <a:r>
              <a:rPr lang="en-US" sz="2100" dirty="0" smtClean="0"/>
              <a:t>15. Become </a:t>
            </a:r>
            <a:r>
              <a:rPr lang="en-US" sz="2100" dirty="0"/>
              <a:t>familiar with the company culture and structure as they relate </a:t>
            </a:r>
            <a:r>
              <a:rPr lang="en-US" sz="2100" dirty="0" smtClean="0"/>
              <a:t>to the </a:t>
            </a:r>
            <a:r>
              <a:rPr lang="en-US" sz="2100" dirty="0"/>
              <a:t>project.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16.  </a:t>
            </a:r>
            <a:r>
              <a:rPr lang="en-US" sz="2100" dirty="0"/>
              <a:t>Find existing processes, standards, and compliance requirements </a:t>
            </a:r>
            <a:r>
              <a:rPr lang="en-US" sz="2100" dirty="0" smtClean="0"/>
              <a:t>that affect </a:t>
            </a:r>
            <a:r>
              <a:rPr lang="en-US" sz="2100" dirty="0"/>
              <a:t>the project.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17. </a:t>
            </a:r>
            <a:r>
              <a:rPr lang="en-US" sz="2100" dirty="0"/>
              <a:t>Understand how the organization does </a:t>
            </a:r>
            <a:r>
              <a:rPr lang="en-US" sz="2100" dirty="0" smtClean="0"/>
              <a:t>business </a:t>
            </a:r>
            <a:r>
              <a:rPr lang="en-US" sz="2100" dirty="0"/>
              <a:t>(business </a:t>
            </a:r>
            <a:r>
              <a:rPr lang="en-US" sz="2100" dirty="0" smtClean="0"/>
              <a:t>knowledge) and </a:t>
            </a:r>
            <a:r>
              <a:rPr lang="en-US" sz="2100" dirty="0"/>
              <a:t>what </a:t>
            </a:r>
            <a:r>
              <a:rPr lang="en-US" sz="2100" dirty="0" smtClean="0"/>
              <a:t> </a:t>
            </a:r>
            <a:r>
              <a:rPr lang="en-US" sz="2100" dirty="0"/>
              <a:t>procedures, and policies are already in place to </a:t>
            </a:r>
            <a:r>
              <a:rPr lang="en-US" sz="2100" dirty="0" smtClean="0"/>
              <a:t>use on </a:t>
            </a:r>
            <a:r>
              <a:rPr lang="en-US" sz="2100" dirty="0"/>
              <a:t>the project.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18. </a:t>
            </a:r>
            <a:r>
              <a:rPr lang="en-US" sz="2100" dirty="0"/>
              <a:t>Do </a:t>
            </a:r>
            <a:r>
              <a:rPr lang="en-US" sz="2100" dirty="0" smtClean="0"/>
              <a:t>planning </a:t>
            </a:r>
            <a:r>
              <a:rPr lang="en-US" sz="2100" dirty="0"/>
              <a:t>on a high-level basis.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19. </a:t>
            </a:r>
            <a:r>
              <a:rPr lang="en-US" sz="2100" dirty="0"/>
              <a:t>Perform high - </a:t>
            </a:r>
            <a:r>
              <a:rPr lang="en-US" sz="2100" dirty="0" smtClean="0"/>
              <a:t>level estimating </a:t>
            </a:r>
            <a:r>
              <a:rPr lang="en-US" sz="2100" dirty="0"/>
              <a:t>for the </a:t>
            </a:r>
            <a:r>
              <a:rPr lang="en-US" sz="2100" dirty="0" smtClean="0"/>
              <a:t>project schedule </a:t>
            </a:r>
            <a:r>
              <a:rPr lang="en-US" sz="2100" dirty="0"/>
              <a:t>and budget.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  <a:p>
            <a:r>
              <a:rPr lang="en-US" sz="2100" dirty="0" smtClean="0"/>
              <a:t>20. </a:t>
            </a:r>
            <a:r>
              <a:rPr lang="en-US" sz="2100" dirty="0"/>
              <a:t>Use the high-level planning and </a:t>
            </a:r>
            <a:r>
              <a:rPr lang="en-US" sz="2100" dirty="0" smtClean="0"/>
              <a:t>estimating </a:t>
            </a:r>
            <a:r>
              <a:rPr lang="en-US" sz="2100" dirty="0"/>
              <a:t>data to determine whether the</a:t>
            </a:r>
            <a:endParaRPr lang="en-US" sz="2100" dirty="0"/>
          </a:p>
          <a:p>
            <a:r>
              <a:rPr lang="en-US" sz="2100" dirty="0"/>
              <a:t>project </a:t>
            </a:r>
            <a:r>
              <a:rPr lang="en-US" sz="2100" dirty="0" smtClean="0"/>
              <a:t>objectives </a:t>
            </a:r>
            <a:r>
              <a:rPr lang="en-US" sz="2100" dirty="0"/>
              <a:t>can be achieved within the given constraints and</a:t>
            </a:r>
            <a:endParaRPr lang="en-US" sz="2100" dirty="0"/>
          </a:p>
          <a:p>
            <a:r>
              <a:rPr lang="en-US" sz="2100" dirty="0"/>
              <a:t>whether the expected </a:t>
            </a:r>
            <a:r>
              <a:rPr lang="en-US" sz="2100" dirty="0" smtClean="0"/>
              <a:t>benefits </a:t>
            </a:r>
            <a:r>
              <a:rPr lang="en-US" sz="2100" dirty="0"/>
              <a:t>can </a:t>
            </a:r>
            <a:r>
              <a:rPr lang="en-US" sz="2100" dirty="0" smtClean="0"/>
              <a:t>be </a:t>
            </a:r>
            <a:r>
              <a:rPr lang="en-US" sz="2100" dirty="0"/>
              <a:t>realized </a:t>
            </a:r>
            <a:r>
              <a:rPr lang="en-US" sz="2100" dirty="0" smtClean="0">
                <a:sym typeface="+mn-ea"/>
              </a:rPr>
              <a:t>(Initiating)</a:t>
            </a:r>
            <a:endParaRPr lang="en-US" sz="2100" dirty="0"/>
          </a:p>
        </p:txBody>
      </p:sp>
      <p:sp>
        <p:nvSpPr>
          <p:cNvPr id="6" name="Rectangle 5"/>
          <p:cNvSpPr/>
          <p:nvPr/>
        </p:nvSpPr>
        <p:spPr>
          <a:xfrm>
            <a:off x="1780931" y="591234"/>
            <a:ext cx="100017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For each item listed, simply </a:t>
            </a:r>
            <a:r>
              <a:rPr lang="en-US" b="1" dirty="0" err="1"/>
              <a:t>detemtine</a:t>
            </a:r>
            <a:r>
              <a:rPr lang="en-US" b="1" dirty="0"/>
              <a:t> if it is done in initiating:, planning, executing, monitoring and </a:t>
            </a:r>
            <a:r>
              <a:rPr lang="en-US" b="1" dirty="0" smtClean="0"/>
              <a:t>controlling </a:t>
            </a:r>
            <a:r>
              <a:rPr lang="en-US" b="1" dirty="0"/>
              <a:t>or closing.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/>
          <p:nvPr/>
        </p:nvSpPr>
        <p:spPr>
          <a:xfrm>
            <a:off x="1195754" y="152400"/>
            <a:ext cx="10914184" cy="914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. QUESTIONS </a:t>
            </a:r>
            <a:endParaRPr lang="en-US" sz="2400" dirty="0"/>
          </a:p>
        </p:txBody>
      </p:sp>
      <p:sp>
        <p:nvSpPr>
          <p:cNvPr id="3" name="Rectangle 2"/>
          <p:cNvSpPr/>
          <p:nvPr/>
        </p:nvSpPr>
        <p:spPr>
          <a:xfrm>
            <a:off x="681990" y="1340485"/>
            <a:ext cx="11364595" cy="56311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smtClean="0"/>
              <a:t>21. Determine </a:t>
            </a:r>
            <a:r>
              <a:rPr lang="en-US" sz="2000" dirty="0"/>
              <a:t>what form the project charter will take, including its level </a:t>
            </a:r>
            <a:r>
              <a:rPr lang="en-US" sz="2000" dirty="0" smtClean="0"/>
              <a:t>of </a:t>
            </a:r>
            <a:r>
              <a:rPr lang="en-US" sz="2000" dirty="0" err="1" smtClean="0"/>
              <a:t>detaiL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22. </a:t>
            </a:r>
            <a:r>
              <a:rPr lang="en-US" sz="2000" dirty="0"/>
              <a:t>Coordinate project initiating efforts with stakeholders, </a:t>
            </a:r>
            <a:r>
              <a:rPr lang="en-US" sz="2000" dirty="0" smtClean="0"/>
              <a:t>including the customer</a:t>
            </a:r>
            <a:r>
              <a:rPr lang="en-US" sz="2000" dirty="0"/>
              <a:t>. 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23. Work </a:t>
            </a:r>
            <a:r>
              <a:rPr lang="en-US" sz="2000" dirty="0"/>
              <a:t>with the customer and others to determine high -level </a:t>
            </a:r>
            <a:r>
              <a:rPr lang="en-US" sz="2000" dirty="0" smtClean="0"/>
              <a:t>acceptance criteria </a:t>
            </a:r>
            <a:r>
              <a:rPr lang="en-US" sz="2000" dirty="0"/>
              <a:t>and clarify what </a:t>
            </a:r>
            <a:r>
              <a:rPr lang="en-US" sz="2000" dirty="0" smtClean="0"/>
              <a:t>is and is </a:t>
            </a:r>
            <a:r>
              <a:rPr lang="en-US" sz="2000" dirty="0"/>
              <a:t>not in </a:t>
            </a:r>
            <a:r>
              <a:rPr lang="en-US" sz="2000" dirty="0" smtClean="0"/>
              <a:t>the </a:t>
            </a:r>
            <a:r>
              <a:rPr lang="en-US" sz="2000" dirty="0"/>
              <a:t>project.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24. </a:t>
            </a:r>
            <a:r>
              <a:rPr lang="en-US" sz="2000" dirty="0"/>
              <a:t>Determine the initial project organization.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25. identify </a:t>
            </a:r>
            <a:r>
              <a:rPr lang="en-US" sz="2000" dirty="0"/>
              <a:t>any inherent or </a:t>
            </a:r>
            <a:r>
              <a:rPr lang="en-US" sz="2000" dirty="0" smtClean="0"/>
              <a:t>required milestones </a:t>
            </a:r>
            <a:r>
              <a:rPr lang="en-US" sz="2000" dirty="0"/>
              <a:t>on the project.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26. Finalize </a:t>
            </a:r>
            <a:r>
              <a:rPr lang="en-US" sz="2000" dirty="0"/>
              <a:t>the project charter.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27. </a:t>
            </a:r>
            <a:r>
              <a:rPr lang="en-US" sz="2000" dirty="0"/>
              <a:t>Obtain formal approval of the </a:t>
            </a:r>
            <a:r>
              <a:rPr lang="en-US" sz="2000" dirty="0" smtClean="0"/>
              <a:t>project charter</a:t>
            </a:r>
            <a:r>
              <a:rPr lang="en-US" sz="2000" dirty="0"/>
              <a:t>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28. </a:t>
            </a:r>
            <a:r>
              <a:rPr lang="en-US" sz="2000" dirty="0"/>
              <a:t>Define the exit criteria for the project (when and why the project or </a:t>
            </a:r>
            <a:r>
              <a:rPr lang="en-US" sz="2000" dirty="0" smtClean="0"/>
              <a:t>phase should </a:t>
            </a:r>
            <a:r>
              <a:rPr lang="en-US" sz="2000" dirty="0"/>
              <a:t>be dosed).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29. </a:t>
            </a:r>
            <a:r>
              <a:rPr lang="en-US" sz="2000" dirty="0"/>
              <a:t>Involve subject matter -</a:t>
            </a:r>
            <a:r>
              <a:rPr lang="en-US" sz="2000" dirty="0" smtClean="0"/>
              <a:t>experts </a:t>
            </a:r>
            <a:r>
              <a:rPr lang="en-US" sz="2000" dirty="0"/>
              <a:t>in </a:t>
            </a:r>
            <a:r>
              <a:rPr lang="en-US" sz="2000" dirty="0" err="1"/>
              <a:t>devdoping</a:t>
            </a:r>
            <a:r>
              <a:rPr lang="en-US" sz="2000" dirty="0"/>
              <a:t> the project charter and</a:t>
            </a:r>
            <a:endParaRPr lang="en-US" sz="2000" dirty="0"/>
          </a:p>
          <a:p>
            <a:r>
              <a:rPr lang="en-US" sz="2000" dirty="0"/>
              <a:t>identifying </a:t>
            </a:r>
            <a:r>
              <a:rPr lang="en-US" sz="2000" dirty="0" smtClean="0"/>
              <a:t>stakeholders</a:t>
            </a:r>
            <a:r>
              <a:rPr lang="en-US" sz="2000" dirty="0"/>
              <a:t>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30. </a:t>
            </a:r>
            <a:r>
              <a:rPr lang="en-US" sz="2000" dirty="0"/>
              <a:t>Develop project documents such as </a:t>
            </a:r>
            <a:r>
              <a:rPr lang="en-US" sz="2000" dirty="0" smtClean="0"/>
              <a:t>the </a:t>
            </a:r>
            <a:r>
              <a:rPr lang="en-US" sz="2000" dirty="0"/>
              <a:t>risk register, the </a:t>
            </a:r>
            <a:r>
              <a:rPr lang="en-US" sz="2000" dirty="0" smtClean="0"/>
              <a:t>stakeholder register and </a:t>
            </a:r>
            <a:r>
              <a:rPr lang="en-US" sz="2000" dirty="0"/>
              <a:t>the assumption log, </a:t>
            </a:r>
            <a:r>
              <a:rPr lang="en-US" sz="2000" dirty="0" err="1" smtClean="0"/>
              <a:t>includlng</a:t>
            </a:r>
            <a:r>
              <a:rPr lang="en-US" sz="2000" dirty="0" smtClean="0"/>
              <a:t> </a:t>
            </a:r>
            <a:r>
              <a:rPr lang="en-US" sz="2000" dirty="0"/>
              <a:t>data on identified risks and</a:t>
            </a:r>
            <a:endParaRPr lang="en-US" sz="2000" dirty="0"/>
          </a:p>
          <a:p>
            <a:r>
              <a:rPr lang="en-US" sz="2000" dirty="0"/>
              <a:t>stakeholders.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  <a:p>
            <a:r>
              <a:rPr lang="en-US" sz="2000" dirty="0" smtClean="0"/>
              <a:t>31. </a:t>
            </a:r>
            <a:r>
              <a:rPr lang="en-US" sz="2000" dirty="0"/>
              <a:t>Use </a:t>
            </a:r>
            <a:r>
              <a:rPr lang="en-US" sz="2000" dirty="0" smtClean="0"/>
              <a:t>stakeholder </a:t>
            </a:r>
            <a:r>
              <a:rPr lang="en-US" sz="2000" dirty="0"/>
              <a:t>mapping to </a:t>
            </a:r>
            <a:r>
              <a:rPr lang="en-US" sz="2000" dirty="0" smtClean="0"/>
              <a:t>analyze  </a:t>
            </a:r>
            <a:r>
              <a:rPr lang="en-US" sz="2000" dirty="0"/>
              <a:t>data on </a:t>
            </a:r>
            <a:r>
              <a:rPr lang="en-US" sz="2000" dirty="0" smtClean="0"/>
              <a:t>identified stakeholders </a:t>
            </a:r>
            <a:r>
              <a:rPr lang="en-US" sz="2000" dirty="0"/>
              <a:t>to</a:t>
            </a:r>
            <a:endParaRPr lang="en-US" sz="2000" dirty="0"/>
          </a:p>
          <a:p>
            <a:r>
              <a:rPr lang="en-US" sz="2000" dirty="0" smtClean="0"/>
              <a:t>understand </a:t>
            </a:r>
            <a:r>
              <a:rPr lang="en-US" sz="2000" dirty="0"/>
              <a:t>their </a:t>
            </a:r>
            <a:r>
              <a:rPr lang="en-US" sz="2000" dirty="0" smtClean="0"/>
              <a:t>power, </a:t>
            </a:r>
            <a:r>
              <a:rPr lang="en-US" sz="2000" dirty="0"/>
              <a:t>interest, and influence.</a:t>
            </a:r>
            <a:r>
              <a:rPr lang="en-US" sz="2000" dirty="0" smtClean="0">
                <a:sym typeface="+mn-ea"/>
              </a:rPr>
              <a:t>(Initiating)</a:t>
            </a:r>
            <a:endParaRPr lang="en-US" sz="2000" dirty="0"/>
          </a:p>
        </p:txBody>
      </p:sp>
      <p:sp>
        <p:nvSpPr>
          <p:cNvPr id="6" name="Rectangle 5"/>
          <p:cNvSpPr/>
          <p:nvPr/>
        </p:nvSpPr>
        <p:spPr>
          <a:xfrm>
            <a:off x="1612900" y="694035"/>
            <a:ext cx="104335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For each item listed, simply </a:t>
            </a:r>
            <a:r>
              <a:rPr lang="en-US" b="1" dirty="0" err="1"/>
              <a:t>detemtine</a:t>
            </a:r>
            <a:r>
              <a:rPr lang="en-US" b="1" dirty="0"/>
              <a:t> if it is done in initiating:, planning, executing, monitoring and controlling or closing.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7946</Words>
  <Application>WPS Presentation</Application>
  <PresentationFormat>Custom</PresentationFormat>
  <Paragraphs>176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Arial</vt:lpstr>
      <vt:lpstr>SimSun</vt:lpstr>
      <vt:lpstr>Wingdings</vt:lpstr>
      <vt:lpstr>Wingdings 3</vt:lpstr>
      <vt:lpstr>Arial</vt:lpstr>
      <vt:lpstr>Century Gothic</vt:lpstr>
      <vt:lpstr>Microsoft YaHei</vt:lpstr>
      <vt:lpstr>Arial Unicode MS</vt:lpstr>
      <vt:lpstr>Calibri</vt:lpstr>
      <vt:lpstr>Wisp</vt:lpstr>
      <vt:lpstr>        Engr. A. S. Oluwajembola  </vt:lpstr>
      <vt:lpstr>Starting a project</vt:lpstr>
      <vt:lpstr>What is project Charter?</vt:lpstr>
      <vt:lpstr>Purposes of project Charter</vt:lpstr>
      <vt:lpstr>Key elements of a project charter</vt:lpstr>
      <vt:lpstr>Key elements of a project charter</vt:lpstr>
      <vt:lpstr>Key elements of a project charter</vt:lpstr>
      <vt:lpstr>Key elements of a project charter</vt:lpstr>
      <vt:lpstr>Key elements of a project charter</vt:lpstr>
      <vt:lpstr>QUIZ</vt:lpstr>
      <vt:lpstr>For each item listed, simply detemtine if it is done in initiating:, planning, executing, monitoring and controlling or closing.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 FUNDAMENTALS  AUL-DHS 413</dc:title>
  <dc:creator>Microsoft account</dc:creator>
  <cp:lastModifiedBy>Pelumi of God</cp:lastModifiedBy>
  <cp:revision>34</cp:revision>
  <dcterms:created xsi:type="dcterms:W3CDTF">2025-02-16T21:33:00Z</dcterms:created>
  <dcterms:modified xsi:type="dcterms:W3CDTF">2026-02-03T04:54:10Z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8091FF599F6841B3AA7469EF622D1BC8_12</vt:lpwstr>
  </property>
  <property fmtid="{D5CDD505-2E9C-101B-9397-08002B2CF9AE}" pid="3" name="KSOProductBuildVer">
    <vt:lpwstr>1033-12.2.0.23196</vt:lpwstr>
  </property>
</Properties>
</file>