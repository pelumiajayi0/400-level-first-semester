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54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9142" y="4394200"/>
            <a:ext cx="9394258" cy="110716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 smtClean="0"/>
              <a:t>Engr. A. S. </a:t>
            </a:r>
            <a:r>
              <a:rPr lang="en-GB" sz="2400" b="1" dirty="0" err="1" smtClean="0"/>
              <a:t>Oluwajembola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8462" y="724181"/>
            <a:ext cx="8934938" cy="270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400" b="1" dirty="0" smtClean="0"/>
              <a:t>STARTING </a:t>
            </a:r>
            <a:r>
              <a:rPr lang="en-GB" sz="3400" b="1" dirty="0"/>
              <a:t>THE PROJECT</a:t>
            </a: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3200" b="1" dirty="0" smtClean="0"/>
              <a:t/>
            </a:r>
            <a:br>
              <a:rPr lang="en-GB" sz="3200" b="1" dirty="0" smtClean="0"/>
            </a:br>
            <a:r>
              <a:rPr lang="en-GB" sz="2800" b="1" dirty="0" smtClean="0"/>
              <a:t>AUL-DHS 413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588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1280890"/>
          </a:xfrm>
        </p:spPr>
        <p:txBody>
          <a:bodyPr/>
          <a:lstStyle/>
          <a:p>
            <a:pPr algn="ctr"/>
            <a:r>
              <a:rPr lang="en-US" dirty="0"/>
              <a:t>Starting a project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509" y="2133600"/>
            <a:ext cx="9875104" cy="37776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/>
              <a:t>Starting a project according to the Project Management Institute (PMI) Guide, specifically the PMBOK® Guide (Project Management Body of Knowledge), follows the Initiating Process Group. This phase establishes the foundation for a successful project by defining high-level objectives, stakeholders, and project feasibility</a:t>
            </a:r>
          </a:p>
        </p:txBody>
      </p:sp>
    </p:spTree>
    <p:extLst>
      <p:ext uri="{BB962C8B-B14F-4D97-AF65-F5344CB8AC3E}">
        <p14:creationId xmlns:p14="http://schemas.microsoft.com/office/powerpoint/2010/main" val="394774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GB" b="1" dirty="0" smtClean="0"/>
              <a:t>What is project Charter?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7815" y="1518834"/>
            <a:ext cx="10226797" cy="4392388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dirty="0"/>
              <a:t>The Project Charter is a formal document that authorizes the project and gives the project manager the authority to apply organizational resources to project activities. It serves as a high-level document that outlines the project's objectives, Key stakeholders and their roles, scope, high-level requirements and key deliverables, Budget and schedule overview, assigned project manager and their authority level.</a:t>
            </a:r>
          </a:p>
        </p:txBody>
      </p:sp>
    </p:spTree>
    <p:extLst>
      <p:ext uri="{BB962C8B-B14F-4D97-AF65-F5344CB8AC3E}">
        <p14:creationId xmlns:p14="http://schemas.microsoft.com/office/powerpoint/2010/main" val="6984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ctr"/>
            <a:r>
              <a:rPr lang="en-GB" b="1" dirty="0" smtClean="0"/>
              <a:t>Purposes of project Charter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9768801" cy="439238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dirty="0" smtClean="0"/>
              <a:t>1.</a:t>
            </a:r>
            <a:r>
              <a:rPr lang="en-US" sz="3200" dirty="0"/>
              <a:t>	</a:t>
            </a:r>
            <a:r>
              <a:rPr lang="en-US" sz="3200" b="1" dirty="0"/>
              <a:t>Formally Authorizes the Project </a:t>
            </a:r>
            <a:r>
              <a:rPr lang="en-US" sz="3200" dirty="0"/>
              <a:t>– It grants official approval for the project to begin.</a:t>
            </a:r>
          </a:p>
          <a:p>
            <a:pPr algn="just"/>
            <a:r>
              <a:rPr lang="en-US" sz="3200" dirty="0"/>
              <a:t>2.	</a:t>
            </a:r>
            <a:r>
              <a:rPr lang="en-US" sz="3200" b="1" dirty="0"/>
              <a:t>Defines High-Level Objectives and Scope </a:t>
            </a:r>
            <a:r>
              <a:rPr lang="en-US" sz="3200" dirty="0"/>
              <a:t>– It provides a broad understanding of what the project aims to achieve.</a:t>
            </a:r>
          </a:p>
          <a:p>
            <a:pPr algn="just"/>
            <a:r>
              <a:rPr lang="en-US" sz="3200" dirty="0"/>
              <a:t>3.	</a:t>
            </a:r>
            <a:r>
              <a:rPr lang="en-US" sz="3200" b="1" dirty="0"/>
              <a:t>Identifies Key Stakeholders </a:t>
            </a:r>
            <a:r>
              <a:rPr lang="en-US" sz="3200" dirty="0"/>
              <a:t>– Lists important stakeholders and their roles in the project.</a:t>
            </a:r>
          </a:p>
          <a:p>
            <a:pPr algn="just"/>
            <a:r>
              <a:rPr lang="en-US" sz="3200" dirty="0"/>
              <a:t>4.	</a:t>
            </a:r>
            <a:r>
              <a:rPr lang="en-US" sz="3200" b="1" dirty="0"/>
              <a:t>Appoints the Project Manager </a:t>
            </a:r>
            <a:r>
              <a:rPr lang="en-US" sz="3200" dirty="0"/>
              <a:t>– Gives the project manager authority to use organizational resources.</a:t>
            </a:r>
          </a:p>
          <a:p>
            <a:pPr algn="just"/>
            <a:r>
              <a:rPr lang="en-US" sz="3200" dirty="0"/>
              <a:t>5.	</a:t>
            </a:r>
            <a:r>
              <a:rPr lang="en-US" sz="3200" b="1" dirty="0"/>
              <a:t>Serves as a Reference Document </a:t>
            </a:r>
            <a:r>
              <a:rPr lang="en-US" sz="3200" dirty="0"/>
              <a:t>– Acts as a guiding document throughout the project lifecycle.</a:t>
            </a:r>
          </a:p>
          <a:p>
            <a:pPr algn="just"/>
            <a:r>
              <a:rPr lang="en-US" sz="3200" dirty="0"/>
              <a:t>6.	</a:t>
            </a:r>
            <a:r>
              <a:rPr lang="en-US" sz="3200" b="1" dirty="0"/>
              <a:t>Links the Project to Organizational Goals </a:t>
            </a:r>
            <a:r>
              <a:rPr lang="en-US" sz="3200" dirty="0"/>
              <a:t>– Ensures the project aligns with business objectives and strategic goals.</a:t>
            </a:r>
          </a:p>
        </p:txBody>
      </p:sp>
    </p:spTree>
    <p:extLst>
      <p:ext uri="{BB962C8B-B14F-4D97-AF65-F5344CB8AC3E}">
        <p14:creationId xmlns:p14="http://schemas.microsoft.com/office/powerpoint/2010/main" val="140746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US" b="1" dirty="0"/>
              <a:t>Key elements of a project charter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508" y="1518834"/>
            <a:ext cx="10339753" cy="468267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200" dirty="0"/>
              <a:t>1. </a:t>
            </a:r>
            <a:r>
              <a:rPr lang="en-US" sz="3200" b="1" dirty="0"/>
              <a:t>Project Purpose or Justification</a:t>
            </a:r>
          </a:p>
          <a:p>
            <a:pPr marL="0" indent="0" algn="just">
              <a:buNone/>
            </a:pPr>
            <a:r>
              <a:rPr lang="en-US" sz="3200" dirty="0"/>
              <a:t>•	Explains why the project is being undertaken.</a:t>
            </a:r>
          </a:p>
          <a:p>
            <a:pPr marL="0" indent="0" algn="just">
              <a:buNone/>
            </a:pPr>
            <a:r>
              <a:rPr lang="en-US" sz="3200" dirty="0"/>
              <a:t>•	Defines how the project aligns with business objectives or solves a problem.</a:t>
            </a:r>
          </a:p>
          <a:p>
            <a:pPr marL="0" indent="0" algn="just">
              <a:buNone/>
            </a:pPr>
            <a:r>
              <a:rPr lang="en-US" sz="3200" dirty="0"/>
              <a:t>•	Example: "This project aims to automate manual data entry, reducing errors and increasing efficiency by 30%."</a:t>
            </a:r>
          </a:p>
          <a:p>
            <a:pPr algn="just"/>
            <a:r>
              <a:rPr lang="en-US" sz="3200" dirty="0"/>
              <a:t>2. </a:t>
            </a:r>
            <a:r>
              <a:rPr lang="en-US" sz="3200" b="1" dirty="0"/>
              <a:t>Measurable Project Objectives and Success Criteria</a:t>
            </a:r>
          </a:p>
          <a:p>
            <a:pPr marL="0" indent="0" algn="just">
              <a:buNone/>
            </a:pPr>
            <a:r>
              <a:rPr lang="en-US" sz="3200" dirty="0"/>
              <a:t>•	Specifies clear and measurable goals.</a:t>
            </a:r>
          </a:p>
          <a:p>
            <a:pPr marL="0" indent="0" algn="just">
              <a:buNone/>
            </a:pPr>
            <a:r>
              <a:rPr lang="en-US" sz="3200" dirty="0"/>
              <a:t>•	Defines how project success will be evaluated.</a:t>
            </a:r>
          </a:p>
          <a:p>
            <a:pPr marL="0" indent="0" algn="just">
              <a:buNone/>
            </a:pPr>
            <a:r>
              <a:rPr lang="en-US" sz="3200" dirty="0"/>
              <a:t>•	Uses SMART Criteria (Specific, Measurable, Achievable, Relevant, Time-bound).</a:t>
            </a:r>
          </a:p>
          <a:p>
            <a:pPr marL="0" indent="0" algn="just">
              <a:buNone/>
            </a:pPr>
            <a:r>
              <a:rPr lang="en-US" sz="3200" dirty="0"/>
              <a:t>•	Example: "The project will deliver a functional e-commerce website within six months, staying within a $500,000 budget</a:t>
            </a:r>
          </a:p>
          <a:p>
            <a:pPr algn="just"/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5181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/>
          <a:lstStyle/>
          <a:p>
            <a:pPr algn="just"/>
            <a:r>
              <a:rPr lang="en-US" b="1" dirty="0"/>
              <a:t>Key elements of a project charter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46" y="1518833"/>
            <a:ext cx="10046677" cy="467095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200" dirty="0"/>
              <a:t>3. </a:t>
            </a:r>
            <a:r>
              <a:rPr lang="en-US" sz="3200" b="1" dirty="0"/>
              <a:t>High-Level Project Scope</a:t>
            </a:r>
          </a:p>
          <a:p>
            <a:pPr marL="0" indent="0" algn="just">
              <a:buNone/>
            </a:pPr>
            <a:r>
              <a:rPr lang="en-US" sz="3200" dirty="0"/>
              <a:t>•	Outlines what the project will and will not include (In-Scope vs. Out-of-Scope).</a:t>
            </a:r>
          </a:p>
          <a:p>
            <a:pPr marL="0" indent="0" algn="just">
              <a:buNone/>
            </a:pPr>
            <a:r>
              <a:rPr lang="en-US" sz="3200" dirty="0"/>
              <a:t>•	Helps prevent scope creep (uncontrolled changes or expansion).</a:t>
            </a:r>
          </a:p>
          <a:p>
            <a:pPr marL="0" indent="0" algn="just">
              <a:buNone/>
            </a:pPr>
            <a:r>
              <a:rPr lang="en-US" sz="3200" dirty="0"/>
              <a:t>•	Example: "The project includes designing a new website but does not cover ongoing website maintenance."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4. </a:t>
            </a:r>
            <a:r>
              <a:rPr lang="en-US" sz="3200" b="1" dirty="0"/>
              <a:t>High-Level Requirements</a:t>
            </a:r>
          </a:p>
          <a:p>
            <a:pPr marL="0" indent="0" algn="just">
              <a:buNone/>
            </a:pPr>
            <a:r>
              <a:rPr lang="en-US" sz="3200" dirty="0"/>
              <a:t>•	Identifies major business or technical requirements.</a:t>
            </a:r>
          </a:p>
          <a:p>
            <a:pPr marL="0" indent="0" algn="just">
              <a:buNone/>
            </a:pPr>
            <a:r>
              <a:rPr lang="en-US" sz="3200" dirty="0"/>
              <a:t>•	Provides an overview of essential features or deliverables.</a:t>
            </a:r>
          </a:p>
          <a:p>
            <a:pPr marL="0" indent="0" algn="just">
              <a:buNone/>
            </a:pPr>
            <a:r>
              <a:rPr lang="en-US" sz="3200" dirty="0"/>
              <a:t>•	Example: "The system must support 1,000 concurrent users and integrate with the company’s existing CRM."</a:t>
            </a:r>
          </a:p>
        </p:txBody>
      </p:sp>
    </p:spTree>
    <p:extLst>
      <p:ext uri="{BB962C8B-B14F-4D97-AF65-F5344CB8AC3E}">
        <p14:creationId xmlns:p14="http://schemas.microsoft.com/office/powerpoint/2010/main" val="342346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Key elements of a project charter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1518834"/>
            <a:ext cx="10198100" cy="439238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200" dirty="0" smtClean="0"/>
              <a:t>5 . </a:t>
            </a:r>
            <a:r>
              <a:rPr lang="en-US" sz="3200" b="1" dirty="0" smtClean="0"/>
              <a:t>Project </a:t>
            </a:r>
            <a:r>
              <a:rPr lang="en-US" sz="3200" b="1" dirty="0"/>
              <a:t>Assumptions and Constraints</a:t>
            </a:r>
          </a:p>
          <a:p>
            <a:pPr marL="0" indent="0" algn="just">
              <a:buNone/>
            </a:pPr>
            <a:r>
              <a:rPr lang="en-US" sz="3200" dirty="0"/>
              <a:t>•	Assumptions: Conditions considered true for planning but not yet proven.</a:t>
            </a:r>
          </a:p>
          <a:p>
            <a:pPr marL="0" indent="0" algn="just">
              <a:buNone/>
            </a:pPr>
            <a:r>
              <a:rPr lang="en-US" sz="3200" dirty="0"/>
              <a:t>•	Constraints: Limitations such as budget, time, resources, or regulations.</a:t>
            </a:r>
          </a:p>
          <a:p>
            <a:pPr marL="0" indent="0" algn="just">
              <a:buNone/>
            </a:pPr>
            <a:r>
              <a:rPr lang="en-US" sz="3200" dirty="0"/>
              <a:t>•	Example:</a:t>
            </a:r>
          </a:p>
          <a:p>
            <a:pPr marL="0" indent="0" algn="just">
              <a:buNone/>
            </a:pPr>
            <a:r>
              <a:rPr lang="en-US" sz="3200" dirty="0"/>
              <a:t>	Assumption: "The client will provide timely feedback within 48 hours."</a:t>
            </a:r>
          </a:p>
          <a:p>
            <a:pPr marL="0" indent="0" algn="just">
              <a:buNone/>
            </a:pPr>
            <a:r>
              <a:rPr lang="en-US" sz="3200" dirty="0"/>
              <a:t>	</a:t>
            </a:r>
            <a:r>
              <a:rPr lang="en-US" sz="3200" dirty="0" smtClean="0"/>
              <a:t>Constraint</a:t>
            </a:r>
            <a:r>
              <a:rPr lang="en-US" sz="3200" dirty="0"/>
              <a:t>: "The project must be completed within a $1M budget and by December 31, 2025."</a:t>
            </a:r>
          </a:p>
          <a:p>
            <a:pPr algn="just"/>
            <a:r>
              <a:rPr lang="en-US" sz="3200" dirty="0"/>
              <a:t>6. </a:t>
            </a:r>
            <a:r>
              <a:rPr lang="en-US" sz="3200" b="1" dirty="0"/>
              <a:t>Project Risks</a:t>
            </a:r>
          </a:p>
          <a:p>
            <a:pPr marL="0" indent="0" algn="just">
              <a:buNone/>
            </a:pPr>
            <a:r>
              <a:rPr lang="en-US" sz="3200" dirty="0"/>
              <a:t>•	Identifies high-level risks that could impact the project.</a:t>
            </a:r>
          </a:p>
          <a:p>
            <a:pPr marL="0" indent="0" algn="just">
              <a:buNone/>
            </a:pPr>
            <a:r>
              <a:rPr lang="en-US" sz="3200" dirty="0"/>
              <a:t>•	Example: "A key risk is supplier delays, which could impact the project timeline."</a:t>
            </a:r>
          </a:p>
          <a:p>
            <a:pPr marL="0" indent="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8034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Key elements of a project charter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518834"/>
            <a:ext cx="10037089" cy="442476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200" dirty="0" smtClean="0"/>
              <a:t>7 </a:t>
            </a:r>
            <a:r>
              <a:rPr lang="en-US" sz="3200" b="1" dirty="0" smtClean="0"/>
              <a:t>Project </a:t>
            </a:r>
            <a:r>
              <a:rPr lang="en-US" sz="3200" b="1" dirty="0"/>
              <a:t>Milestones and Timeline</a:t>
            </a:r>
          </a:p>
          <a:p>
            <a:pPr marL="0" indent="0" algn="just">
              <a:buNone/>
            </a:pPr>
            <a:r>
              <a:rPr lang="en-US" sz="3200" dirty="0"/>
              <a:t>•	Lists major phases or significant events with estimated dates.</a:t>
            </a:r>
          </a:p>
          <a:p>
            <a:pPr marL="0" indent="0" algn="just">
              <a:buNone/>
            </a:pPr>
            <a:r>
              <a:rPr lang="en-US" sz="3200" dirty="0"/>
              <a:t>•	Example:</a:t>
            </a:r>
          </a:p>
          <a:p>
            <a:pPr marL="0" indent="0" algn="just">
              <a:buNone/>
            </a:pPr>
            <a:r>
              <a:rPr lang="en-US" sz="3200" dirty="0" smtClean="0"/>
              <a:t>   </a:t>
            </a:r>
            <a:r>
              <a:rPr lang="en-US" sz="3200" dirty="0"/>
              <a:t>Milestone	Expected Date</a:t>
            </a:r>
          </a:p>
          <a:p>
            <a:pPr marL="0" indent="0" algn="just">
              <a:buNone/>
            </a:pPr>
            <a:r>
              <a:rPr lang="en-US" sz="3200" dirty="0"/>
              <a:t>Project Kickoff	April 10, 2025</a:t>
            </a:r>
          </a:p>
          <a:p>
            <a:pPr marL="0" indent="0" algn="just">
              <a:buNone/>
            </a:pPr>
            <a:r>
              <a:rPr lang="en-US" sz="3200" dirty="0"/>
              <a:t>Prototype Development Complete	July 20, 2025</a:t>
            </a:r>
          </a:p>
          <a:p>
            <a:pPr marL="0" indent="0" algn="just">
              <a:buNone/>
            </a:pPr>
            <a:r>
              <a:rPr lang="en-US" sz="3200" dirty="0"/>
              <a:t>Final Testing &amp; Deployment	December 1, 2025</a:t>
            </a:r>
          </a:p>
          <a:p>
            <a:pPr algn="just"/>
            <a:r>
              <a:rPr lang="en-US" sz="3200" dirty="0"/>
              <a:t>8. </a:t>
            </a:r>
            <a:r>
              <a:rPr lang="en-US" sz="3200" b="1" dirty="0"/>
              <a:t>Budget Summary</a:t>
            </a:r>
          </a:p>
          <a:p>
            <a:pPr marL="0" indent="0" algn="just">
              <a:buNone/>
            </a:pPr>
            <a:r>
              <a:rPr lang="en-US" sz="3200" dirty="0"/>
              <a:t>•	Provides an estimated budget range or allocation.</a:t>
            </a:r>
          </a:p>
          <a:p>
            <a:pPr marL="0" indent="0" algn="just">
              <a:buNone/>
            </a:pPr>
            <a:r>
              <a:rPr lang="en-US" sz="3200" dirty="0"/>
              <a:t>•	Example: "The project has a budget of $500,000, with 40% allocated to development and 20% to testing."</a:t>
            </a:r>
          </a:p>
        </p:txBody>
      </p:sp>
    </p:spTree>
    <p:extLst>
      <p:ext uri="{BB962C8B-B14F-4D97-AF65-F5344CB8AC3E}">
        <p14:creationId xmlns:p14="http://schemas.microsoft.com/office/powerpoint/2010/main" val="71632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11" y="624110"/>
            <a:ext cx="9768802" cy="894724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Key elements of a project charter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811" y="1282700"/>
            <a:ext cx="9948189" cy="53848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3200" dirty="0"/>
              <a:t>9. </a:t>
            </a:r>
            <a:r>
              <a:rPr lang="en-US" sz="3200" b="1" dirty="0"/>
              <a:t>Key Stakeholders</a:t>
            </a:r>
          </a:p>
          <a:p>
            <a:pPr marL="0" indent="0" algn="just">
              <a:buNone/>
            </a:pPr>
            <a:r>
              <a:rPr lang="en-US" sz="3200" dirty="0"/>
              <a:t>•	Identifies key individuals or groups with interest or influence over the project.</a:t>
            </a:r>
          </a:p>
          <a:p>
            <a:pPr marL="0" indent="0" algn="just">
              <a:buNone/>
            </a:pPr>
            <a:r>
              <a:rPr lang="en-US" sz="3200" dirty="0"/>
              <a:t>•	Example</a:t>
            </a:r>
            <a:r>
              <a:rPr lang="en-US" sz="3200" dirty="0" smtClean="0"/>
              <a:t>:</a:t>
            </a:r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 smtClean="0"/>
              <a:t>10</a:t>
            </a:r>
            <a:r>
              <a:rPr lang="en-US" sz="3200" dirty="0"/>
              <a:t>. </a:t>
            </a:r>
            <a:r>
              <a:rPr lang="en-US" sz="3200" b="1" dirty="0"/>
              <a:t>Project Manager and Authority Level</a:t>
            </a:r>
          </a:p>
          <a:p>
            <a:pPr marL="0" indent="0" algn="just">
              <a:buNone/>
            </a:pPr>
            <a:r>
              <a:rPr lang="en-US" sz="3200" dirty="0"/>
              <a:t>•	Names the Project Manager and defines their level of authority.</a:t>
            </a:r>
          </a:p>
          <a:p>
            <a:pPr marL="0" indent="0" algn="just">
              <a:buNone/>
            </a:pPr>
            <a:r>
              <a:rPr lang="en-US" sz="3200" dirty="0"/>
              <a:t>•	Example: "John Doe is assigned as Project Manager and has the authority to approve expenses up to $50,000</a:t>
            </a:r>
            <a:r>
              <a:rPr lang="en-US" sz="3200" dirty="0" smtClean="0"/>
              <a:t>.“</a:t>
            </a:r>
          </a:p>
          <a:p>
            <a:pPr marL="0" indent="0" algn="just">
              <a:buNone/>
            </a:pPr>
            <a:r>
              <a:rPr lang="en-US" sz="3200" dirty="0"/>
              <a:t>11. </a:t>
            </a:r>
            <a:r>
              <a:rPr lang="en-US" sz="3200" b="1" dirty="0"/>
              <a:t>Approval and Authorization</a:t>
            </a:r>
          </a:p>
          <a:p>
            <a:pPr marL="0" indent="0" algn="just">
              <a:buNone/>
            </a:pPr>
            <a:r>
              <a:rPr lang="en-US" sz="3200" dirty="0"/>
              <a:t>•	Contains signatures from key decision-makers (e.g., sponsor, steering committee).</a:t>
            </a:r>
          </a:p>
          <a:p>
            <a:pPr marL="0" indent="0" algn="just">
              <a:buNone/>
            </a:pPr>
            <a:r>
              <a:rPr lang="en-US" sz="3200" dirty="0"/>
              <a:t>•	Officially authorizes the project and grants authority to the project manager</a:t>
            </a:r>
          </a:p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endParaRPr lang="en-US" sz="3200" dirty="0"/>
          </a:p>
          <a:p>
            <a:pPr algn="just"/>
            <a:endParaRPr lang="en-GB" sz="32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720577"/>
              </p:ext>
            </p:extLst>
          </p:nvPr>
        </p:nvGraphicFramePr>
        <p:xfrm>
          <a:off x="1968500" y="2362200"/>
          <a:ext cx="812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193040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s/n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Stakeholder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/>
                        <a:t>Influence Level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6402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John</a:t>
                      </a:r>
                      <a:r>
                        <a:rPr lang="en-US" baseline="0" dirty="0" smtClean="0"/>
                        <a:t> Doe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Sponsor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</a:tr>
              <a:tr h="36402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Jane</a:t>
                      </a:r>
                      <a:r>
                        <a:rPr lang="en-US" baseline="0" dirty="0" smtClean="0"/>
                        <a:t> 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Director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36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611" y="2732310"/>
            <a:ext cx="9768802" cy="894724"/>
          </a:xfrm>
        </p:spPr>
        <p:txBody>
          <a:bodyPr>
            <a:noAutofit/>
          </a:bodyPr>
          <a:lstStyle/>
          <a:p>
            <a:pPr marL="0" indent="0" algn="ctr"/>
            <a:r>
              <a:rPr lang="en-US" sz="4400" b="1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7925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5954" y="778840"/>
            <a:ext cx="10914184" cy="1280890"/>
          </a:xfrm>
        </p:spPr>
        <p:txBody>
          <a:bodyPr>
            <a:normAutofit/>
          </a:bodyPr>
          <a:lstStyle/>
          <a:p>
            <a:r>
              <a:rPr lang="en-US" sz="1800" b="1" dirty="0"/>
              <a:t>For each item listed, simply </a:t>
            </a:r>
            <a:r>
              <a:rPr lang="en-US" sz="1800" b="1" dirty="0" err="1"/>
              <a:t>detemtine</a:t>
            </a:r>
            <a:r>
              <a:rPr lang="en-US" sz="1800" b="1" dirty="0"/>
              <a:t> if it is done in initiating:, planning, executing, monitoring and controlling or closing.</a:t>
            </a:r>
            <a:endParaRPr lang="en-US" sz="1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95754" y="152400"/>
            <a:ext cx="10914184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. QUESTIONS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195754" y="1419285"/>
            <a:ext cx="109962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</a:t>
            </a:r>
            <a:r>
              <a:rPr lang="en-US" sz="2000" dirty="0" smtClean="0"/>
              <a:t>. Sponsor(s</a:t>
            </a:r>
            <a:r>
              <a:rPr lang="en-US" sz="2000" dirty="0"/>
              <a:t>) selects </a:t>
            </a:r>
            <a:r>
              <a:rPr lang="en-US" sz="2000" dirty="0" smtClean="0"/>
              <a:t>the </a:t>
            </a:r>
            <a:r>
              <a:rPr lang="en-US" sz="2000" dirty="0"/>
              <a:t>project </a:t>
            </a:r>
            <a:r>
              <a:rPr lang="en-US" sz="2000" dirty="0" smtClean="0"/>
              <a:t>manager.</a:t>
            </a:r>
            <a:endParaRPr lang="en-US" sz="2000" dirty="0"/>
          </a:p>
          <a:p>
            <a:r>
              <a:rPr lang="en-US" sz="2000" dirty="0" smtClean="0"/>
              <a:t>2. Sponsor(s</a:t>
            </a:r>
            <a:r>
              <a:rPr lang="en-US" sz="2000" dirty="0"/>
              <a:t>) determines the </a:t>
            </a:r>
            <a:r>
              <a:rPr lang="en-US" sz="2000" dirty="0" smtClean="0"/>
              <a:t>authority of </a:t>
            </a:r>
            <a:r>
              <a:rPr lang="en-US" sz="2000" dirty="0"/>
              <a:t>the project manager.</a:t>
            </a:r>
          </a:p>
          <a:p>
            <a:r>
              <a:rPr lang="en-US" sz="2000" dirty="0" smtClean="0"/>
              <a:t>3. </a:t>
            </a:r>
            <a:r>
              <a:rPr lang="en-US" sz="2000" dirty="0"/>
              <a:t>Collect historical information.</a:t>
            </a:r>
          </a:p>
          <a:p>
            <a:r>
              <a:rPr lang="en-US" sz="2000" dirty="0" smtClean="0"/>
              <a:t>4. </a:t>
            </a:r>
            <a:r>
              <a:rPr lang="en-US" sz="2000" dirty="0"/>
              <a:t>Divide large projects into phases. Use project </a:t>
            </a:r>
            <a:r>
              <a:rPr lang="en-US" sz="2000" dirty="0" smtClean="0"/>
              <a:t>governance </a:t>
            </a:r>
            <a:r>
              <a:rPr lang="en-US" sz="2000" dirty="0"/>
              <a:t>rules and apply</a:t>
            </a:r>
          </a:p>
          <a:p>
            <a:r>
              <a:rPr lang="en-US" sz="2000" dirty="0"/>
              <a:t>them to the </a:t>
            </a:r>
            <a:r>
              <a:rPr lang="en-US" sz="2000" dirty="0" smtClean="0"/>
              <a:t>projec</a:t>
            </a:r>
            <a:r>
              <a:rPr lang="en-US" sz="2000" dirty="0"/>
              <a:t>t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 smtClean="0"/>
              <a:t>5. </a:t>
            </a:r>
            <a:r>
              <a:rPr lang="en-US" sz="2000" dirty="0"/>
              <a:t>Identify stakeholders, and </a:t>
            </a:r>
            <a:r>
              <a:rPr lang="en-US" sz="2000" dirty="0" smtClean="0"/>
              <a:t>determine </a:t>
            </a:r>
            <a:r>
              <a:rPr lang="en-US" sz="2000" dirty="0"/>
              <a:t>their influence, expectations, and</a:t>
            </a:r>
          </a:p>
          <a:p>
            <a:r>
              <a:rPr lang="en-US" sz="2000" dirty="0"/>
              <a:t>impact. Document that information in a stakeholder </a:t>
            </a:r>
            <a:r>
              <a:rPr lang="en-US" sz="2000" dirty="0" smtClean="0"/>
              <a:t>register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6. </a:t>
            </a:r>
            <a:r>
              <a:rPr lang="en-US" sz="2000" dirty="0"/>
              <a:t>Determine </a:t>
            </a:r>
            <a:r>
              <a:rPr lang="en-US" sz="2000" dirty="0" smtClean="0"/>
              <a:t>high-level </a:t>
            </a:r>
            <a:r>
              <a:rPr lang="en-US" sz="2000" dirty="0"/>
              <a:t>requirements, constraints, assumptions, and risks.</a:t>
            </a:r>
          </a:p>
          <a:p>
            <a:r>
              <a:rPr lang="en-US" sz="2000" dirty="0" smtClean="0"/>
              <a:t>7. </a:t>
            </a:r>
            <a:r>
              <a:rPr lang="en-US" sz="2000" dirty="0"/>
              <a:t>Turn high-level stakeholder needs, wants, and expectations into</a:t>
            </a:r>
          </a:p>
          <a:p>
            <a:r>
              <a:rPr lang="en-US" sz="2000" dirty="0" smtClean="0"/>
              <a:t>requirement.</a:t>
            </a:r>
            <a:endParaRPr lang="en-US" sz="2000" dirty="0"/>
          </a:p>
          <a:p>
            <a:r>
              <a:rPr lang="en-US" sz="2000" dirty="0" smtClean="0"/>
              <a:t>8. </a:t>
            </a:r>
            <a:r>
              <a:rPr lang="en-US" sz="2000" dirty="0"/>
              <a:t>Make sure the business case and the </a:t>
            </a:r>
            <a:r>
              <a:rPr lang="en-US" sz="2000" dirty="0" smtClean="0"/>
              <a:t>analysis </a:t>
            </a:r>
            <a:r>
              <a:rPr lang="en-US" sz="2000" dirty="0"/>
              <a:t>supporting the </a:t>
            </a:r>
            <a:r>
              <a:rPr lang="en-US" sz="2000" dirty="0" smtClean="0"/>
              <a:t>need for </a:t>
            </a:r>
            <a:r>
              <a:rPr lang="en-US" sz="2000" dirty="0"/>
              <a:t>the</a:t>
            </a:r>
          </a:p>
          <a:p>
            <a:r>
              <a:rPr lang="en-US" sz="2000" dirty="0"/>
              <a:t>project are documented and </a:t>
            </a:r>
            <a:r>
              <a:rPr lang="en-US" sz="2000" dirty="0" smtClean="0"/>
              <a:t>underst</a:t>
            </a:r>
            <a:r>
              <a:rPr lang="en-US" sz="2000" dirty="0"/>
              <a:t>o</a:t>
            </a:r>
            <a:r>
              <a:rPr lang="en-US" sz="2000" dirty="0" smtClean="0"/>
              <a:t>od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9. </a:t>
            </a:r>
            <a:r>
              <a:rPr lang="en-US" sz="2000" dirty="0"/>
              <a:t>Use the benefits management plan to understand the </a:t>
            </a:r>
            <a:r>
              <a:rPr lang="en-US" sz="2000" dirty="0" smtClean="0"/>
              <a:t>benefits </a:t>
            </a:r>
            <a:r>
              <a:rPr lang="en-US" sz="2000" dirty="0"/>
              <a:t>that </a:t>
            </a:r>
            <a:r>
              <a:rPr lang="en-US" sz="2000" dirty="0" smtClean="0"/>
              <a:t>the project </a:t>
            </a:r>
            <a:r>
              <a:rPr lang="en-US" sz="2000" dirty="0"/>
              <a:t>is </a:t>
            </a:r>
            <a:r>
              <a:rPr lang="en-US" sz="2000" dirty="0" smtClean="0"/>
              <a:t>expected </a:t>
            </a:r>
            <a:r>
              <a:rPr lang="en-US" sz="2000" dirty="0"/>
              <a:t>to deliver to the business.</a:t>
            </a:r>
          </a:p>
          <a:p>
            <a:r>
              <a:rPr lang="en-US" sz="2000" dirty="0" smtClean="0"/>
              <a:t>10. </a:t>
            </a:r>
            <a:r>
              <a:rPr lang="en-US" sz="2000" dirty="0"/>
              <a:t>Ensure the </a:t>
            </a:r>
            <a:r>
              <a:rPr lang="en-US" sz="2000" dirty="0" smtClean="0"/>
              <a:t>high-level product </a:t>
            </a:r>
            <a:r>
              <a:rPr lang="en-US" sz="2000" dirty="0"/>
              <a:t>scope is </a:t>
            </a:r>
            <a:r>
              <a:rPr lang="en-US" sz="2000" dirty="0" smtClean="0"/>
              <a:t>documented </a:t>
            </a:r>
            <a:r>
              <a:rPr lang="en-US" sz="2000" dirty="0"/>
              <a:t>with as much detail </a:t>
            </a:r>
            <a:r>
              <a:rPr lang="en-US" sz="2000" dirty="0" smtClean="0"/>
              <a:t>as is practical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282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95754" y="0"/>
            <a:ext cx="10914184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. QUESTIONS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195754" y="1330404"/>
            <a:ext cx="1091418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11. Understand </a:t>
            </a:r>
            <a:r>
              <a:rPr lang="en-US" sz="2000" dirty="0"/>
              <a:t>how the project supports the organizations </a:t>
            </a:r>
            <a:r>
              <a:rPr lang="en-US" sz="2000" dirty="0" smtClean="0"/>
              <a:t>strategic  objectives</a:t>
            </a:r>
            <a:endParaRPr lang="en-US" sz="2000" dirty="0"/>
          </a:p>
          <a:p>
            <a:r>
              <a:rPr lang="en-US" sz="2000" dirty="0" smtClean="0"/>
              <a:t>12. </a:t>
            </a:r>
            <a:r>
              <a:rPr lang="en-US" sz="2000" dirty="0"/>
              <a:t>Collect and use any </a:t>
            </a:r>
            <a:r>
              <a:rPr lang="en-US" sz="2000" dirty="0" smtClean="0"/>
              <a:t>relevant</a:t>
            </a:r>
            <a:r>
              <a:rPr lang="en-US" sz="2000" dirty="0"/>
              <a:t>, existing agreements {including contracts)</a:t>
            </a:r>
          </a:p>
          <a:p>
            <a:r>
              <a:rPr lang="en-US" sz="2000" dirty="0"/>
              <a:t>that might be generating the </a:t>
            </a:r>
            <a:r>
              <a:rPr lang="en-US" sz="2000" dirty="0" smtClean="0"/>
              <a:t>project </a:t>
            </a:r>
            <a:r>
              <a:rPr lang="en-US" sz="2000" dirty="0"/>
              <a:t>or that will be required during </a:t>
            </a:r>
            <a:r>
              <a:rPr lang="en-US" sz="2000" dirty="0" smtClean="0"/>
              <a:t>the project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13. </a:t>
            </a:r>
            <a:r>
              <a:rPr lang="en-US" sz="2000" dirty="0"/>
              <a:t>Determine success </a:t>
            </a:r>
            <a:r>
              <a:rPr lang="en-US" sz="2000" dirty="0" smtClean="0"/>
              <a:t>criteria </a:t>
            </a:r>
            <a:r>
              <a:rPr lang="en-US" sz="2000" dirty="0"/>
              <a:t>and measurable project and product</a:t>
            </a:r>
          </a:p>
          <a:p>
            <a:r>
              <a:rPr lang="en-US" sz="2000" dirty="0"/>
              <a:t>objectives.</a:t>
            </a:r>
          </a:p>
          <a:p>
            <a:r>
              <a:rPr lang="en-US" sz="2000" dirty="0" smtClean="0"/>
              <a:t>14. </a:t>
            </a:r>
            <a:r>
              <a:rPr lang="en-US" sz="2000" dirty="0"/>
              <a:t>Facilitate the resolution of </a:t>
            </a:r>
            <a:r>
              <a:rPr lang="en-US" sz="2000" dirty="0" smtClean="0"/>
              <a:t>conflicting </a:t>
            </a:r>
            <a:r>
              <a:rPr lang="en-US" sz="2000" dirty="0"/>
              <a:t>objectives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15. Become </a:t>
            </a:r>
            <a:r>
              <a:rPr lang="en-US" sz="2000" dirty="0"/>
              <a:t>familiar with the company culture and structure as they relate </a:t>
            </a:r>
            <a:r>
              <a:rPr lang="en-US" sz="2000" dirty="0" smtClean="0"/>
              <a:t>to the </a:t>
            </a:r>
            <a:r>
              <a:rPr lang="en-US" sz="2000" dirty="0"/>
              <a:t>project.</a:t>
            </a:r>
          </a:p>
          <a:p>
            <a:r>
              <a:rPr lang="en-US" sz="2000" dirty="0" smtClean="0"/>
              <a:t>16.  </a:t>
            </a:r>
            <a:r>
              <a:rPr lang="en-US" sz="2000" dirty="0"/>
              <a:t>Find existing processes, standards, and compliance requirements </a:t>
            </a:r>
            <a:r>
              <a:rPr lang="en-US" sz="2000" dirty="0" smtClean="0"/>
              <a:t>that affect </a:t>
            </a:r>
            <a:r>
              <a:rPr lang="en-US" sz="2000" dirty="0"/>
              <a:t>the project.</a:t>
            </a:r>
          </a:p>
          <a:p>
            <a:r>
              <a:rPr lang="en-US" sz="2000" dirty="0" smtClean="0"/>
              <a:t>17. </a:t>
            </a:r>
            <a:r>
              <a:rPr lang="en-US" sz="2000" dirty="0"/>
              <a:t>Understand how the organization does </a:t>
            </a:r>
            <a:r>
              <a:rPr lang="en-US" sz="2000" dirty="0" smtClean="0"/>
              <a:t>business </a:t>
            </a:r>
            <a:r>
              <a:rPr lang="en-US" sz="2000" dirty="0"/>
              <a:t>(business </a:t>
            </a:r>
            <a:r>
              <a:rPr lang="en-US" sz="2000" dirty="0" smtClean="0"/>
              <a:t>knowledge) and </a:t>
            </a:r>
            <a:r>
              <a:rPr lang="en-US" sz="2000" dirty="0"/>
              <a:t>what </a:t>
            </a:r>
            <a:r>
              <a:rPr lang="en-US" sz="2000" dirty="0" smtClean="0"/>
              <a:t> </a:t>
            </a:r>
            <a:r>
              <a:rPr lang="en-US" sz="2000" dirty="0"/>
              <a:t>procedures, and policies are already in place to </a:t>
            </a:r>
            <a:r>
              <a:rPr lang="en-US" sz="2000" dirty="0" smtClean="0"/>
              <a:t>use on </a:t>
            </a:r>
            <a:r>
              <a:rPr lang="en-US" sz="2000" dirty="0"/>
              <a:t>the project.</a:t>
            </a:r>
          </a:p>
          <a:p>
            <a:r>
              <a:rPr lang="en-US" sz="2000" dirty="0" smtClean="0"/>
              <a:t>18. </a:t>
            </a:r>
            <a:r>
              <a:rPr lang="en-US" sz="2000" dirty="0"/>
              <a:t>Do </a:t>
            </a:r>
            <a:r>
              <a:rPr lang="en-US" sz="2000" dirty="0" smtClean="0"/>
              <a:t>planning </a:t>
            </a:r>
            <a:r>
              <a:rPr lang="en-US" sz="2000" dirty="0"/>
              <a:t>on a high-level basis.</a:t>
            </a:r>
          </a:p>
          <a:p>
            <a:r>
              <a:rPr lang="en-US" sz="2000" dirty="0" smtClean="0"/>
              <a:t>19. </a:t>
            </a:r>
            <a:r>
              <a:rPr lang="en-US" sz="2000" dirty="0"/>
              <a:t>Perform high - </a:t>
            </a:r>
            <a:r>
              <a:rPr lang="en-US" sz="2000" dirty="0" smtClean="0"/>
              <a:t>level estimating </a:t>
            </a:r>
            <a:r>
              <a:rPr lang="en-US" sz="2000" dirty="0"/>
              <a:t>for the </a:t>
            </a:r>
            <a:r>
              <a:rPr lang="en-US" sz="2000" dirty="0" smtClean="0"/>
              <a:t>project schedule </a:t>
            </a:r>
            <a:r>
              <a:rPr lang="en-US" sz="2000" dirty="0"/>
              <a:t>and budget.</a:t>
            </a:r>
          </a:p>
          <a:p>
            <a:r>
              <a:rPr lang="en-US" sz="2000" dirty="0" smtClean="0"/>
              <a:t>20. </a:t>
            </a:r>
            <a:r>
              <a:rPr lang="en-US" sz="2000" dirty="0"/>
              <a:t>Use the high-level planning and </a:t>
            </a:r>
            <a:r>
              <a:rPr lang="en-US" sz="2000" dirty="0" smtClean="0"/>
              <a:t>estimating </a:t>
            </a:r>
            <a:r>
              <a:rPr lang="en-US" sz="2000" dirty="0"/>
              <a:t>data to determine whether the</a:t>
            </a:r>
          </a:p>
          <a:p>
            <a:r>
              <a:rPr lang="en-US" sz="2000" dirty="0"/>
              <a:t>project </a:t>
            </a:r>
            <a:r>
              <a:rPr lang="en-US" sz="2000" dirty="0" smtClean="0"/>
              <a:t>objectives </a:t>
            </a:r>
            <a:r>
              <a:rPr lang="en-US" sz="2000" dirty="0"/>
              <a:t>can be achieved within the given constraints and</a:t>
            </a:r>
          </a:p>
          <a:p>
            <a:r>
              <a:rPr lang="en-US" sz="2000" dirty="0"/>
              <a:t>whether the expected </a:t>
            </a:r>
            <a:r>
              <a:rPr lang="en-US" sz="2000" dirty="0" smtClean="0"/>
              <a:t>benefits </a:t>
            </a:r>
            <a:r>
              <a:rPr lang="en-US" sz="2000" dirty="0"/>
              <a:t>can </a:t>
            </a:r>
            <a:r>
              <a:rPr lang="en-US" sz="2000" dirty="0" smtClean="0"/>
              <a:t>be </a:t>
            </a:r>
            <a:r>
              <a:rPr lang="en-US" sz="2000" dirty="0"/>
              <a:t>realized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0931" y="591234"/>
            <a:ext cx="100017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For each item listed, simply </a:t>
            </a:r>
            <a:r>
              <a:rPr lang="en-US" b="1" dirty="0" err="1"/>
              <a:t>detemtine</a:t>
            </a:r>
            <a:r>
              <a:rPr lang="en-US" b="1" dirty="0"/>
              <a:t> if it is done in initiating:, planning, executing, monitoring and </a:t>
            </a:r>
            <a:r>
              <a:rPr lang="en-US" b="1" dirty="0" smtClean="0"/>
              <a:t>controlling </a:t>
            </a:r>
            <a:r>
              <a:rPr lang="en-US" b="1" dirty="0"/>
              <a:t>or closing.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6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95754" y="152400"/>
            <a:ext cx="10914184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. QUESTIONS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195754" y="1340366"/>
            <a:ext cx="1085068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21. Determine </a:t>
            </a:r>
            <a:r>
              <a:rPr lang="en-US" sz="2000" dirty="0"/>
              <a:t>what form the project charter will take, including its level </a:t>
            </a:r>
            <a:r>
              <a:rPr lang="en-US" sz="2000" dirty="0" smtClean="0"/>
              <a:t>of </a:t>
            </a:r>
            <a:r>
              <a:rPr lang="en-US" sz="2000" dirty="0" err="1" smtClean="0"/>
              <a:t>detaiL</a:t>
            </a:r>
            <a:endParaRPr lang="en-US" sz="2000" dirty="0"/>
          </a:p>
          <a:p>
            <a:r>
              <a:rPr lang="en-US" sz="2000" dirty="0" smtClean="0"/>
              <a:t>22. </a:t>
            </a:r>
            <a:r>
              <a:rPr lang="en-US" sz="2000" dirty="0"/>
              <a:t>Coordinate project initiating efforts with stakeholders, </a:t>
            </a:r>
            <a:r>
              <a:rPr lang="en-US" sz="2000" dirty="0" smtClean="0"/>
              <a:t>including the customer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23. Work </a:t>
            </a:r>
            <a:r>
              <a:rPr lang="en-US" sz="2000" dirty="0"/>
              <a:t>with the customer and others to determine high -level </a:t>
            </a:r>
            <a:r>
              <a:rPr lang="en-US" sz="2000" dirty="0" smtClean="0"/>
              <a:t>acceptance criteria </a:t>
            </a:r>
            <a:r>
              <a:rPr lang="en-US" sz="2000" dirty="0"/>
              <a:t>and clarify what </a:t>
            </a:r>
            <a:r>
              <a:rPr lang="en-US" sz="2000" dirty="0" smtClean="0"/>
              <a:t>is and is </a:t>
            </a:r>
            <a:r>
              <a:rPr lang="en-US" sz="2000" dirty="0"/>
              <a:t>not in </a:t>
            </a:r>
            <a:r>
              <a:rPr lang="en-US" sz="2000" dirty="0" smtClean="0"/>
              <a:t>the </a:t>
            </a:r>
            <a:r>
              <a:rPr lang="en-US" sz="2000" dirty="0"/>
              <a:t>project.</a:t>
            </a:r>
          </a:p>
          <a:p>
            <a:r>
              <a:rPr lang="en-US" sz="2000" dirty="0" smtClean="0"/>
              <a:t>24. </a:t>
            </a:r>
            <a:r>
              <a:rPr lang="en-US" sz="2000" dirty="0"/>
              <a:t>Determine the initial project organization.</a:t>
            </a:r>
          </a:p>
          <a:p>
            <a:r>
              <a:rPr lang="en-US" sz="2000" dirty="0" smtClean="0"/>
              <a:t>25. identify </a:t>
            </a:r>
            <a:r>
              <a:rPr lang="en-US" sz="2000" dirty="0"/>
              <a:t>any inherent or </a:t>
            </a:r>
            <a:r>
              <a:rPr lang="en-US" sz="2000" dirty="0" smtClean="0"/>
              <a:t>required milestones </a:t>
            </a:r>
            <a:r>
              <a:rPr lang="en-US" sz="2000" dirty="0"/>
              <a:t>on the project.</a:t>
            </a:r>
          </a:p>
          <a:p>
            <a:r>
              <a:rPr lang="en-US" sz="2000" dirty="0" smtClean="0"/>
              <a:t>26. Finalize </a:t>
            </a:r>
            <a:r>
              <a:rPr lang="en-US" sz="2000" dirty="0"/>
              <a:t>the project charter.</a:t>
            </a:r>
          </a:p>
          <a:p>
            <a:r>
              <a:rPr lang="en-US" sz="2000" dirty="0" smtClean="0"/>
              <a:t>27. </a:t>
            </a:r>
            <a:r>
              <a:rPr lang="en-US" sz="2000" dirty="0"/>
              <a:t>Obtain formal approval of the </a:t>
            </a:r>
            <a:r>
              <a:rPr lang="en-US" sz="2000" dirty="0" smtClean="0"/>
              <a:t>project charter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28. </a:t>
            </a:r>
            <a:r>
              <a:rPr lang="en-US" sz="2000" dirty="0"/>
              <a:t>Define the exit criteria for the project (when and why the project or </a:t>
            </a:r>
            <a:r>
              <a:rPr lang="en-US" sz="2000" dirty="0" smtClean="0"/>
              <a:t>phase should </a:t>
            </a:r>
            <a:r>
              <a:rPr lang="en-US" sz="2000" dirty="0"/>
              <a:t>be dosed).</a:t>
            </a:r>
          </a:p>
          <a:p>
            <a:r>
              <a:rPr lang="en-US" sz="2000" dirty="0" smtClean="0"/>
              <a:t>29. </a:t>
            </a:r>
            <a:r>
              <a:rPr lang="en-US" sz="2000" dirty="0"/>
              <a:t>Involve subject matter -</a:t>
            </a:r>
            <a:r>
              <a:rPr lang="en-US" sz="2000" dirty="0" smtClean="0"/>
              <a:t>experts </a:t>
            </a:r>
            <a:r>
              <a:rPr lang="en-US" sz="2000" dirty="0"/>
              <a:t>in </a:t>
            </a:r>
            <a:r>
              <a:rPr lang="en-US" sz="2000" dirty="0" err="1"/>
              <a:t>devdoping</a:t>
            </a:r>
            <a:r>
              <a:rPr lang="en-US" sz="2000" dirty="0"/>
              <a:t> the project charter and</a:t>
            </a:r>
          </a:p>
          <a:p>
            <a:r>
              <a:rPr lang="en-US" sz="2000" dirty="0"/>
              <a:t>identifying </a:t>
            </a:r>
            <a:r>
              <a:rPr lang="en-US" sz="2000" dirty="0" smtClean="0"/>
              <a:t>stakeholders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30. </a:t>
            </a:r>
            <a:r>
              <a:rPr lang="en-US" sz="2000" dirty="0"/>
              <a:t>Develop project documents such as </a:t>
            </a:r>
            <a:r>
              <a:rPr lang="en-US" sz="2000" dirty="0" smtClean="0"/>
              <a:t>the </a:t>
            </a:r>
            <a:r>
              <a:rPr lang="en-US" sz="2000" dirty="0"/>
              <a:t>risk register, the </a:t>
            </a:r>
            <a:r>
              <a:rPr lang="en-US" sz="2000" dirty="0" smtClean="0"/>
              <a:t>stakeholder register and </a:t>
            </a:r>
            <a:r>
              <a:rPr lang="en-US" sz="2000" dirty="0"/>
              <a:t>the assumption log, </a:t>
            </a:r>
            <a:r>
              <a:rPr lang="en-US" sz="2000" dirty="0" err="1" smtClean="0"/>
              <a:t>includlng</a:t>
            </a:r>
            <a:r>
              <a:rPr lang="en-US" sz="2000" dirty="0" smtClean="0"/>
              <a:t> </a:t>
            </a:r>
            <a:r>
              <a:rPr lang="en-US" sz="2000" dirty="0"/>
              <a:t>data on identified risks and</a:t>
            </a:r>
          </a:p>
          <a:p>
            <a:r>
              <a:rPr lang="en-US" sz="2000" dirty="0"/>
              <a:t>stakeholders.</a:t>
            </a:r>
          </a:p>
          <a:p>
            <a:r>
              <a:rPr lang="en-US" sz="2000" dirty="0" smtClean="0"/>
              <a:t>31. </a:t>
            </a:r>
            <a:r>
              <a:rPr lang="en-US" sz="2000" dirty="0"/>
              <a:t>Use </a:t>
            </a:r>
            <a:r>
              <a:rPr lang="en-US" sz="2000" dirty="0" smtClean="0"/>
              <a:t>stakeholder </a:t>
            </a:r>
            <a:r>
              <a:rPr lang="en-US" sz="2000" dirty="0"/>
              <a:t>mapping to </a:t>
            </a:r>
            <a:r>
              <a:rPr lang="en-US" sz="2000" dirty="0" smtClean="0"/>
              <a:t>analyze  </a:t>
            </a:r>
            <a:r>
              <a:rPr lang="en-US" sz="2000" dirty="0"/>
              <a:t>data on </a:t>
            </a:r>
            <a:r>
              <a:rPr lang="en-US" sz="2000" dirty="0" smtClean="0"/>
              <a:t>identified stakeholders </a:t>
            </a:r>
            <a:r>
              <a:rPr lang="en-US" sz="2000" dirty="0"/>
              <a:t>to</a:t>
            </a:r>
          </a:p>
          <a:p>
            <a:r>
              <a:rPr lang="en-US" sz="2000" dirty="0" smtClean="0"/>
              <a:t>understand </a:t>
            </a:r>
            <a:r>
              <a:rPr lang="en-US" sz="2000" dirty="0"/>
              <a:t>their </a:t>
            </a:r>
            <a:r>
              <a:rPr lang="en-US" sz="2000" dirty="0" smtClean="0"/>
              <a:t>power, </a:t>
            </a:r>
            <a:r>
              <a:rPr lang="en-US" sz="2000" dirty="0"/>
              <a:t>interest, and influence.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2900" y="694035"/>
            <a:ext cx="104335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For each item listed, simply </a:t>
            </a:r>
            <a:r>
              <a:rPr lang="en-US" b="1" dirty="0" err="1"/>
              <a:t>detemtine</a:t>
            </a:r>
            <a:r>
              <a:rPr lang="en-US" b="1" dirty="0"/>
              <a:t> if it is done in initiating:, planning, executing, monitoring and controlling or closing.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3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995</TotalTime>
  <Words>797</Words>
  <Application>Microsoft Office PowerPoint</Application>
  <PresentationFormat>Custom</PresentationFormat>
  <Paragraphs>131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Wisp</vt:lpstr>
      <vt:lpstr>        Engr. A. S. Oluwajembola  </vt:lpstr>
      <vt:lpstr>Starting a project</vt:lpstr>
      <vt:lpstr>What is project Charter?</vt:lpstr>
      <vt:lpstr>Purposes of project Charter</vt:lpstr>
      <vt:lpstr>Key elements of a project charter</vt:lpstr>
      <vt:lpstr>Key elements of a project charter</vt:lpstr>
      <vt:lpstr>Key elements of a project charter</vt:lpstr>
      <vt:lpstr>Key elements of a project charter</vt:lpstr>
      <vt:lpstr>Key elements of a project charter</vt:lpstr>
      <vt:lpstr>QUIZ</vt:lpstr>
      <vt:lpstr>For each item listed, simply detemtine if it is done in initiating:, planning, executing, monitoring and controlling or closing.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FUNDAMENTALS  AUL-DHS 413</dc:title>
  <dc:creator>Microsoft account</dc:creator>
  <cp:lastModifiedBy>JUDORA INTEGRATED SERVICES LIMITED</cp:lastModifiedBy>
  <cp:revision>32</cp:revision>
  <dcterms:created xsi:type="dcterms:W3CDTF">2025-02-16T21:33:47Z</dcterms:created>
  <dcterms:modified xsi:type="dcterms:W3CDTF">2025-12-09T16:42:09Z</dcterms:modified>
</cp:coreProperties>
</file>