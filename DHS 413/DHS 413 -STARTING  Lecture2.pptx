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54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142" y="4394200"/>
            <a:ext cx="9394258" cy="110716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>Engr. A. S. </a:t>
            </a:r>
            <a:r>
              <a:rPr lang="en-GB" sz="2400" b="1" dirty="0" err="1" smtClean="0"/>
              <a:t>Oluwajembola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8462" y="724181"/>
            <a:ext cx="8934938" cy="270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400" b="1" dirty="0" smtClean="0"/>
              <a:t>STARTING </a:t>
            </a:r>
            <a:r>
              <a:rPr lang="en-GB" sz="3400" b="1" dirty="0"/>
              <a:t>THE </a:t>
            </a:r>
            <a:r>
              <a:rPr lang="en-GB" sz="3400" b="1" dirty="0" smtClean="0"/>
              <a:t>PROJECT II</a:t>
            </a: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2800" b="1" dirty="0" smtClean="0"/>
              <a:t>AUL-DHS 413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588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11" y="103410"/>
            <a:ext cx="9768802" cy="1280890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/>
              <a:t>Stakeholders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46200" y="939800"/>
            <a:ext cx="10718800" cy="5816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A </a:t>
            </a:r>
            <a:r>
              <a:rPr lang="en-US" b="1" dirty="0"/>
              <a:t>project stakeholder is an individual, group, or organization that may affect, be affected by, or perceive itself to be affected by a decision, activity, or outcome of a project.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 </a:t>
            </a:r>
            <a:r>
              <a:rPr lang="en-US" b="1" dirty="0"/>
              <a:t>Stakeholder Register is created to document key stakeholders, their interests, and influence on the project. Stakeholder analysis helps determine engagement strategies. 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r>
              <a:rPr lang="en-US" b="1" dirty="0"/>
              <a:t>2.1 Key Project Stakeholder’s Roles And Responsibilities.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following are key Project stakeholders and their responsibilities.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1. </a:t>
            </a:r>
            <a:r>
              <a:rPr lang="en-US" b="1" dirty="0"/>
              <a:t>Project Sponsor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Role:</a:t>
            </a:r>
            <a:r>
              <a:rPr lang="en-US" dirty="0"/>
              <a:t> Provides </a:t>
            </a:r>
            <a:r>
              <a:rPr lang="en-US" b="1" dirty="0"/>
              <a:t>financial support</a:t>
            </a:r>
            <a:r>
              <a:rPr lang="en-US" dirty="0"/>
              <a:t> and overall project direction.</a:t>
            </a:r>
          </a:p>
          <a:p>
            <a:r>
              <a:rPr lang="en-US" b="1" dirty="0"/>
              <a:t>Responsibilities: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Authorizes the </a:t>
            </a:r>
            <a:r>
              <a:rPr lang="en-US" b="1" dirty="0"/>
              <a:t>Project Charter</a:t>
            </a:r>
            <a:r>
              <a:rPr lang="en-US" dirty="0"/>
              <a:t> and approves major decisions.</a:t>
            </a:r>
          </a:p>
          <a:p>
            <a:pPr marL="0" lvl="0" indent="0">
              <a:buNone/>
            </a:pPr>
            <a:r>
              <a:rPr lang="en-US" dirty="0"/>
              <a:t>Secures </a:t>
            </a:r>
            <a:r>
              <a:rPr lang="en-US" b="1" dirty="0"/>
              <a:t>funding</a:t>
            </a:r>
            <a:r>
              <a:rPr lang="en-US" dirty="0"/>
              <a:t> and resources for the project.</a:t>
            </a:r>
          </a:p>
          <a:p>
            <a:pPr marL="0" lvl="0" indent="0">
              <a:buNone/>
            </a:pPr>
            <a:r>
              <a:rPr lang="en-US" dirty="0"/>
              <a:t>Champions the project at the executive level.</a:t>
            </a:r>
          </a:p>
          <a:p>
            <a:pPr marL="0" lvl="0" indent="0">
              <a:buNone/>
            </a:pPr>
            <a:r>
              <a:rPr lang="en-US" dirty="0"/>
              <a:t>Resolves high-level issues and removes obstacles.</a:t>
            </a:r>
          </a:p>
          <a:p>
            <a:pPr marL="0" indent="0">
              <a:buNone/>
            </a:pPr>
            <a:r>
              <a:rPr lang="en-US" dirty="0"/>
              <a:t>Ensures the project aligns with </a:t>
            </a:r>
            <a:r>
              <a:rPr lang="en-US" b="1" dirty="0"/>
              <a:t>business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4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199" y="152400"/>
            <a:ext cx="10591801" cy="6705600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buNone/>
            </a:pPr>
            <a:r>
              <a:rPr lang="en-US" sz="6400" b="1" dirty="0" smtClean="0"/>
              <a:t>Project </a:t>
            </a:r>
            <a:r>
              <a:rPr lang="en-US" sz="6400" b="1" dirty="0"/>
              <a:t>Manager</a:t>
            </a:r>
          </a:p>
          <a:p>
            <a:pPr marL="0" indent="0" algn="just">
              <a:buNone/>
            </a:pPr>
            <a:r>
              <a:rPr lang="en-US" sz="6400" dirty="0"/>
              <a:t>Role: Responsible for planning, execution, monitoring, and closing of the project.</a:t>
            </a:r>
          </a:p>
          <a:p>
            <a:pPr marL="0" indent="0" algn="just">
              <a:buNone/>
            </a:pPr>
            <a:r>
              <a:rPr lang="en-US" sz="6400" dirty="0"/>
              <a:t>Responsibilities:</a:t>
            </a:r>
          </a:p>
          <a:p>
            <a:pPr marL="0" indent="0" algn="just">
              <a:buNone/>
            </a:pPr>
            <a:r>
              <a:rPr lang="en-US" sz="6400" dirty="0"/>
              <a:t>•	Develops the Project Management Plan and manages execution.</a:t>
            </a:r>
          </a:p>
          <a:p>
            <a:pPr marL="0" indent="0" algn="just">
              <a:buNone/>
            </a:pPr>
            <a:r>
              <a:rPr lang="en-US" sz="6400" dirty="0"/>
              <a:t>•	Oversees scope, schedule, cost, quality, risk, and stakeholder engagement.</a:t>
            </a:r>
          </a:p>
          <a:p>
            <a:pPr marL="0" indent="0" algn="just">
              <a:buNone/>
            </a:pPr>
            <a:r>
              <a:rPr lang="en-US" sz="6400" dirty="0"/>
              <a:t>•	Communicates with stakeholders and manages expectations.</a:t>
            </a:r>
          </a:p>
          <a:p>
            <a:pPr marL="0" indent="0" algn="just">
              <a:buNone/>
            </a:pPr>
            <a:r>
              <a:rPr lang="en-US" sz="6400" dirty="0"/>
              <a:t>•	Leads and motivates the project team.</a:t>
            </a:r>
          </a:p>
          <a:p>
            <a:pPr marL="0" indent="0" algn="just">
              <a:buNone/>
            </a:pPr>
            <a:r>
              <a:rPr lang="en-US" sz="6400" dirty="0"/>
              <a:t>•	Reports project performance to the sponsor and stakeholders.</a:t>
            </a:r>
          </a:p>
          <a:p>
            <a:pPr marL="0" indent="0" algn="just">
              <a:buNone/>
            </a:pPr>
            <a:endParaRPr lang="en-US" sz="6400" dirty="0"/>
          </a:p>
          <a:p>
            <a:pPr marL="0" indent="0" algn="just">
              <a:buNone/>
            </a:pPr>
            <a:r>
              <a:rPr lang="en-US" sz="6400" dirty="0" smtClean="0"/>
              <a:t> </a:t>
            </a:r>
            <a:r>
              <a:rPr lang="en-US" sz="6400" b="1" dirty="0"/>
              <a:t>Project Team Members</a:t>
            </a:r>
          </a:p>
          <a:p>
            <a:pPr marL="0" indent="0" algn="just">
              <a:buNone/>
            </a:pPr>
            <a:r>
              <a:rPr lang="en-US" sz="6400" dirty="0"/>
              <a:t>Role: Perform project work as per their assigned responsibilities.</a:t>
            </a:r>
          </a:p>
          <a:p>
            <a:pPr marL="0" indent="0" algn="just">
              <a:buNone/>
            </a:pPr>
            <a:r>
              <a:rPr lang="en-US" sz="6400" dirty="0"/>
              <a:t>Responsibilities:</a:t>
            </a:r>
          </a:p>
          <a:p>
            <a:pPr marL="0" indent="0" algn="just">
              <a:buNone/>
            </a:pPr>
            <a:r>
              <a:rPr lang="en-US" sz="6400" dirty="0"/>
              <a:t>•	Execute tasks as defined in the Project Plan.</a:t>
            </a:r>
          </a:p>
          <a:p>
            <a:pPr marL="0" indent="0" algn="just">
              <a:buNone/>
            </a:pPr>
            <a:r>
              <a:rPr lang="en-US" sz="6400" dirty="0"/>
              <a:t>•	Provide expertise in their functional areas.</a:t>
            </a:r>
          </a:p>
          <a:p>
            <a:pPr marL="0" indent="0" algn="just">
              <a:buNone/>
            </a:pPr>
            <a:r>
              <a:rPr lang="en-US" sz="6400" dirty="0"/>
              <a:t>•	Collaborate with other team members and stakeholders.</a:t>
            </a:r>
          </a:p>
          <a:p>
            <a:pPr marL="0" indent="0" algn="just">
              <a:buNone/>
            </a:pPr>
            <a:r>
              <a:rPr lang="en-US" sz="6400" dirty="0"/>
              <a:t>•	Identify and escalate issues when necessary.</a:t>
            </a:r>
          </a:p>
          <a:p>
            <a:pPr marL="0" indent="0" algn="just">
              <a:buNone/>
            </a:pPr>
            <a:r>
              <a:rPr lang="en-US" sz="6400" dirty="0"/>
              <a:t>•	Document and report progress on deliverables.</a:t>
            </a:r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84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90500"/>
            <a:ext cx="10883899" cy="629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/>
              <a:t>4. Functional Managers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Role:</a:t>
            </a:r>
            <a:r>
              <a:rPr lang="en-US" sz="3200" dirty="0"/>
              <a:t> Oversee specific departments and allocate resources.</a:t>
            </a:r>
          </a:p>
          <a:p>
            <a:pPr marL="0" indent="0">
              <a:buNone/>
            </a:pPr>
            <a:r>
              <a:rPr lang="en-US" sz="3200" b="1" dirty="0" smtClean="0"/>
              <a:t>Responsibilities</a:t>
            </a:r>
            <a:r>
              <a:rPr lang="en-US" sz="3200" b="1" dirty="0"/>
              <a:t>: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Provide </a:t>
            </a:r>
            <a:r>
              <a:rPr lang="en-US" sz="3200" b="1" dirty="0"/>
              <a:t>subject matter experts (SMEs)</a:t>
            </a:r>
            <a:r>
              <a:rPr lang="en-US" sz="3200" dirty="0"/>
              <a:t> and technical guidance.</a:t>
            </a:r>
          </a:p>
          <a:p>
            <a:pPr marL="0" lvl="0" indent="0">
              <a:buNone/>
            </a:pPr>
            <a:r>
              <a:rPr lang="en-US" sz="3200" dirty="0"/>
              <a:t>Manage the workload of team members assigned to the project.</a:t>
            </a:r>
          </a:p>
          <a:p>
            <a:pPr marL="0" lvl="0" indent="0">
              <a:buNone/>
            </a:pPr>
            <a:r>
              <a:rPr lang="en-US" sz="3200" dirty="0"/>
              <a:t>Ensure resources are available as per project needs.</a:t>
            </a:r>
          </a:p>
          <a:p>
            <a:pPr marL="0" lvl="0" indent="0">
              <a:buNone/>
            </a:pPr>
            <a:r>
              <a:rPr lang="en-US" sz="3200" dirty="0"/>
              <a:t>Approve work schedules and priorities.</a:t>
            </a:r>
          </a:p>
          <a:p>
            <a:pPr marL="0" lvl="0" indent="0">
              <a:buNone/>
            </a:pPr>
            <a:r>
              <a:rPr lang="en-US" sz="3200" dirty="0"/>
              <a:t>Support the project manager in resolving resource conflicts.</a:t>
            </a:r>
          </a:p>
          <a:p>
            <a:pPr marL="0" indent="0">
              <a:buNone/>
            </a:pPr>
            <a:r>
              <a:rPr lang="en-US" sz="3200" dirty="0"/>
              <a:t> </a:t>
            </a:r>
          </a:p>
          <a:p>
            <a:pPr marL="0" indent="0">
              <a:buNone/>
            </a:pPr>
            <a:r>
              <a:rPr lang="en-US" sz="3200" b="1" dirty="0"/>
              <a:t>5. Customers/Clients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Role:</a:t>
            </a:r>
            <a:r>
              <a:rPr lang="en-US" sz="3200" dirty="0"/>
              <a:t> End users or buyers of the project’s product, service, or outcome.</a:t>
            </a:r>
          </a:p>
          <a:p>
            <a:pPr marL="0" indent="0">
              <a:buNone/>
            </a:pPr>
            <a:r>
              <a:rPr lang="en-US" sz="3200" b="1" dirty="0"/>
              <a:t>Responsibilities: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Define and communicate project </a:t>
            </a:r>
            <a:r>
              <a:rPr lang="en-US" sz="3200" b="1" dirty="0"/>
              <a:t>requirements</a:t>
            </a:r>
            <a:r>
              <a:rPr lang="en-US" sz="3200" dirty="0"/>
              <a:t>.</a:t>
            </a:r>
          </a:p>
          <a:p>
            <a:pPr marL="0" lvl="0" indent="0">
              <a:buNone/>
            </a:pPr>
            <a:r>
              <a:rPr lang="en-US" sz="3200" dirty="0"/>
              <a:t>Provide feedback on </a:t>
            </a:r>
            <a:r>
              <a:rPr lang="en-US" sz="3200" b="1" dirty="0"/>
              <a:t>deliverables</a:t>
            </a:r>
            <a:r>
              <a:rPr lang="en-US" sz="3200" dirty="0"/>
              <a:t> and participate in reviews.</a:t>
            </a:r>
          </a:p>
          <a:p>
            <a:pPr marL="0" lvl="0" indent="0">
              <a:buNone/>
            </a:pPr>
            <a:r>
              <a:rPr lang="en-US" sz="3200" dirty="0"/>
              <a:t>Approve project milestones and final outcomes.</a:t>
            </a:r>
          </a:p>
          <a:p>
            <a:pPr marL="0" indent="0">
              <a:buNone/>
            </a:pPr>
            <a:r>
              <a:rPr lang="en-US" sz="3200" dirty="0"/>
              <a:t>Use the delivered product or service after project completion</a:t>
            </a:r>
          </a:p>
        </p:txBody>
      </p:sp>
    </p:spTree>
    <p:extLst>
      <p:ext uri="{BB962C8B-B14F-4D97-AF65-F5344CB8AC3E}">
        <p14:creationId xmlns:p14="http://schemas.microsoft.com/office/powerpoint/2010/main" val="140746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1639" y="406400"/>
            <a:ext cx="10737361" cy="5918200"/>
          </a:xfrm>
        </p:spPr>
        <p:txBody>
          <a:bodyPr>
            <a:normAutofit fontScale="62500" lnSpcReduction="20000"/>
          </a:bodyPr>
          <a:lstStyle/>
          <a:p>
            <a:r>
              <a:rPr lang="en-US" sz="3200" b="1" dirty="0"/>
              <a:t>6. Stakeholder Groups (External &amp; Internal)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Role:</a:t>
            </a:r>
            <a:r>
              <a:rPr lang="en-US" sz="3200" dirty="0"/>
              <a:t> Individuals or organizations affected by the project but not directly involved in execution.</a:t>
            </a:r>
          </a:p>
          <a:p>
            <a:pPr marL="0" indent="0">
              <a:buNone/>
            </a:pPr>
            <a:r>
              <a:rPr lang="en-US" sz="3200" b="1" dirty="0"/>
              <a:t>Responsibilities: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Influence project requirements and outcomes.</a:t>
            </a:r>
          </a:p>
          <a:p>
            <a:pPr marL="0" lvl="0" indent="0">
              <a:buNone/>
            </a:pPr>
            <a:r>
              <a:rPr lang="en-US" sz="3200" dirty="0"/>
              <a:t>Provide feedback and input during key project phases.</a:t>
            </a:r>
          </a:p>
          <a:p>
            <a:pPr marL="0" lvl="0" indent="0">
              <a:buNone/>
            </a:pPr>
            <a:r>
              <a:rPr lang="en-US" sz="3200" dirty="0"/>
              <a:t>Support or oppose the project based on their interests.</a:t>
            </a:r>
          </a:p>
          <a:p>
            <a:pPr marL="0" lvl="0" indent="0">
              <a:buNone/>
            </a:pPr>
            <a:r>
              <a:rPr lang="en-US" sz="3200" dirty="0"/>
              <a:t>Ensure project aligns with </a:t>
            </a:r>
            <a:r>
              <a:rPr lang="en-US" sz="3200" b="1" dirty="0"/>
              <a:t>organizational policies</a:t>
            </a:r>
            <a:r>
              <a:rPr lang="en-US" sz="3200" dirty="0"/>
              <a:t> and regulations.</a:t>
            </a:r>
          </a:p>
          <a:p>
            <a:pPr marL="0" indent="0">
              <a:buNone/>
            </a:pPr>
            <a:r>
              <a:rPr lang="en-US" sz="3200" dirty="0"/>
              <a:t> </a:t>
            </a:r>
          </a:p>
          <a:p>
            <a:pPr marL="0" indent="0">
              <a:buNone/>
            </a:pPr>
            <a:r>
              <a:rPr lang="en-US" sz="3200" b="1" dirty="0"/>
              <a:t>7. Steering Committee / Governance Board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Role:</a:t>
            </a:r>
            <a:r>
              <a:rPr lang="en-US" sz="3200" dirty="0"/>
              <a:t> Provides strategic oversight and ensures project alignment with business goals.</a:t>
            </a:r>
          </a:p>
          <a:p>
            <a:pPr marL="0" indent="0">
              <a:buNone/>
            </a:pPr>
            <a:r>
              <a:rPr lang="en-US" sz="3200" b="1" dirty="0"/>
              <a:t>Responsibilities: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Sets </a:t>
            </a:r>
            <a:r>
              <a:rPr lang="en-US" sz="3200" b="1" dirty="0"/>
              <a:t>strategic direction</a:t>
            </a:r>
            <a:r>
              <a:rPr lang="en-US" sz="3200" dirty="0"/>
              <a:t> and priorities for the project.</a:t>
            </a:r>
          </a:p>
          <a:p>
            <a:pPr marL="0" lvl="0" indent="0">
              <a:buNone/>
            </a:pPr>
            <a:r>
              <a:rPr lang="en-US" sz="3200" dirty="0"/>
              <a:t>Approves major project changes or deviations.</a:t>
            </a:r>
          </a:p>
          <a:p>
            <a:pPr marL="0" lvl="0" indent="0">
              <a:buNone/>
            </a:pPr>
            <a:r>
              <a:rPr lang="en-US" sz="3200" dirty="0"/>
              <a:t>Reviews project performance and ensures compliance with standards.</a:t>
            </a:r>
          </a:p>
          <a:p>
            <a:pPr marL="0" lvl="0" indent="0">
              <a:buNone/>
            </a:pPr>
            <a:r>
              <a:rPr lang="en-US" sz="3200" dirty="0"/>
              <a:t>Provides executive-level </a:t>
            </a:r>
            <a:r>
              <a:rPr lang="en-US" sz="3200" b="1" dirty="0"/>
              <a:t>risk management</a:t>
            </a:r>
            <a:r>
              <a:rPr lang="en-US" sz="3200" dirty="0"/>
              <a:t> support.</a:t>
            </a:r>
          </a:p>
          <a:p>
            <a:pPr algn="just"/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5181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0" y="406401"/>
            <a:ext cx="10502900" cy="578338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200" b="1" dirty="0"/>
              <a:t>2.3 The Concept Of Authority, Responsibility, And Decision Making </a:t>
            </a:r>
            <a:endParaRPr lang="en-US" sz="3200" b="1" dirty="0" smtClean="0"/>
          </a:p>
          <a:p>
            <a:pPr algn="just"/>
            <a:endParaRPr lang="en-US" sz="3200" dirty="0" smtClean="0"/>
          </a:p>
          <a:p>
            <a:pPr marL="0" indent="0" algn="just">
              <a:buNone/>
            </a:pPr>
            <a:r>
              <a:rPr lang="en-US" sz="3200" b="1" dirty="0" smtClean="0"/>
              <a:t>1</a:t>
            </a:r>
            <a:r>
              <a:rPr lang="en-US" sz="3200" b="1" dirty="0"/>
              <a:t>. Authority</a:t>
            </a:r>
          </a:p>
          <a:p>
            <a:pPr marL="0" indent="0" algn="just">
              <a:buNone/>
            </a:pPr>
            <a:r>
              <a:rPr lang="en-US" sz="3200" dirty="0" smtClean="0"/>
              <a:t>Definition:</a:t>
            </a:r>
            <a:endParaRPr lang="en-US" sz="3200" dirty="0"/>
          </a:p>
          <a:p>
            <a:pPr marL="0" indent="0" algn="just">
              <a:buNone/>
            </a:pPr>
            <a:r>
              <a:rPr lang="en-US" sz="3200" dirty="0"/>
              <a:t>Authority is the right to apply project resources, make decisions, and give approvals.</a:t>
            </a:r>
          </a:p>
          <a:p>
            <a:pPr marL="0" indent="0" algn="just">
              <a:buNone/>
            </a:pPr>
            <a:r>
              <a:rPr lang="en-US" sz="3200" dirty="0"/>
              <a:t>Explanation:</a:t>
            </a:r>
          </a:p>
          <a:p>
            <a:pPr marL="0" indent="0" algn="just">
              <a:buNone/>
            </a:pPr>
            <a:r>
              <a:rPr lang="en-US" sz="3200" dirty="0"/>
              <a:t>•	It's typically granted by organizational structures (like a project charter or management).</a:t>
            </a:r>
          </a:p>
          <a:p>
            <a:pPr marL="0" indent="0" algn="just">
              <a:buNone/>
            </a:pPr>
            <a:r>
              <a:rPr lang="en-US" sz="3200" dirty="0"/>
              <a:t>•	A project manager's level of authority can vary depending on the organizational environment (functional, matrix, or </a:t>
            </a:r>
            <a:r>
              <a:rPr lang="en-US" sz="3200" dirty="0" err="1"/>
              <a:t>projectized</a:t>
            </a:r>
            <a:r>
              <a:rPr lang="en-US" sz="3200" dirty="0"/>
              <a:t> structure).</a:t>
            </a:r>
          </a:p>
          <a:p>
            <a:pPr marL="0" indent="0" algn="just">
              <a:buNone/>
            </a:pPr>
            <a:r>
              <a:rPr lang="en-US" sz="3200" dirty="0"/>
              <a:t>•	Authority enables the project manager to:</a:t>
            </a:r>
          </a:p>
          <a:p>
            <a:pPr marL="0" indent="0" algn="just">
              <a:buNone/>
            </a:pPr>
            <a:r>
              <a:rPr lang="en-US" sz="3200" dirty="0"/>
              <a:t>o	Allocate resources</a:t>
            </a:r>
          </a:p>
          <a:p>
            <a:pPr marL="0" indent="0" algn="just">
              <a:buNone/>
            </a:pPr>
            <a:r>
              <a:rPr lang="en-US" sz="3200" dirty="0"/>
              <a:t>o	Approve budgets</a:t>
            </a:r>
          </a:p>
          <a:p>
            <a:pPr marL="0" indent="0" algn="just">
              <a:buNone/>
            </a:pPr>
            <a:r>
              <a:rPr lang="en-US" sz="3200" dirty="0"/>
              <a:t>o	Make project-related decisions</a:t>
            </a:r>
          </a:p>
          <a:p>
            <a:pPr marL="0" indent="0" algn="just">
              <a:buNone/>
            </a:pPr>
            <a:r>
              <a:rPr lang="en-US" sz="3200" dirty="0"/>
              <a:t>o	Direct the team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346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304800"/>
            <a:ext cx="10439400" cy="5118100"/>
          </a:xfrm>
        </p:spPr>
        <p:txBody>
          <a:bodyPr>
            <a:normAutofit fontScale="77500" lnSpcReduction="20000"/>
          </a:bodyPr>
          <a:lstStyle/>
          <a:p>
            <a:r>
              <a:rPr lang="en-US" sz="3200" b="1" dirty="0"/>
              <a:t>2. Responsibility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 smtClean="0"/>
              <a:t>Definition: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i="1" dirty="0"/>
              <a:t>Responsibility</a:t>
            </a:r>
            <a:r>
              <a:rPr lang="en-US" sz="3200" dirty="0"/>
              <a:t> refers to the </a:t>
            </a:r>
            <a:r>
              <a:rPr lang="en-US" sz="3200" b="1" dirty="0"/>
              <a:t>obligation to complete assigned tasks and deliverables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Explanation: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Team members, stakeholders, and especially the project manager are expected to fulfill their roles and meet expectations.</a:t>
            </a:r>
          </a:p>
          <a:p>
            <a:pPr marL="0" lvl="0" indent="0">
              <a:buNone/>
            </a:pPr>
            <a:r>
              <a:rPr lang="en-US" sz="3200" dirty="0"/>
              <a:t>PMI emphasizes </a:t>
            </a:r>
            <a:r>
              <a:rPr lang="en-US" sz="3200" b="1" dirty="0"/>
              <a:t>RACI charts</a:t>
            </a:r>
            <a:r>
              <a:rPr lang="en-US" sz="3200" dirty="0"/>
              <a:t> (Responsible, Accountable, Consulted, Informed) as a tool to clearly define responsibilities in a project.</a:t>
            </a:r>
          </a:p>
          <a:p>
            <a:pPr marL="0" indent="0">
              <a:buNone/>
            </a:pPr>
            <a:r>
              <a:rPr lang="en-US" sz="3200" dirty="0"/>
              <a:t>Responsibility does not always come with authority—people may be responsible for tasks but need to report to someone with the authority to approve actions</a:t>
            </a:r>
          </a:p>
        </p:txBody>
      </p:sp>
    </p:spTree>
    <p:extLst>
      <p:ext uri="{BB962C8B-B14F-4D97-AF65-F5344CB8AC3E}">
        <p14:creationId xmlns:p14="http://schemas.microsoft.com/office/powerpoint/2010/main" val="318034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599" y="431800"/>
            <a:ext cx="10591801" cy="6083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</a:t>
            </a:r>
            <a:r>
              <a:rPr lang="en-US" sz="2000" b="1" dirty="0"/>
              <a:t>. Decision-Making</a:t>
            </a:r>
            <a:endParaRPr lang="en-US" sz="2000" dirty="0"/>
          </a:p>
          <a:p>
            <a:r>
              <a:rPr lang="en-US" sz="2000" b="1" dirty="0"/>
              <a:t>Definition </a:t>
            </a:r>
            <a:r>
              <a:rPr lang="en-US" sz="2000" b="1" dirty="0" smtClean="0"/>
              <a:t>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i="1" dirty="0"/>
              <a:t>Decision-making</a:t>
            </a:r>
            <a:r>
              <a:rPr lang="en-US" sz="2000" dirty="0"/>
              <a:t> is the process of </a:t>
            </a:r>
            <a:r>
              <a:rPr lang="en-US" sz="2000" b="1" dirty="0"/>
              <a:t>selecting a course of action from multiple alternatives</a:t>
            </a:r>
            <a:r>
              <a:rPr lang="en-US" sz="2000" dirty="0"/>
              <a:t> to move the project forward.</a:t>
            </a:r>
          </a:p>
          <a:p>
            <a:pPr marL="0" indent="0">
              <a:buNone/>
            </a:pPr>
            <a:r>
              <a:rPr lang="en-US" sz="2000" b="1" dirty="0"/>
              <a:t>Explanation: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Effective decision-making is crucial for balancing constraints (scope, time, cost, quality, etc.).</a:t>
            </a:r>
          </a:p>
          <a:p>
            <a:pPr marL="0" lvl="0" indent="0">
              <a:buNone/>
            </a:pPr>
            <a:r>
              <a:rPr lang="en-US" sz="2000" dirty="0"/>
              <a:t>PMI encourages </a:t>
            </a:r>
            <a:r>
              <a:rPr lang="en-US" sz="2000" b="1" dirty="0"/>
              <a:t>collaborative decision-making</a:t>
            </a:r>
            <a:r>
              <a:rPr lang="en-US" sz="2000" dirty="0"/>
              <a:t> where appropriate, involving team members and stakeholders.</a:t>
            </a:r>
          </a:p>
          <a:p>
            <a:pPr marL="0" lvl="0" indent="0">
              <a:buNone/>
            </a:pPr>
            <a:r>
              <a:rPr lang="en-US" sz="2000" dirty="0"/>
              <a:t>Decision-making can involve:</a:t>
            </a:r>
          </a:p>
          <a:p>
            <a:pPr lvl="1"/>
            <a:r>
              <a:rPr lang="en-US" sz="2000" dirty="0"/>
              <a:t>Risk responses</a:t>
            </a:r>
          </a:p>
          <a:p>
            <a:pPr lvl="1"/>
            <a:r>
              <a:rPr lang="en-US" sz="2000" dirty="0"/>
              <a:t>Resource allocation</a:t>
            </a:r>
          </a:p>
          <a:p>
            <a:pPr lvl="1"/>
            <a:r>
              <a:rPr lang="en-US" sz="2000" dirty="0"/>
              <a:t>Change control approvals</a:t>
            </a:r>
          </a:p>
          <a:p>
            <a:pPr marL="0" lvl="0" indent="0">
              <a:buNone/>
            </a:pPr>
            <a:r>
              <a:rPr lang="en-US" sz="2000" dirty="0"/>
              <a:t>Tools and techniques like </a:t>
            </a:r>
            <a:r>
              <a:rPr lang="en-US" sz="2000" b="1" dirty="0"/>
              <a:t>decision trees</a:t>
            </a:r>
            <a:r>
              <a:rPr lang="en-US" sz="2000" dirty="0"/>
              <a:t>, </a:t>
            </a:r>
            <a:r>
              <a:rPr lang="en-US" sz="2000" b="1" dirty="0"/>
              <a:t>multi-criteria decision analysis</a:t>
            </a:r>
            <a:r>
              <a:rPr lang="en-US" sz="2000" dirty="0"/>
              <a:t>, and </a:t>
            </a:r>
            <a:r>
              <a:rPr lang="en-US" sz="2000" b="1" dirty="0"/>
              <a:t>voting techniques</a:t>
            </a:r>
            <a:r>
              <a:rPr lang="en-US" sz="2000" dirty="0"/>
              <a:t> are often used.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632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282700"/>
            <a:ext cx="9948189" cy="5384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endParaRPr lang="en-US" sz="3200" dirty="0"/>
          </a:p>
          <a:p>
            <a:pPr algn="just"/>
            <a:endParaRPr lang="en-GB" sz="32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727200" y="1030238"/>
            <a:ext cx="9779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/>
              <a:t>Authority enables</a:t>
            </a:r>
            <a:r>
              <a:rPr lang="en-US" sz="3200" dirty="0"/>
              <a:t> a project manager or stakeholder to make decisions.</a:t>
            </a:r>
          </a:p>
          <a:p>
            <a:pPr lvl="0"/>
            <a:r>
              <a:rPr lang="en-US" sz="3200" b="1" dirty="0"/>
              <a:t>Responsibility ensures</a:t>
            </a:r>
            <a:r>
              <a:rPr lang="en-US" sz="3200" dirty="0"/>
              <a:t> that the individual is held accountable for carrying out those decisions and tasks.</a:t>
            </a:r>
          </a:p>
          <a:p>
            <a:pPr lvl="0"/>
            <a:r>
              <a:rPr lang="en-US" sz="3200" b="1" dirty="0"/>
              <a:t>Decision-making</a:t>
            </a:r>
            <a:r>
              <a:rPr lang="en-US" sz="3200" dirty="0"/>
              <a:t> is the </a:t>
            </a:r>
            <a:r>
              <a:rPr lang="en-US" sz="3200" b="1" dirty="0"/>
              <a:t>exercise of authority</a:t>
            </a:r>
            <a:r>
              <a:rPr lang="en-US" sz="3200" dirty="0"/>
              <a:t> and </a:t>
            </a:r>
            <a:r>
              <a:rPr lang="en-US" sz="3200" b="1" dirty="0"/>
              <a:t>fulfillment of responsibility</a:t>
            </a:r>
            <a:r>
              <a:rPr lang="en-US" sz="3200" dirty="0"/>
              <a:t> to guide the project toward success.</a:t>
            </a:r>
          </a:p>
        </p:txBody>
      </p:sp>
    </p:spTree>
    <p:extLst>
      <p:ext uri="{BB962C8B-B14F-4D97-AF65-F5344CB8AC3E}">
        <p14:creationId xmlns:p14="http://schemas.microsoft.com/office/powerpoint/2010/main" val="234936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611" y="2732310"/>
            <a:ext cx="9768802" cy="894724"/>
          </a:xfrm>
        </p:spPr>
        <p:txBody>
          <a:bodyPr>
            <a:noAutofit/>
          </a:bodyPr>
          <a:lstStyle/>
          <a:p>
            <a:pPr marL="0" indent="0" algn="ctr"/>
            <a:r>
              <a:rPr lang="en-US" sz="4400" b="1" dirty="0" smtClean="0"/>
              <a:t>QUIZ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7925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1158</TotalTime>
  <Words>302</Words>
  <Application>Microsoft Office PowerPoint</Application>
  <PresentationFormat>Custom</PresentationFormat>
  <Paragraphs>99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        Engr. A. S. Oluwajembola  </vt:lpstr>
      <vt:lpstr> Stakeholders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FUNDAMENTALS  AUL-DHS 413</dc:title>
  <dc:creator>Microsoft account</dc:creator>
  <cp:lastModifiedBy>JUDORA INTEGRATED SERVICES LIMITED</cp:lastModifiedBy>
  <cp:revision>42</cp:revision>
  <dcterms:created xsi:type="dcterms:W3CDTF">2025-02-16T21:33:47Z</dcterms:created>
  <dcterms:modified xsi:type="dcterms:W3CDTF">2025-12-16T15:26:57Z</dcterms:modified>
</cp:coreProperties>
</file>