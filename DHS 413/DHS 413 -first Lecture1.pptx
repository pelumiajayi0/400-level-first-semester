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6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30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6292" y="3427763"/>
            <a:ext cx="9394258" cy="1378029"/>
          </a:xfrm>
        </p:spPr>
        <p:txBody>
          <a:bodyPr>
            <a:normAutofit/>
          </a:bodyPr>
          <a:lstStyle/>
          <a:p>
            <a:pPr algn="ctr"/>
            <a:r>
              <a:rPr lang="en-GB" sz="2400" b="1" dirty="0" smtClean="0"/>
              <a:t>Engr. A. S. </a:t>
            </a:r>
            <a:r>
              <a:rPr lang="en-GB" sz="2400" b="1" dirty="0" err="1" smtClean="0"/>
              <a:t>Oluwajembola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06292" y="993183"/>
            <a:ext cx="9394259" cy="22627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400" b="1" dirty="0" smtClean="0"/>
              <a:t>PROJECT MANAGEMENT FUNDAMENTALS</a:t>
            </a: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2800" b="1" dirty="0" smtClean="0"/>
              <a:t>AUL-DHS 413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1588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1280890"/>
          </a:xfrm>
        </p:spPr>
        <p:txBody>
          <a:bodyPr/>
          <a:lstStyle/>
          <a:p>
            <a:r>
              <a:rPr lang="en-GB" b="1" dirty="0" smtClean="0"/>
              <a:t>Common Project Management Approaches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2133600"/>
            <a:ext cx="9768801" cy="37776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dirty="0" smtClean="0"/>
              <a:t>Here, we shall discuss the common project management approaches which comprise:</a:t>
            </a:r>
          </a:p>
          <a:p>
            <a:pPr algn="just"/>
            <a:r>
              <a:rPr lang="en-GB" sz="3200" dirty="0" smtClean="0"/>
              <a:t>Project Life Cycle</a:t>
            </a:r>
          </a:p>
          <a:p>
            <a:pPr algn="just"/>
            <a:r>
              <a:rPr lang="en-GB" sz="3200" dirty="0" smtClean="0"/>
              <a:t>Predictive Approach</a:t>
            </a:r>
          </a:p>
          <a:p>
            <a:pPr algn="just"/>
            <a:r>
              <a:rPr lang="en-GB" sz="3200" dirty="0" smtClean="0"/>
              <a:t>Adaptive Approach</a:t>
            </a:r>
          </a:p>
          <a:p>
            <a:pPr algn="just"/>
            <a:r>
              <a:rPr lang="en-GB" sz="3200" dirty="0" smtClean="0"/>
              <a:t>Hybrid Approach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4774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GB" b="1" dirty="0"/>
              <a:t>Project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3200" dirty="0" smtClean="0"/>
              <a:t>The project life cycle is the series of phases that a project passes through from its start to its completion. </a:t>
            </a:r>
          </a:p>
          <a:p>
            <a:pPr algn="just"/>
            <a:r>
              <a:rPr lang="en-GB" sz="3200" dirty="0" smtClean="0"/>
              <a:t>There are four phases of the project life cycle:</a:t>
            </a:r>
          </a:p>
          <a:p>
            <a:pPr marL="0" indent="0" algn="just">
              <a:buNone/>
            </a:pPr>
            <a:r>
              <a:rPr lang="en-GB" sz="3200" dirty="0"/>
              <a:t>	</a:t>
            </a:r>
            <a:r>
              <a:rPr lang="en-GB" sz="3200" dirty="0" err="1" smtClean="0"/>
              <a:t>i</a:t>
            </a:r>
            <a:r>
              <a:rPr lang="en-GB" sz="3200" dirty="0" smtClean="0"/>
              <a:t>. Starting the Project</a:t>
            </a:r>
          </a:p>
          <a:p>
            <a:pPr marL="0" indent="0" algn="just">
              <a:buNone/>
            </a:pPr>
            <a:r>
              <a:rPr lang="en-GB" sz="3200" dirty="0" smtClean="0"/>
              <a:t>	ii. Organising and Preparing</a:t>
            </a:r>
          </a:p>
          <a:p>
            <a:pPr marL="0" indent="0" algn="just">
              <a:buNone/>
            </a:pPr>
            <a:r>
              <a:rPr lang="en-GB" sz="3200" dirty="0"/>
              <a:t> </a:t>
            </a:r>
            <a:r>
              <a:rPr lang="en-GB" sz="3200" dirty="0" smtClean="0"/>
              <a:t>   iii. Carrying out the work</a:t>
            </a:r>
          </a:p>
          <a:p>
            <a:pPr marL="0" indent="0" algn="just">
              <a:buNone/>
            </a:pPr>
            <a:r>
              <a:rPr lang="en-GB" sz="3200" dirty="0"/>
              <a:t> </a:t>
            </a:r>
            <a:r>
              <a:rPr lang="en-GB" sz="3200" dirty="0" smtClean="0"/>
              <a:t>   iv. Ending the Project – see the figure below.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984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GB" b="1" dirty="0"/>
              <a:t>Project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algn="just"/>
            <a:r>
              <a:rPr lang="en-GB" sz="3200" dirty="0" smtClean="0"/>
              <a:t>.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811" y="1348353"/>
            <a:ext cx="9768801" cy="517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6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GB" b="1" dirty="0"/>
              <a:t>Project Life </a:t>
            </a:r>
            <a:r>
              <a:rPr lang="en-GB" b="1" dirty="0" smtClean="0"/>
              <a:t>Cycle –Starting The Project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3200" dirty="0" smtClean="0"/>
              <a:t>Initiate </a:t>
            </a:r>
            <a:r>
              <a:rPr lang="en-GB" sz="3200" dirty="0"/>
              <a:t>or </a:t>
            </a:r>
            <a:r>
              <a:rPr lang="en-GB" sz="3200" dirty="0" smtClean="0"/>
              <a:t>launch the product</a:t>
            </a:r>
          </a:p>
          <a:p>
            <a:pPr algn="just"/>
            <a:r>
              <a:rPr lang="en-GB" sz="3200" dirty="0" smtClean="0"/>
              <a:t>The project </a:t>
            </a:r>
            <a:r>
              <a:rPr lang="en-GB" sz="3200" dirty="0"/>
              <a:t>sponsor </a:t>
            </a:r>
            <a:r>
              <a:rPr lang="en-GB" sz="3200" dirty="0" smtClean="0"/>
              <a:t>creates the project charter</a:t>
            </a:r>
          </a:p>
          <a:p>
            <a:pPr lvl="1" algn="just"/>
            <a:r>
              <a:rPr lang="en-GB" sz="3000" dirty="0" smtClean="0"/>
              <a:t>Key Points About A project Sponsor</a:t>
            </a:r>
          </a:p>
          <a:p>
            <a:pPr lvl="2" algn="just"/>
            <a:r>
              <a:rPr lang="en-GB" sz="2800" dirty="0" smtClean="0"/>
              <a:t>Originator of the project idea</a:t>
            </a:r>
          </a:p>
          <a:p>
            <a:pPr lvl="2" algn="just"/>
            <a:r>
              <a:rPr lang="en-GB" sz="2800" dirty="0" smtClean="0"/>
              <a:t>Provides Equity Investment</a:t>
            </a:r>
          </a:p>
          <a:p>
            <a:pPr lvl="2" algn="just"/>
            <a:r>
              <a:rPr lang="en-GB" sz="2800" dirty="0" smtClean="0"/>
              <a:t>Critical Role in Securing Finance</a:t>
            </a:r>
          </a:p>
          <a:p>
            <a:pPr lvl="2" algn="just"/>
            <a:r>
              <a:rPr lang="en-GB" sz="2800" dirty="0" smtClean="0"/>
              <a:t>Risk Management Responsibility </a:t>
            </a:r>
          </a:p>
          <a:p>
            <a:pPr lvl="2" algn="just"/>
            <a:r>
              <a:rPr lang="en-GB" sz="2800" dirty="0" smtClean="0"/>
              <a:t>Ongoing Involvement</a:t>
            </a: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51814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GB" b="1" dirty="0"/>
              <a:t>Project Life </a:t>
            </a:r>
            <a:r>
              <a:rPr lang="en-GB" b="1" dirty="0" smtClean="0"/>
              <a:t>Cycle –Starting The Project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3200" dirty="0" smtClean="0"/>
              <a:t>The </a:t>
            </a:r>
            <a:r>
              <a:rPr lang="en-GB" sz="3200" dirty="0"/>
              <a:t>project charter defines what is to be done to meet the requirements of project customers</a:t>
            </a:r>
            <a:r>
              <a:rPr lang="en-GB" sz="3200" dirty="0" smtClean="0"/>
              <a:t>.</a:t>
            </a:r>
          </a:p>
          <a:p>
            <a:pPr algn="just"/>
            <a:r>
              <a:rPr lang="en-GB" sz="3200" dirty="0" smtClean="0"/>
              <a:t>The </a:t>
            </a:r>
            <a:r>
              <a:rPr lang="en-GB" sz="3200" dirty="0"/>
              <a:t>charter should be used to authorize work on the </a:t>
            </a:r>
            <a:r>
              <a:rPr lang="en-GB" sz="3200" dirty="0" smtClean="0"/>
              <a:t>project:  </a:t>
            </a:r>
          </a:p>
          <a:p>
            <a:pPr marL="0" indent="0" algn="just">
              <a:buNone/>
            </a:pPr>
            <a:r>
              <a:rPr lang="en-GB" sz="3200" dirty="0" smtClean="0"/>
              <a:t>	- define </a:t>
            </a:r>
            <a:r>
              <a:rPr lang="en-GB" sz="3200" dirty="0"/>
              <a:t>the authority, </a:t>
            </a:r>
            <a:endParaRPr lang="en-GB" sz="3200" dirty="0" smtClean="0"/>
          </a:p>
          <a:p>
            <a:pPr marL="0" indent="0" algn="just">
              <a:buNone/>
            </a:pPr>
            <a:r>
              <a:rPr lang="en-GB" sz="3200" dirty="0"/>
              <a:t>	</a:t>
            </a:r>
            <a:r>
              <a:rPr lang="en-GB" sz="3200" dirty="0" smtClean="0"/>
              <a:t>- responsibility</a:t>
            </a:r>
            <a:r>
              <a:rPr lang="en-GB" sz="3200" dirty="0"/>
              <a:t>, </a:t>
            </a:r>
            <a:r>
              <a:rPr lang="en-GB" sz="3200" dirty="0" smtClean="0"/>
              <a:t>and </a:t>
            </a:r>
          </a:p>
          <a:p>
            <a:pPr marL="0" indent="0" algn="just">
              <a:buNone/>
            </a:pPr>
            <a:r>
              <a:rPr lang="en-GB" sz="3200" dirty="0"/>
              <a:t>	</a:t>
            </a:r>
            <a:r>
              <a:rPr lang="en-GB" sz="3200" dirty="0" smtClean="0"/>
              <a:t>- accountability </a:t>
            </a:r>
            <a:r>
              <a:rPr lang="en-GB" sz="3200" dirty="0"/>
              <a:t>of the project team; and </a:t>
            </a:r>
            <a:r>
              <a:rPr lang="en-GB" sz="3200" dirty="0" smtClean="0"/>
              <a:t>	</a:t>
            </a:r>
          </a:p>
          <a:p>
            <a:pPr marL="0" indent="0" algn="just">
              <a:buNone/>
            </a:pPr>
            <a:r>
              <a:rPr lang="en-GB" sz="3200" dirty="0"/>
              <a:t>	</a:t>
            </a:r>
            <a:r>
              <a:rPr lang="en-GB" sz="3200" dirty="0" smtClean="0"/>
              <a:t>- establish </a:t>
            </a:r>
            <a:r>
              <a:rPr lang="en-GB" sz="3200" dirty="0"/>
              <a:t>scope boundaries for the job.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346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/>
              <a:t>Project Life </a:t>
            </a:r>
            <a:r>
              <a:rPr lang="en-GB" sz="3200" b="1" dirty="0" smtClean="0"/>
              <a:t>Cycle – </a:t>
            </a:r>
            <a:r>
              <a:rPr lang="en-GB" sz="3200" b="1" dirty="0"/>
              <a:t>Organising and </a:t>
            </a:r>
            <a:r>
              <a:rPr lang="en-GB" sz="3200" b="1" dirty="0" smtClean="0"/>
              <a:t>Preparing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dirty="0" smtClean="0"/>
              <a:t>This is the planning phase which involves:</a:t>
            </a:r>
          </a:p>
          <a:p>
            <a:pPr algn="just"/>
            <a:r>
              <a:rPr lang="en-GB" sz="3200" dirty="0" smtClean="0"/>
              <a:t>Identify scope</a:t>
            </a:r>
          </a:p>
          <a:p>
            <a:pPr algn="just"/>
            <a:r>
              <a:rPr lang="en-GB" sz="3200" dirty="0" smtClean="0"/>
              <a:t>Identify tasks, dependencies and schedules</a:t>
            </a:r>
          </a:p>
          <a:p>
            <a:pPr algn="just"/>
            <a:r>
              <a:rPr lang="en-GB" sz="3200" dirty="0" smtClean="0"/>
              <a:t>Plan resources</a:t>
            </a:r>
          </a:p>
          <a:p>
            <a:pPr algn="just"/>
            <a:r>
              <a:rPr lang="en-GB" sz="3200" dirty="0" smtClean="0"/>
              <a:t>Clarify trade-offs and decision making principle</a:t>
            </a:r>
          </a:p>
          <a:p>
            <a:pPr algn="just"/>
            <a:r>
              <a:rPr lang="en-GB" sz="3200" dirty="0" smtClean="0"/>
              <a:t>Develop a risk management plan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8034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/>
              <a:t>Project Life </a:t>
            </a:r>
            <a:r>
              <a:rPr lang="en-GB" sz="3200" b="1" dirty="0" smtClean="0"/>
              <a:t>Cycle – </a:t>
            </a:r>
            <a:r>
              <a:rPr lang="en-GB" sz="3200" b="1" dirty="0"/>
              <a:t>Carrying out the </a:t>
            </a:r>
            <a:r>
              <a:rPr lang="en-GB" sz="3200" b="1" dirty="0" smtClean="0"/>
              <a:t>work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dirty="0" smtClean="0"/>
              <a:t>This is the execution phase which also refers to implementing the project plan.</a:t>
            </a:r>
          </a:p>
          <a:p>
            <a:pPr algn="just"/>
            <a:r>
              <a:rPr lang="en-GB" sz="3200" dirty="0" smtClean="0"/>
              <a:t>Monitor progress</a:t>
            </a:r>
          </a:p>
          <a:p>
            <a:pPr algn="just"/>
            <a:r>
              <a:rPr lang="en-GB" sz="3200" dirty="0" smtClean="0"/>
              <a:t>Communicate and report</a:t>
            </a:r>
          </a:p>
          <a:p>
            <a:pPr algn="just"/>
            <a:r>
              <a:rPr lang="en-GB" sz="3200" dirty="0" smtClean="0"/>
              <a:t>Correct and control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1632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/>
              <a:t>Project Life </a:t>
            </a:r>
            <a:r>
              <a:rPr lang="en-GB" sz="3200" b="1" dirty="0" smtClean="0"/>
              <a:t>Cycle – </a:t>
            </a:r>
            <a:r>
              <a:rPr lang="en-GB" sz="3200" b="1" dirty="0"/>
              <a:t>Ending the Project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dirty="0" smtClean="0"/>
              <a:t>This is the closing phase of the project: </a:t>
            </a:r>
          </a:p>
          <a:p>
            <a:pPr algn="just"/>
            <a:r>
              <a:rPr lang="en-GB" sz="3200" dirty="0" smtClean="0"/>
              <a:t>Sign off</a:t>
            </a:r>
          </a:p>
          <a:p>
            <a:pPr algn="just"/>
            <a:r>
              <a:rPr lang="en-GB" sz="3200" dirty="0" smtClean="0"/>
              <a:t>Conduct a formal post-mortem</a:t>
            </a:r>
          </a:p>
          <a:p>
            <a:pPr marL="0" indent="0" algn="just">
              <a:buNone/>
            </a:pPr>
            <a:r>
              <a:rPr lang="en-GB" sz="3200" dirty="0"/>
              <a:t>A final lessons-learned review should be done before the project is considered complete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697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/>
              <a:t>Project Life </a:t>
            </a:r>
            <a:r>
              <a:rPr lang="en-GB" sz="3200" b="1" dirty="0" smtClean="0"/>
              <a:t>Cycle Phase by Phase Relationship 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dirty="0" smtClean="0"/>
              <a:t>.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810" y="1461960"/>
            <a:ext cx="9401627" cy="495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9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 smtClean="0"/>
              <a:t>Life Cycle Selection 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dirty="0" smtClean="0"/>
              <a:t>Project comes in several ways and there are diverse ways to handle them.</a:t>
            </a:r>
          </a:p>
          <a:p>
            <a:pPr marL="0" indent="0" algn="just">
              <a:buNone/>
            </a:pPr>
            <a:r>
              <a:rPr lang="en-US" sz="3200" dirty="0"/>
              <a:t> Project teams need awareness of the characteristics and </a:t>
            </a:r>
            <a:r>
              <a:rPr lang="en-US" sz="3200" dirty="0" smtClean="0"/>
              <a:t>options available </a:t>
            </a:r>
            <a:r>
              <a:rPr lang="en-US" sz="3200" dirty="0"/>
              <a:t>to select the approach most likely to be successful for the situation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6576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 smtClean="0"/>
              <a:t>Life Cycle Selection 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sz="3200" dirty="0" smtClean="0"/>
              <a:t>The PM practice guide refers to four types of life cycles:</a:t>
            </a:r>
          </a:p>
          <a:p>
            <a:pPr algn="just"/>
            <a:r>
              <a:rPr lang="en-GB" sz="3200" b="1" dirty="0" smtClean="0"/>
              <a:t>Predictive Life Cycle: </a:t>
            </a:r>
            <a:r>
              <a:rPr lang="en-GB" sz="3200" dirty="0" smtClean="0"/>
              <a:t>This is a </a:t>
            </a:r>
            <a:r>
              <a:rPr lang="en-US" sz="3200" dirty="0" smtClean="0"/>
              <a:t>more </a:t>
            </a:r>
            <a:r>
              <a:rPr lang="en-US" sz="3200" dirty="0"/>
              <a:t>traditional approach, with the </a:t>
            </a:r>
            <a:r>
              <a:rPr lang="en-US" sz="3200" dirty="0" smtClean="0"/>
              <a:t>bulk of </a:t>
            </a:r>
            <a:r>
              <a:rPr lang="en-US" sz="3200" dirty="0"/>
              <a:t>planning occurring upfront, then executing in a single pass</a:t>
            </a:r>
            <a:r>
              <a:rPr lang="en-US" sz="3200" dirty="0" smtClean="0"/>
              <a:t>; a </a:t>
            </a:r>
            <a:r>
              <a:rPr lang="en-US" sz="3200" dirty="0"/>
              <a:t>sequential process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b="1" dirty="0"/>
              <a:t>Iterative life </a:t>
            </a:r>
            <a:r>
              <a:rPr lang="en-US" sz="3200" b="1" dirty="0" smtClean="0"/>
              <a:t>cycle:</a:t>
            </a:r>
            <a:r>
              <a:rPr lang="en-US" sz="3200" dirty="0" smtClean="0"/>
              <a:t> </a:t>
            </a:r>
            <a:r>
              <a:rPr lang="en-US" sz="3200" dirty="0"/>
              <a:t>An approach that allows feedback for </a:t>
            </a:r>
            <a:r>
              <a:rPr lang="en-US" sz="3200" dirty="0" smtClean="0"/>
              <a:t>unfinished work </a:t>
            </a:r>
            <a:r>
              <a:rPr lang="en-US" sz="3200" dirty="0"/>
              <a:t>to improve and modify that work</a:t>
            </a: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53441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 smtClean="0"/>
              <a:t>Life Cycle Selection 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Incremental </a:t>
            </a:r>
            <a:r>
              <a:rPr lang="en-US" sz="3200" b="1" dirty="0"/>
              <a:t>life </a:t>
            </a:r>
            <a:r>
              <a:rPr lang="en-US" sz="3200" b="1" dirty="0" smtClean="0"/>
              <a:t>cycle: </a:t>
            </a:r>
            <a:r>
              <a:rPr lang="en-US" sz="3200" dirty="0"/>
              <a:t>An approach that provides </a:t>
            </a:r>
            <a:r>
              <a:rPr lang="en-US" sz="3200" dirty="0" smtClean="0"/>
              <a:t>finished deliverables </a:t>
            </a:r>
            <a:r>
              <a:rPr lang="en-US" sz="3200" dirty="0"/>
              <a:t>that the customer may be able to use immediately.</a:t>
            </a:r>
          </a:p>
          <a:p>
            <a:pPr algn="just"/>
            <a:r>
              <a:rPr lang="en-US" sz="3200" b="1" dirty="0" smtClean="0"/>
              <a:t>Agile </a:t>
            </a:r>
            <a:r>
              <a:rPr lang="en-US" sz="3200" b="1" dirty="0"/>
              <a:t>life cycle. </a:t>
            </a:r>
            <a:r>
              <a:rPr lang="en-US" sz="3200" dirty="0"/>
              <a:t>An approach that is both iterative and </a:t>
            </a:r>
            <a:r>
              <a:rPr lang="en-US" sz="3200" dirty="0" smtClean="0"/>
              <a:t>incremental to </a:t>
            </a:r>
            <a:r>
              <a:rPr lang="en-US" sz="3200" dirty="0"/>
              <a:t>refine work items and deliver frequently.</a:t>
            </a: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294617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b="1" dirty="0" smtClean="0"/>
              <a:t>Characteristics of Project Life Cycles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.</a:t>
            </a:r>
            <a:endParaRPr lang="en-GB" sz="32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810" y="1303068"/>
            <a:ext cx="9659698" cy="555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b="1" dirty="0" smtClean="0"/>
              <a:t>Characteristics of Predictive Life Cycles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S</a:t>
            </a:r>
            <a:r>
              <a:rPr lang="en-US" sz="3200" b="1" dirty="0" smtClean="0"/>
              <a:t>ee page 791/829</a:t>
            </a: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311671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GB" sz="3200" b="1" dirty="0"/>
              <a:t>Predictive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/>
          </a:bodyPr>
          <a:lstStyle/>
          <a:p>
            <a:pPr algn="just"/>
            <a:r>
              <a:rPr lang="en-GB" sz="3200" dirty="0" smtClean="0"/>
              <a:t>Sign off</a:t>
            </a:r>
          </a:p>
          <a:p>
            <a:pPr algn="just"/>
            <a:r>
              <a:rPr lang="en-GB" sz="3200" dirty="0" smtClean="0"/>
              <a:t>Conduct a formal post-mortem</a:t>
            </a:r>
          </a:p>
          <a:p>
            <a:pPr marL="0" indent="0" algn="just">
              <a:buNone/>
            </a:pPr>
            <a:r>
              <a:rPr lang="en-GB" sz="3200" dirty="0"/>
              <a:t>A final lessons-learned review should be done before the project is considered </a:t>
            </a:r>
            <a:r>
              <a:rPr lang="en-GB" sz="3200" dirty="0" smtClean="0"/>
              <a:t>complete.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937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354" y="0"/>
            <a:ext cx="10914184" cy="1280890"/>
          </a:xfrm>
        </p:spPr>
        <p:txBody>
          <a:bodyPr/>
          <a:lstStyle/>
          <a:p>
            <a:r>
              <a:rPr lang="en-US" b="1" dirty="0"/>
              <a:t>. </a:t>
            </a:r>
            <a:r>
              <a:rPr lang="en-US" sz="2400" b="1" dirty="0"/>
              <a:t>Comparison of Predictive, Adaptive, and Hybrid Project Approaches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446746"/>
              </p:ext>
            </p:extLst>
          </p:nvPr>
        </p:nvGraphicFramePr>
        <p:xfrm>
          <a:off x="0" y="1043353"/>
          <a:ext cx="12192000" cy="62167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/>
                <a:gridCol w="3048000"/>
                <a:gridCol w="3048000"/>
                <a:gridCol w="3048000"/>
              </a:tblGrid>
              <a:tr h="520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Approach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Description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Advantages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Disadvantages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</a:tr>
              <a:tr h="1667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Predictive (Waterfall)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Follows a structured, sequential process with predefined phases.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Clear scope, well-defined deliverables, and easier resource management.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Limited flexibility and difficulty in accommodating changes.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</a:tr>
              <a:tr h="18424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Adaptive (Agile)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Iterative and flexible, allowing for continuous improvements based on feedback.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High adaptability, faster delivery, and better stakeholder collaboration.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Requires strong team collaboration and may face scope creep.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</a:tr>
              <a:tr h="2186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Hybrid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Combines elements of predictive and adaptive approaches to balance structure and flexibility.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Allows for structured planning while incorporating adaptability.</a:t>
                      </a:r>
                      <a:endParaRPr lang="en-US" sz="200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Can be complex to manage and requires careful coordination.</a:t>
                      </a:r>
                      <a:endParaRPr lang="en-US" sz="20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63500" marR="63500" marT="63500" marB="635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8742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715</TotalTime>
  <Words>561</Words>
  <Application>Microsoft Office PowerPoint</Application>
  <PresentationFormat>Custom</PresentationFormat>
  <Paragraphs>87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Wisp</vt:lpstr>
      <vt:lpstr>Engr. A. S. Oluwajembola  </vt:lpstr>
      <vt:lpstr>Common Project Management Approaches</vt:lpstr>
      <vt:lpstr>Project Life Cycle</vt:lpstr>
      <vt:lpstr>Project Life Cycle</vt:lpstr>
      <vt:lpstr>Project Life Cycle –Starting The Project</vt:lpstr>
      <vt:lpstr>Project Life Cycle –Starting The Project</vt:lpstr>
      <vt:lpstr>Project Life Cycle – Organising and Preparing</vt:lpstr>
      <vt:lpstr>Project Life Cycle – Carrying out the work</vt:lpstr>
      <vt:lpstr>Project Life Cycle – Ending the Project </vt:lpstr>
      <vt:lpstr>Project Life Cycle Phase by Phase Relationship </vt:lpstr>
      <vt:lpstr>Life Cycle Selection </vt:lpstr>
      <vt:lpstr>Life Cycle Selection </vt:lpstr>
      <vt:lpstr>Life Cycle Selection </vt:lpstr>
      <vt:lpstr>Characteristics of Project Life Cycles</vt:lpstr>
      <vt:lpstr>Characteristics of Predictive Life Cycles</vt:lpstr>
      <vt:lpstr>Predictive Approach</vt:lpstr>
      <vt:lpstr>. Comparison of Predictive, Adaptive, and Hybrid Project Approaches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FUNDAMENTALS  AUL-DHS 413</dc:title>
  <dc:creator>Microsoft account</dc:creator>
  <cp:lastModifiedBy>JUDORA INTEGRATED SERVICES LIMITED</cp:lastModifiedBy>
  <cp:revision>16</cp:revision>
  <dcterms:created xsi:type="dcterms:W3CDTF">2025-02-16T21:33:47Z</dcterms:created>
  <dcterms:modified xsi:type="dcterms:W3CDTF">2025-11-10T14:27:59Z</dcterms:modified>
</cp:coreProperties>
</file>