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65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81" d="100"/>
          <a:sy n="81" d="100"/>
        </p:scale>
        <p:origin x="-300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6292" y="3427763"/>
            <a:ext cx="9394258" cy="1378029"/>
          </a:xfrm>
        </p:spPr>
        <p:txBody>
          <a:bodyPr>
            <a:normAutofit/>
          </a:bodyPr>
          <a:lstStyle/>
          <a:p>
            <a:pPr algn="ctr"/>
            <a:r>
              <a:rPr lang="en-GB" sz="2400" b="1" dirty="0" smtClean="0"/>
              <a:t>Engr. A. S. </a:t>
            </a:r>
            <a:r>
              <a:rPr lang="en-GB" sz="2400" b="1" dirty="0" err="1" smtClean="0"/>
              <a:t>Oluwajembola</a:t>
            </a:r>
            <a:br>
              <a:rPr lang="en-US" sz="2400" b="1" dirty="0"/>
            </a:br>
            <a:br>
              <a:rPr lang="en-US" sz="2400" b="1" dirty="0" smtClean="0"/>
            </a:br>
            <a:endParaRPr lang="en-US" sz="2400" b="1" dirty="0"/>
          </a:p>
        </p:txBody>
      </p:sp>
      <p:sp>
        <p:nvSpPr>
          <p:cNvPr id="4" name="Title 1"/>
          <p:cNvSpPr txBox="1"/>
          <p:nvPr/>
        </p:nvSpPr>
        <p:spPr>
          <a:xfrm>
            <a:off x="1906292" y="993183"/>
            <a:ext cx="9394259" cy="22627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GB" sz="3400" b="1" dirty="0" smtClean="0"/>
              <a:t>PROJECT MANAGEMENT FUNDAMENTALS</a:t>
            </a:r>
            <a:br>
              <a:rPr lang="en-GB" sz="3200" b="1" dirty="0" smtClean="0"/>
            </a:br>
            <a:br>
              <a:rPr lang="en-GB" sz="3200" b="1" dirty="0" smtClean="0"/>
            </a:br>
            <a:r>
              <a:rPr lang="en-GB" sz="2800" b="1" dirty="0" smtClean="0"/>
              <a:t>AUL-DHS 413</a:t>
            </a:r>
            <a:endParaRPr lang="en-US" sz="28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1280890"/>
          </a:xfrm>
        </p:spPr>
        <p:txBody>
          <a:bodyPr/>
          <a:lstStyle/>
          <a:p>
            <a:r>
              <a:rPr lang="en-GB" b="1" dirty="0" smtClean="0"/>
              <a:t>Common Project Management Approaches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2133600"/>
            <a:ext cx="9768801" cy="377762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3200" dirty="0" smtClean="0"/>
              <a:t>Here, we shall discuss the common project management approaches which comprise:</a:t>
            </a:r>
            <a:endParaRPr lang="en-GB" sz="3200" dirty="0" smtClean="0"/>
          </a:p>
          <a:p>
            <a:pPr algn="just"/>
            <a:r>
              <a:rPr lang="en-GB" sz="3200" dirty="0" smtClean="0"/>
              <a:t>Project Life Cycle</a:t>
            </a:r>
            <a:endParaRPr lang="en-GB" sz="3200" dirty="0" smtClean="0"/>
          </a:p>
          <a:p>
            <a:pPr algn="just"/>
            <a:r>
              <a:rPr lang="en-GB" sz="3200" dirty="0" smtClean="0"/>
              <a:t>Predictive Approach</a:t>
            </a:r>
            <a:endParaRPr lang="en-GB" sz="3200" dirty="0" smtClean="0"/>
          </a:p>
          <a:p>
            <a:pPr algn="just"/>
            <a:r>
              <a:rPr lang="en-GB" sz="3200" dirty="0" smtClean="0"/>
              <a:t>Adaptive Approach</a:t>
            </a:r>
            <a:endParaRPr lang="en-GB" sz="3200" dirty="0" smtClean="0"/>
          </a:p>
          <a:p>
            <a:pPr algn="just"/>
            <a:r>
              <a:rPr lang="en-GB" sz="3200" dirty="0" smtClean="0"/>
              <a:t>Hybrid Approach 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GB" b="1" dirty="0"/>
              <a:t>Project Life Cycle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sz="3200" dirty="0" smtClean="0"/>
              <a:t>The project life cycle</a:t>
            </a:r>
            <a:r>
              <a:rPr lang="en-GB" sz="3200" dirty="0" smtClean="0">
                <a:highlight>
                  <a:srgbClr val="FFFF00"/>
                </a:highlight>
              </a:rPr>
              <a:t> is the series of phases that a project passes through from its start to its completion</a:t>
            </a:r>
            <a:r>
              <a:rPr lang="en-GB" sz="3200" dirty="0" smtClean="0"/>
              <a:t>. </a:t>
            </a:r>
            <a:endParaRPr lang="en-GB" sz="3200" dirty="0" smtClean="0"/>
          </a:p>
          <a:p>
            <a:pPr algn="just"/>
            <a:r>
              <a:rPr lang="en-GB" sz="3200" dirty="0" smtClean="0"/>
              <a:t>There are four phases of the project life cycle: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	</a:t>
            </a:r>
            <a:r>
              <a:rPr lang="en-GB" sz="3200" dirty="0" err="1" smtClean="0"/>
              <a:t>i</a:t>
            </a:r>
            <a:r>
              <a:rPr lang="en-GB" sz="3200" dirty="0" smtClean="0"/>
              <a:t>. Starting the Project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 smtClean="0"/>
              <a:t>	ii. Organising and Preparing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 </a:t>
            </a:r>
            <a:r>
              <a:rPr lang="en-GB" sz="3200" dirty="0" smtClean="0"/>
              <a:t>   iii. Carrying out the work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 </a:t>
            </a:r>
            <a:r>
              <a:rPr lang="en-GB" sz="3200" dirty="0" smtClean="0"/>
              <a:t>   iv. Ending the Project – see the figure below.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GB" b="1" dirty="0"/>
              <a:t>Project Life Cycle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algn="just"/>
            <a:r>
              <a:rPr lang="en-GB" sz="3200" dirty="0" smtClean="0"/>
              <a:t>.</a:t>
            </a:r>
            <a:endParaRPr lang="en-US" sz="3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811" y="1348353"/>
            <a:ext cx="9768801" cy="51797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GB" b="1" dirty="0"/>
              <a:t>Project Life </a:t>
            </a:r>
            <a:r>
              <a:rPr lang="en-GB" b="1" dirty="0" smtClean="0"/>
              <a:t>Cycle –Starting The Project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 fontScale="92500"/>
          </a:bodyPr>
          <a:lstStyle/>
          <a:p>
            <a:pPr algn="just"/>
            <a:r>
              <a:rPr lang="en-GB" sz="3200" dirty="0" smtClean="0"/>
              <a:t>Initiate </a:t>
            </a:r>
            <a:r>
              <a:rPr lang="en-GB" sz="3200" dirty="0"/>
              <a:t>or </a:t>
            </a:r>
            <a:r>
              <a:rPr lang="en-GB" sz="3200" dirty="0" smtClean="0"/>
              <a:t>launch the product</a:t>
            </a:r>
            <a:endParaRPr lang="en-GB" sz="3200" dirty="0" smtClean="0"/>
          </a:p>
          <a:p>
            <a:pPr algn="just"/>
            <a:r>
              <a:rPr lang="en-GB" sz="3200" dirty="0" smtClean="0"/>
              <a:t>The </a:t>
            </a:r>
            <a:r>
              <a:rPr lang="en-GB" sz="3200" dirty="0" smtClean="0">
                <a:highlight>
                  <a:srgbClr val="FFFF00"/>
                </a:highlight>
              </a:rPr>
              <a:t>project </a:t>
            </a:r>
            <a:r>
              <a:rPr lang="en-GB" sz="3200" dirty="0">
                <a:highlight>
                  <a:srgbClr val="FFFF00"/>
                </a:highlight>
              </a:rPr>
              <a:t>sponsor </a:t>
            </a:r>
            <a:r>
              <a:rPr lang="en-GB" sz="3200" dirty="0" smtClean="0">
                <a:highlight>
                  <a:srgbClr val="FFFF00"/>
                </a:highlight>
              </a:rPr>
              <a:t>creates the project charter</a:t>
            </a:r>
            <a:endParaRPr lang="en-GB" sz="3200" dirty="0" smtClean="0">
              <a:highlight>
                <a:srgbClr val="FFFF00"/>
              </a:highlight>
            </a:endParaRPr>
          </a:p>
          <a:p>
            <a:pPr lvl="1" algn="just"/>
            <a:r>
              <a:rPr lang="en-GB" sz="3000" dirty="0" smtClean="0"/>
              <a:t>Key Points About A project Sponsor</a:t>
            </a:r>
            <a:endParaRPr lang="en-GB" sz="3000" dirty="0" smtClean="0"/>
          </a:p>
          <a:p>
            <a:pPr lvl="2" algn="just"/>
            <a:r>
              <a:rPr lang="en-GB" sz="2800" dirty="0" smtClean="0"/>
              <a:t>Originator of the project idea</a:t>
            </a:r>
            <a:endParaRPr lang="en-GB" sz="2800" dirty="0" smtClean="0"/>
          </a:p>
          <a:p>
            <a:pPr lvl="2" algn="just"/>
            <a:r>
              <a:rPr lang="en-GB" sz="2800" dirty="0" smtClean="0"/>
              <a:t>Provides Equity Investment</a:t>
            </a:r>
            <a:endParaRPr lang="en-GB" sz="2800" dirty="0" smtClean="0"/>
          </a:p>
          <a:p>
            <a:pPr lvl="2" algn="just"/>
            <a:r>
              <a:rPr lang="en-GB" sz="2800" dirty="0" smtClean="0"/>
              <a:t>Critical Role in Securing Finance</a:t>
            </a:r>
            <a:endParaRPr lang="en-GB" sz="2800" dirty="0" smtClean="0"/>
          </a:p>
          <a:p>
            <a:pPr lvl="2" algn="just"/>
            <a:r>
              <a:rPr lang="en-GB" sz="2800" dirty="0" smtClean="0"/>
              <a:t>Risk Management Responsibility </a:t>
            </a:r>
            <a:endParaRPr lang="en-GB" sz="2800" dirty="0" smtClean="0"/>
          </a:p>
          <a:p>
            <a:pPr lvl="2" algn="just"/>
            <a:r>
              <a:rPr lang="en-GB" sz="2800" dirty="0" smtClean="0"/>
              <a:t>Ongoing Involvement</a:t>
            </a:r>
            <a:endParaRPr lang="en-GB" sz="3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GB" b="1" dirty="0"/>
              <a:t>Project Life </a:t>
            </a:r>
            <a:r>
              <a:rPr lang="en-GB" b="1" dirty="0" smtClean="0"/>
              <a:t>Cycle –Starting The Project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 fontScale="92500"/>
          </a:bodyPr>
          <a:lstStyle/>
          <a:p>
            <a:pPr algn="just"/>
            <a:r>
              <a:rPr lang="en-GB" sz="3200" dirty="0" smtClean="0"/>
              <a:t>The </a:t>
            </a:r>
            <a:r>
              <a:rPr lang="en-GB" sz="3200" dirty="0">
                <a:highlight>
                  <a:srgbClr val="FFFF00"/>
                </a:highlight>
              </a:rPr>
              <a:t>project charter defines what is to be done to meet the requirements of project customers</a:t>
            </a:r>
            <a:r>
              <a:rPr lang="en-GB" sz="3200" dirty="0" smtClean="0">
                <a:highlight>
                  <a:srgbClr val="FFFF00"/>
                </a:highlight>
              </a:rPr>
              <a:t>.</a:t>
            </a:r>
            <a:endParaRPr lang="en-GB" sz="3200" dirty="0" smtClean="0">
              <a:highlight>
                <a:srgbClr val="FFFF00"/>
              </a:highlight>
            </a:endParaRPr>
          </a:p>
          <a:p>
            <a:pPr algn="just"/>
            <a:r>
              <a:rPr lang="en-GB" sz="3200" dirty="0" smtClean="0"/>
              <a:t>The </a:t>
            </a:r>
            <a:r>
              <a:rPr lang="en-GB" sz="3200" dirty="0"/>
              <a:t>charter should be used to authorize work on the </a:t>
            </a:r>
            <a:r>
              <a:rPr lang="en-GB" sz="3200" dirty="0" smtClean="0"/>
              <a:t>project:  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 smtClean="0"/>
              <a:t>	- define </a:t>
            </a:r>
            <a:r>
              <a:rPr lang="en-GB" sz="3200" dirty="0"/>
              <a:t>the authority, 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	</a:t>
            </a:r>
            <a:r>
              <a:rPr lang="en-GB" sz="3200" dirty="0" smtClean="0"/>
              <a:t>- responsibility</a:t>
            </a:r>
            <a:r>
              <a:rPr lang="en-GB" sz="3200" dirty="0"/>
              <a:t>, </a:t>
            </a:r>
            <a:r>
              <a:rPr lang="en-GB" sz="3200" dirty="0" smtClean="0"/>
              <a:t>and 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	</a:t>
            </a:r>
            <a:r>
              <a:rPr lang="en-GB" sz="3200" dirty="0" smtClean="0"/>
              <a:t>- accountability </a:t>
            </a:r>
            <a:r>
              <a:rPr lang="en-GB" sz="3200" dirty="0"/>
              <a:t>of the project team; and </a:t>
            </a:r>
            <a:r>
              <a:rPr lang="en-GB" sz="3200" dirty="0" smtClean="0"/>
              <a:t>	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	</a:t>
            </a:r>
            <a:r>
              <a:rPr lang="en-GB" sz="3200" dirty="0" smtClean="0"/>
              <a:t>- establish </a:t>
            </a:r>
            <a:r>
              <a:rPr lang="en-GB" sz="3200" dirty="0"/>
              <a:t>scope boundaries for the job.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/>
              <a:t>Project Life </a:t>
            </a:r>
            <a:r>
              <a:rPr lang="en-GB" sz="3200" b="1" dirty="0" smtClean="0"/>
              <a:t>Cycle – </a:t>
            </a:r>
            <a:r>
              <a:rPr lang="en-GB" sz="3200" b="1" dirty="0"/>
              <a:t>Organising and </a:t>
            </a:r>
            <a:r>
              <a:rPr lang="en-GB" sz="3200" b="1" dirty="0" smtClean="0"/>
              <a:t>Preparing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3200" dirty="0" smtClean="0"/>
              <a:t>This is the planning phase which involves:</a:t>
            </a:r>
            <a:endParaRPr lang="en-GB" sz="3200" dirty="0" smtClean="0"/>
          </a:p>
          <a:p>
            <a:pPr algn="just"/>
            <a:r>
              <a:rPr lang="en-GB" sz="3200" dirty="0" smtClean="0"/>
              <a:t>Identify scope</a:t>
            </a:r>
            <a:endParaRPr lang="en-GB" sz="3200" dirty="0" smtClean="0"/>
          </a:p>
          <a:p>
            <a:pPr algn="just"/>
            <a:r>
              <a:rPr lang="en-GB" sz="3200" dirty="0" smtClean="0"/>
              <a:t>Identify tasks, dependencies and schedules</a:t>
            </a:r>
            <a:endParaRPr lang="en-GB" sz="3200" dirty="0" smtClean="0"/>
          </a:p>
          <a:p>
            <a:pPr algn="just"/>
            <a:r>
              <a:rPr lang="en-GB" sz="3200" dirty="0" smtClean="0"/>
              <a:t>Plan resources</a:t>
            </a:r>
            <a:endParaRPr lang="en-GB" sz="3200" dirty="0" smtClean="0"/>
          </a:p>
          <a:p>
            <a:pPr algn="just"/>
            <a:r>
              <a:rPr lang="en-GB" sz="3200" dirty="0" smtClean="0"/>
              <a:t>Clarify trade-offs and decision making principle</a:t>
            </a:r>
            <a:endParaRPr lang="en-GB" sz="3200" dirty="0" smtClean="0"/>
          </a:p>
          <a:p>
            <a:pPr algn="just"/>
            <a:r>
              <a:rPr lang="en-GB" sz="3200" dirty="0" smtClean="0"/>
              <a:t>Develop a risk management plan</a:t>
            </a:r>
            <a:endParaRPr lang="en-GB" sz="3200" dirty="0" smtClean="0"/>
          </a:p>
          <a:p>
            <a:pPr algn="just"/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/>
              <a:t>Project Life </a:t>
            </a:r>
            <a:r>
              <a:rPr lang="en-GB" sz="3200" b="1" dirty="0" smtClean="0"/>
              <a:t>Cycle – </a:t>
            </a:r>
            <a:r>
              <a:rPr lang="en-GB" sz="3200" b="1" dirty="0"/>
              <a:t>Carrying out the </a:t>
            </a:r>
            <a:r>
              <a:rPr lang="en-GB" sz="3200" b="1" dirty="0" smtClean="0"/>
              <a:t>work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3200" dirty="0" smtClean="0"/>
              <a:t>This is the execution phase which also refers to implementing the project plan.</a:t>
            </a:r>
            <a:endParaRPr lang="en-GB" sz="3200" dirty="0" smtClean="0"/>
          </a:p>
          <a:p>
            <a:pPr algn="just"/>
            <a:r>
              <a:rPr lang="en-GB" sz="3200" dirty="0" smtClean="0"/>
              <a:t>Monitor progress</a:t>
            </a:r>
            <a:endParaRPr lang="en-GB" sz="3200" dirty="0" smtClean="0"/>
          </a:p>
          <a:p>
            <a:pPr algn="just"/>
            <a:r>
              <a:rPr lang="en-GB" sz="3200" dirty="0" smtClean="0"/>
              <a:t>Communicate and report</a:t>
            </a:r>
            <a:endParaRPr lang="en-GB" sz="3200" dirty="0" smtClean="0"/>
          </a:p>
          <a:p>
            <a:pPr algn="just"/>
            <a:r>
              <a:rPr lang="en-GB" sz="3200" dirty="0" smtClean="0"/>
              <a:t>Correct and control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/>
              <a:t>Project Life </a:t>
            </a:r>
            <a:r>
              <a:rPr lang="en-GB" sz="3200" b="1" dirty="0" smtClean="0"/>
              <a:t>Cycle – </a:t>
            </a:r>
            <a:r>
              <a:rPr lang="en-GB" sz="3200" b="1" dirty="0"/>
              <a:t>Ending the Project 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3200" dirty="0" smtClean="0"/>
              <a:t>This is the closing phase of the project: </a:t>
            </a:r>
            <a:endParaRPr lang="en-GB" sz="3200" dirty="0" smtClean="0"/>
          </a:p>
          <a:p>
            <a:pPr algn="just"/>
            <a:r>
              <a:rPr lang="en-GB" sz="3200" dirty="0" smtClean="0"/>
              <a:t>Sign off</a:t>
            </a:r>
            <a:endParaRPr lang="en-GB" sz="3200" dirty="0" smtClean="0"/>
          </a:p>
          <a:p>
            <a:pPr algn="just"/>
            <a:r>
              <a:rPr lang="en-GB" sz="3200" dirty="0" smtClean="0"/>
              <a:t>Conduct a formal post-mortem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A final lessons-learned review should be done before the project is considered complete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/>
              <a:t>Project Life </a:t>
            </a:r>
            <a:r>
              <a:rPr lang="en-GB" sz="3200" b="1" dirty="0" smtClean="0"/>
              <a:t>Cycle Phase by Phase Relationship 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3200" dirty="0" smtClean="0"/>
              <a:t>.</a:t>
            </a:r>
            <a:endParaRPr lang="en-US" sz="3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5810" y="1461960"/>
            <a:ext cx="9401627" cy="49543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 smtClean="0"/>
              <a:t>Life Cycle Selection 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sz="3200" dirty="0" smtClean="0"/>
              <a:t>Project comes in several ways and there are diverse ways to handle them.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US" sz="3200" dirty="0"/>
              <a:t> Project teams need awareness of the characteristics and </a:t>
            </a:r>
            <a:r>
              <a:rPr lang="en-US" sz="3200" dirty="0" smtClean="0"/>
              <a:t>options available </a:t>
            </a:r>
            <a:r>
              <a:rPr lang="en-US" sz="3200" dirty="0"/>
              <a:t>to select the approach most likely to be successful for the situation</a:t>
            </a:r>
            <a:endParaRPr lang="en-GB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 smtClean="0"/>
              <a:t>Life Cycle Selection 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en-GB" sz="3200" dirty="0" smtClean="0"/>
              <a:t>The PM practice guide refers to four types of life cycles:</a:t>
            </a:r>
            <a:endParaRPr lang="en-GB" sz="3200" dirty="0" smtClean="0"/>
          </a:p>
          <a:p>
            <a:pPr algn="just"/>
            <a:r>
              <a:rPr lang="en-GB" sz="3200" b="1" dirty="0" smtClean="0"/>
              <a:t>Predictive Life Cycle: </a:t>
            </a:r>
            <a:r>
              <a:rPr lang="en-GB" sz="3200" dirty="0" smtClean="0"/>
              <a:t>This is a </a:t>
            </a:r>
            <a:r>
              <a:rPr lang="en-US" sz="3200" dirty="0" smtClean="0"/>
              <a:t>more </a:t>
            </a:r>
            <a:r>
              <a:rPr lang="en-US" sz="3200" dirty="0"/>
              <a:t>traditional approach, with the </a:t>
            </a:r>
            <a:r>
              <a:rPr lang="en-US" sz="3200" dirty="0" smtClean="0"/>
              <a:t>bulk of </a:t>
            </a:r>
            <a:r>
              <a:rPr lang="en-US" sz="3200" dirty="0"/>
              <a:t>planning occurring upfront, then executing in a single pass</a:t>
            </a:r>
            <a:r>
              <a:rPr lang="en-US" sz="3200" dirty="0" smtClean="0"/>
              <a:t>; a </a:t>
            </a:r>
            <a:r>
              <a:rPr lang="en-US" sz="3200" dirty="0"/>
              <a:t>sequential process</a:t>
            </a:r>
            <a:r>
              <a:rPr lang="en-US" sz="3200" dirty="0" smtClean="0"/>
              <a:t>.</a:t>
            </a:r>
            <a:endParaRPr lang="en-US" sz="3200" dirty="0" smtClean="0"/>
          </a:p>
          <a:p>
            <a:pPr algn="just"/>
            <a:r>
              <a:rPr lang="en-US" sz="3200" b="1" dirty="0"/>
              <a:t>Iterative life </a:t>
            </a:r>
            <a:r>
              <a:rPr lang="en-US" sz="3200" b="1" dirty="0" smtClean="0"/>
              <a:t>cycle:</a:t>
            </a:r>
            <a:r>
              <a:rPr lang="en-US" sz="3200" dirty="0" smtClean="0"/>
              <a:t> </a:t>
            </a:r>
            <a:r>
              <a:rPr lang="en-US" sz="3200" dirty="0"/>
              <a:t>An approach that allows feedback for </a:t>
            </a:r>
            <a:r>
              <a:rPr lang="en-US" sz="3200" dirty="0" smtClean="0"/>
              <a:t>unfinished work </a:t>
            </a:r>
            <a:r>
              <a:rPr lang="en-US" sz="3200" dirty="0"/>
              <a:t>to improve and modify that work</a:t>
            </a:r>
            <a:endParaRPr lang="en-GB" sz="3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 smtClean="0"/>
              <a:t>Life Cycle Selection 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algn="just"/>
            <a:r>
              <a:rPr lang="en-US" sz="3200" b="1" dirty="0" smtClean="0"/>
              <a:t>Incremental </a:t>
            </a:r>
            <a:r>
              <a:rPr lang="en-US" sz="3200" b="1" dirty="0"/>
              <a:t>life </a:t>
            </a:r>
            <a:r>
              <a:rPr lang="en-US" sz="3200" b="1" dirty="0" smtClean="0"/>
              <a:t>cycle: </a:t>
            </a:r>
            <a:r>
              <a:rPr lang="en-US" sz="3200" dirty="0"/>
              <a:t>An approach that provides </a:t>
            </a:r>
            <a:r>
              <a:rPr lang="en-US" sz="3200" dirty="0" smtClean="0"/>
              <a:t>finished deliverables </a:t>
            </a:r>
            <a:r>
              <a:rPr lang="en-US" sz="3200" dirty="0"/>
              <a:t>that the customer may be able to use immediately.</a:t>
            </a:r>
            <a:endParaRPr lang="en-US" sz="3200" dirty="0"/>
          </a:p>
          <a:p>
            <a:pPr algn="just"/>
            <a:r>
              <a:rPr lang="en-US" sz="3200" b="1" dirty="0" smtClean="0"/>
              <a:t>Agile </a:t>
            </a:r>
            <a:r>
              <a:rPr lang="en-US" sz="3200" b="1" dirty="0"/>
              <a:t>life cycle. </a:t>
            </a:r>
            <a:r>
              <a:rPr lang="en-US" sz="3200" dirty="0"/>
              <a:t>An approach that is both iterative and </a:t>
            </a:r>
            <a:r>
              <a:rPr lang="en-US" sz="3200" dirty="0" smtClean="0"/>
              <a:t>incremental to </a:t>
            </a:r>
            <a:r>
              <a:rPr lang="en-US" sz="3200" dirty="0"/>
              <a:t>refine work items and deliver frequently.</a:t>
            </a:r>
            <a:endParaRPr lang="en-GB" sz="3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b="1" dirty="0" smtClean="0"/>
              <a:t>Characteristics of Project Life Cycles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algn="just"/>
            <a:r>
              <a:rPr lang="en-US" sz="3200" b="1" dirty="0" smtClean="0"/>
              <a:t>.</a:t>
            </a:r>
            <a:endParaRPr lang="en-GB" sz="32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5810" y="1303068"/>
            <a:ext cx="9659698" cy="55549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b="1" dirty="0" smtClean="0"/>
              <a:t>Characteristics of Predictive Life Cycles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algn="just"/>
            <a:r>
              <a:rPr lang="en-US" sz="3200" b="1" dirty="0"/>
              <a:t>S</a:t>
            </a:r>
            <a:r>
              <a:rPr lang="en-US" sz="3200" b="1" dirty="0" smtClean="0"/>
              <a:t>ee page 791/829</a:t>
            </a:r>
            <a:endParaRPr lang="en-GB" sz="3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GB" sz="3200" b="1" dirty="0"/>
              <a:t>Predictive Approach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/>
          </a:bodyPr>
          <a:lstStyle/>
          <a:p>
            <a:pPr algn="just"/>
            <a:r>
              <a:rPr lang="en-GB" sz="3200" dirty="0" smtClean="0"/>
              <a:t>Sign off</a:t>
            </a:r>
            <a:endParaRPr lang="en-GB" sz="3200" dirty="0" smtClean="0"/>
          </a:p>
          <a:p>
            <a:pPr algn="just"/>
            <a:r>
              <a:rPr lang="en-GB" sz="3200" dirty="0" smtClean="0"/>
              <a:t>Conduct a formal post-mortem</a:t>
            </a:r>
            <a:endParaRPr lang="en-GB" sz="3200" dirty="0" smtClean="0"/>
          </a:p>
          <a:p>
            <a:pPr marL="0" indent="0" algn="just">
              <a:buNone/>
            </a:pPr>
            <a:r>
              <a:rPr lang="en-GB" sz="3200" dirty="0"/>
              <a:t>A final lessons-learned review should be done before the project is considered </a:t>
            </a:r>
            <a:r>
              <a:rPr lang="en-GB" sz="3200" dirty="0" smtClean="0"/>
              <a:t>complete.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3354" y="0"/>
            <a:ext cx="10914184" cy="1280890"/>
          </a:xfrm>
        </p:spPr>
        <p:txBody>
          <a:bodyPr/>
          <a:lstStyle/>
          <a:p>
            <a:r>
              <a:rPr lang="en-US" b="1" dirty="0"/>
              <a:t>. </a:t>
            </a:r>
            <a:r>
              <a:rPr lang="en-US" sz="2400" b="1" dirty="0"/>
              <a:t>Comparison of Predictive, Adaptive, and Hybrid Project Approaches</a:t>
            </a:r>
            <a:endParaRPr lang="en-US" sz="24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1043353"/>
          <a:ext cx="12192000" cy="62167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8000"/>
                <a:gridCol w="3048000"/>
                <a:gridCol w="3048000"/>
                <a:gridCol w="3048000"/>
              </a:tblGrid>
              <a:tr h="52072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Approach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Description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Advantages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Disadvantages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</a:tr>
              <a:tr h="166743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Predictive (Waterfall)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Follows a structured, sequential process with predefined phases.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Clear scope, well-defined deliverables, and easier resource management.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Limited flexibility and difficulty in accommodating changes.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</a:tr>
              <a:tr h="184249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Adaptive (Agile)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Iterative and flexible, allowing for continuous improvements based on feedback.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High adaptability, faster delivery, and better stakeholder collaboration.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Requires strong team collaboration and may face scope creep.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</a:tr>
              <a:tr h="2186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Hybrid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Combines elements of predictive and adaptive approaches to balance structure and flexibility.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Allows for structured planning while incorporating adaptability.</a:t>
                      </a:r>
                      <a:endParaRPr lang="en-US" sz="200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Can be complex to manage and requires careful coordination.</a:t>
                      </a:r>
                      <a:endParaRPr lang="en-US" sz="2000" dirty="0">
                        <a:effectLst/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63500" marR="63500" marT="63500" marB="6350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3720</Words>
  <Application>WPS Presentation</Application>
  <PresentationFormat>Custom</PresentationFormat>
  <Paragraphs>137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SimSun</vt:lpstr>
      <vt:lpstr>Wingdings</vt:lpstr>
      <vt:lpstr>Wingdings 3</vt:lpstr>
      <vt:lpstr>Arial</vt:lpstr>
      <vt:lpstr>Century Gothic</vt:lpstr>
      <vt:lpstr>Microsoft YaHei</vt:lpstr>
      <vt:lpstr>Arial Unicode MS</vt:lpstr>
      <vt:lpstr>Calibri</vt:lpstr>
      <vt:lpstr>Wisp</vt:lpstr>
      <vt:lpstr>Engr. A. S. Oluwajembola  </vt:lpstr>
      <vt:lpstr>Common Project Management Approaches</vt:lpstr>
      <vt:lpstr>Project Life Cycle</vt:lpstr>
      <vt:lpstr>Project Life Cycle</vt:lpstr>
      <vt:lpstr>Project Life Cycle –Starting The Project</vt:lpstr>
      <vt:lpstr>Project Life Cycle –Starting The Project</vt:lpstr>
      <vt:lpstr>Project Life Cycle – Organising and Preparing</vt:lpstr>
      <vt:lpstr>Project Life Cycle – Carrying out the work</vt:lpstr>
      <vt:lpstr>Project Life Cycle – Ending the Project </vt:lpstr>
      <vt:lpstr>Project Life Cycle Phase by Phase Relationship </vt:lpstr>
      <vt:lpstr>Life Cycle Selection </vt:lpstr>
      <vt:lpstr>Life Cycle Selection </vt:lpstr>
      <vt:lpstr>Life Cycle Selection </vt:lpstr>
      <vt:lpstr>Characteristics of Project Life Cycles</vt:lpstr>
      <vt:lpstr>Characteristics of Predictive Life Cycles</vt:lpstr>
      <vt:lpstr>Predictive Approach</vt:lpstr>
      <vt:lpstr>. Comparison of Predictive, Adaptive, and Hybrid Project Approaches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 FUNDAMENTALS  AUL-DHS 413</dc:title>
  <dc:creator>Microsoft account</dc:creator>
  <cp:lastModifiedBy>Pelumi of God</cp:lastModifiedBy>
  <cp:revision>18</cp:revision>
  <dcterms:created xsi:type="dcterms:W3CDTF">2025-02-16T21:33:00Z</dcterms:created>
  <dcterms:modified xsi:type="dcterms:W3CDTF">2026-02-03T04:31:19Z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11442083C2494AB08944D05B2DB464C5_12</vt:lpwstr>
  </property>
  <property fmtid="{D5CDD505-2E9C-101B-9397-08002B2CF9AE}" pid="3" name="KSOProductBuildVer">
    <vt:lpwstr>1033-12.2.0.23196</vt:lpwstr>
  </property>
</Properties>
</file>