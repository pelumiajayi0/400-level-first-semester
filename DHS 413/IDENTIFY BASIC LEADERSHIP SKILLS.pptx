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docx" ContentType="application/vnd.openxmlformats-officedocument.wordprocessingml.document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60" r:id="rId4"/>
    <p:sldId id="258" r:id="rId5"/>
    <p:sldId id="261" r:id="rId6"/>
    <p:sldId id="262" r:id="rId7"/>
    <p:sldId id="263" r:id="rId8"/>
    <p:sldId id="264" r:id="rId9"/>
    <p:sldId id="283" r:id="rId10"/>
    <p:sldId id="284" r:id="rId11"/>
    <p:sldId id="265" r:id="rId12"/>
    <p:sldId id="266" r:id="rId13"/>
    <p:sldId id="267" r:id="rId14"/>
    <p:sldId id="268" r:id="rId15"/>
    <p:sldId id="269" r:id="rId16"/>
    <p:sldId id="270" r:id="rId17"/>
    <p:sldId id="281" r:id="rId18"/>
    <p:sldId id="282" r:id="rId19"/>
    <p:sldId id="272" r:id="rId20"/>
    <p:sldId id="271" r:id="rId21"/>
    <p:sldId id="275" r:id="rId22"/>
    <p:sldId id="273" r:id="rId23"/>
    <p:sldId id="276" r:id="rId24"/>
    <p:sldId id="277" r:id="rId25"/>
    <p:sldId id="278" r:id="rId26"/>
    <p:sldId id="279" r:id="rId27"/>
    <p:sldId id="285" r:id="rId28"/>
    <p:sldId id="280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9" autoAdjust="0"/>
    <p:restoredTop sz="94660"/>
  </p:normalViewPr>
  <p:slideViewPr>
    <p:cSldViewPr snapToGrid="0">
      <p:cViewPr>
        <p:scale>
          <a:sx n="46" d="100"/>
          <a:sy n="46" d="100"/>
        </p:scale>
        <p:origin x="48" y="76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emf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647F38-B617-4D2F-AE0A-013F0C4D2C57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97799C9-84D9-46D2-A11E-BCF8A720529D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FA754-D5C3-4E66-96A6-867B257F58DC}" type="datetimeFigureOut">
              <a:rPr lang="en-US" dirty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84065D-F351-4B03-BD91-D8A6B8D4B362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8" r:id="rId2"/>
    <p:sldLayoutId id="2147483651" r:id="rId3"/>
    <p:sldLayoutId id="2147483669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57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Word_Document1.docx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4800" b="1" dirty="0" smtClean="0"/>
              <a:t>IDENTIFY BASIC LEADERSHIP SKILLS</a:t>
            </a:r>
            <a:endParaRPr lang="en-GB" sz="4800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 smtClean="0"/>
              <a:t>DHS 413</a:t>
            </a:r>
          </a:p>
          <a:p>
            <a:endParaRPr lang="en-GB" dirty="0"/>
          </a:p>
          <a:p>
            <a:r>
              <a:rPr lang="en-GB" dirty="0" smtClean="0"/>
              <a:t>Dr. E. E. Okoh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932779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 smtClean="0"/>
              <a:t>Introduction</a:t>
            </a:r>
            <a:endParaRPr lang="en-GB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Leadership in project environments requires the ability to influence, motivate, communicate effectively, and resolve conflict. </a:t>
            </a:r>
            <a:endParaRPr lang="en-US" dirty="0" smtClean="0"/>
          </a:p>
          <a:p>
            <a:r>
              <a:rPr lang="en-US" dirty="0" smtClean="0"/>
              <a:t>PMBOK </a:t>
            </a:r>
            <a:r>
              <a:rPr lang="en-US" dirty="0"/>
              <a:t>emphasizes that project managers rely heavily on interpersonal and team skills, particularly motivation, active listening, and conflict management, to guide teams toward achieving project objectives.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8425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800" b="1" dirty="0" smtClean="0"/>
              <a:t>THE ROLE OF MOTIVATION IN LEADING OTHERS</a:t>
            </a:r>
            <a:endParaRPr lang="en-GB" sz="4800" dirty="0"/>
          </a:p>
        </p:txBody>
      </p:sp>
    </p:spTree>
    <p:extLst>
      <p:ext uri="{BB962C8B-B14F-4D97-AF65-F5344CB8AC3E}">
        <p14:creationId xmlns:p14="http://schemas.microsoft.com/office/powerpoint/2010/main" val="3099243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Definition of Motivation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PMBOK defines </a:t>
            </a:r>
            <a:r>
              <a:rPr lang="en-US" b="1" dirty="0"/>
              <a:t>motivation</a:t>
            </a:r>
            <a:r>
              <a:rPr lang="en-US" dirty="0"/>
              <a:t> as </a:t>
            </a:r>
            <a:r>
              <a:rPr lang="en-US" i="1" dirty="0"/>
              <a:t>providing a reason for someone to act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092190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Why Motivation Matters in Leadership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Motivation is essential because:</a:t>
            </a:r>
          </a:p>
          <a:p>
            <a:pPr lvl="0"/>
            <a:r>
              <a:rPr lang="en-US" b="1" dirty="0"/>
              <a:t>Empowered teams perform better.</a:t>
            </a:r>
            <a:r>
              <a:rPr lang="en-US" dirty="0"/>
              <a:t> PMBOK notes that teams are motivated when empowered to participate in decision making and encouraged to work independently.</a:t>
            </a:r>
          </a:p>
          <a:p>
            <a:pPr lvl="0"/>
            <a:r>
              <a:rPr lang="en-US" b="1" dirty="0"/>
              <a:t>Motivation increases commitment and productivity.</a:t>
            </a:r>
            <a:endParaRPr lang="en-US" dirty="0"/>
          </a:p>
          <a:p>
            <a:pPr lvl="0"/>
            <a:r>
              <a:rPr lang="en-US" b="1" dirty="0"/>
              <a:t>Motivated individuals take initiative, collaborate more readily, and navigate challenges effectively.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94658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Leaders Motivate (PMBOK Insights)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/>
            </a:pPr>
            <a:r>
              <a:rPr lang="en-US" b="1" dirty="0" smtClean="0"/>
              <a:t>Empowerment: </a:t>
            </a:r>
            <a:r>
              <a:rPr lang="en-US" dirty="0" smtClean="0"/>
              <a:t>Allowing </a:t>
            </a:r>
            <a:r>
              <a:rPr lang="en-US" dirty="0"/>
              <a:t>team members to contribute to decisions increases ownership and intrinsic motivation.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b="1" dirty="0"/>
              <a:t>Recognition and </a:t>
            </a:r>
            <a:r>
              <a:rPr lang="en-US" b="1" dirty="0" smtClean="0"/>
              <a:t>Rewards: </a:t>
            </a:r>
            <a:r>
              <a:rPr lang="en-US" dirty="0" smtClean="0"/>
              <a:t>PMBOK </a:t>
            </a:r>
            <a:r>
              <a:rPr lang="en-US" dirty="0"/>
              <a:t>states that rewards are powerful when tied to individual values and needs. Recognition throughout the project lifecycle helps people feel valued.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b="1" dirty="0"/>
              <a:t>Opportunities for </a:t>
            </a:r>
            <a:r>
              <a:rPr lang="en-US" b="1" dirty="0" smtClean="0"/>
              <a:t>Growth: </a:t>
            </a:r>
            <a:r>
              <a:rPr lang="en-US" dirty="0" smtClean="0"/>
              <a:t>Teams </a:t>
            </a:r>
            <a:r>
              <a:rPr lang="en-US" dirty="0"/>
              <a:t>are strongly motivated when they can grow, tackle challenges, and apply their skills.</a:t>
            </a:r>
          </a:p>
        </p:txBody>
      </p:sp>
    </p:spTree>
    <p:extLst>
      <p:ext uri="{BB962C8B-B14F-4D97-AF65-F5344CB8AC3E}">
        <p14:creationId xmlns:p14="http://schemas.microsoft.com/office/powerpoint/2010/main" val="25977704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How Leaders Motivate (PMBOK Insights)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 startAt="4"/>
            </a:pPr>
            <a:r>
              <a:rPr lang="en-US" b="1" dirty="0"/>
              <a:t>Creating a Positive Work </a:t>
            </a:r>
            <a:r>
              <a:rPr lang="en-US" b="1" dirty="0" smtClean="0"/>
              <a:t>Environment: </a:t>
            </a:r>
            <a:r>
              <a:rPr lang="en-US" dirty="0" smtClean="0"/>
              <a:t>Motivation </a:t>
            </a:r>
            <a:r>
              <a:rPr lang="en-US" dirty="0"/>
              <a:t>increases when team members feel trust, appreciation, and purposeful engagement</a:t>
            </a:r>
            <a:r>
              <a:rPr lang="en-US" dirty="0" smtClean="0"/>
              <a:t>.</a:t>
            </a:r>
          </a:p>
          <a:p>
            <a:pPr marL="514350" lvl="0" indent="-514350">
              <a:buFont typeface="+mj-lt"/>
              <a:buAutoNum type="romanLcPeriod" startAt="4"/>
            </a:pPr>
            <a:r>
              <a:rPr lang="en-US" b="1" dirty="0" smtClean="0"/>
              <a:t>Using </a:t>
            </a:r>
            <a:r>
              <a:rPr lang="en-US" b="1" dirty="0"/>
              <a:t>Emotional </a:t>
            </a:r>
            <a:r>
              <a:rPr lang="en-US" b="1" dirty="0" smtClean="0"/>
              <a:t>Intelligence: </a:t>
            </a:r>
            <a:r>
              <a:rPr lang="en-US" dirty="0" smtClean="0"/>
              <a:t>Leaders </a:t>
            </a:r>
            <a:r>
              <a:rPr lang="en-US" dirty="0"/>
              <a:t>who understand and manage emotions can motivate teams more effectively.</a:t>
            </a:r>
          </a:p>
        </p:txBody>
      </p:sp>
    </p:spTree>
    <p:extLst>
      <p:ext uri="{BB962C8B-B14F-4D97-AF65-F5344CB8AC3E}">
        <p14:creationId xmlns:p14="http://schemas.microsoft.com/office/powerpoint/2010/main" val="428528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Key Takeaway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Motivation is not only about rewards—it's about creating a climate where people </a:t>
            </a:r>
            <a:r>
              <a:rPr lang="en-US" i="1" dirty="0"/>
              <a:t>want</a:t>
            </a:r>
            <a:r>
              <a:rPr lang="en-US" dirty="0"/>
              <a:t> to contribute, feel capable, and experience meaning in their work.</a:t>
            </a:r>
          </a:p>
        </p:txBody>
      </p:sp>
    </p:spTree>
    <p:extLst>
      <p:ext uri="{BB962C8B-B14F-4D97-AF65-F5344CB8AC3E}">
        <p14:creationId xmlns:p14="http://schemas.microsoft.com/office/powerpoint/2010/main" val="23256401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Discussion Prompts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/>
            </a:pPr>
            <a:r>
              <a:rPr lang="en-GB" dirty="0"/>
              <a:t>“Think of a time you felt extremely motivated at work or school. What did the leader do?”</a:t>
            </a:r>
            <a:endParaRPr lang="en-US" dirty="0"/>
          </a:p>
          <a:p>
            <a:pPr marL="514350" lvl="0" indent="-514350">
              <a:buFont typeface="+mj-lt"/>
              <a:buAutoNum type="romanLcPeriod"/>
            </a:pPr>
            <a:r>
              <a:rPr lang="en-GB" dirty="0"/>
              <a:t>“Which motivates professional adults more: recognition, autonomy, or compensation? Why?”</a:t>
            </a:r>
            <a:endParaRPr lang="en-US" dirty="0"/>
          </a:p>
          <a:p>
            <a:pPr marL="0" lv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2233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Discussion Prompts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 startAt="3"/>
            </a:pPr>
            <a:r>
              <a:rPr lang="en-GB" dirty="0" smtClean="0"/>
              <a:t>“</a:t>
            </a:r>
            <a:r>
              <a:rPr lang="en-GB" dirty="0"/>
              <a:t>PMBOK says empowerment increases motivation. What does empowerment look like in everyday leadership?”</a:t>
            </a:r>
            <a:endParaRPr lang="en-US" dirty="0"/>
          </a:p>
          <a:p>
            <a:pPr marL="514350" lvl="0" indent="-514350">
              <a:buFont typeface="+mj-lt"/>
              <a:buAutoNum type="romanLcPeriod" startAt="3"/>
            </a:pPr>
            <a:r>
              <a:rPr lang="en-GB" dirty="0"/>
              <a:t>“Can you motivate someone who is disengaged, or must motivation come from within?”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28330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5400" b="1" dirty="0" smtClean="0"/>
              <a:t>THE ROLE OF LISTENING IN LEADERSHIP</a:t>
            </a:r>
            <a:endParaRPr lang="en-GB" sz="5400" b="1" dirty="0"/>
          </a:p>
        </p:txBody>
      </p:sp>
    </p:spTree>
    <p:extLst>
      <p:ext uri="{BB962C8B-B14F-4D97-AF65-F5344CB8AC3E}">
        <p14:creationId xmlns:p14="http://schemas.microsoft.com/office/powerpoint/2010/main" val="27171667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/>
              <a:t>What PMBOK Says About Listening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PMBOK emphasizes </a:t>
            </a:r>
            <a:r>
              <a:rPr lang="en-US" b="1" dirty="0"/>
              <a:t>active listening</a:t>
            </a:r>
            <a:r>
              <a:rPr lang="en-US" dirty="0"/>
              <a:t> as a core interpersonal and communication skill used throughout project environments.</a:t>
            </a:r>
          </a:p>
          <a:p>
            <a:pPr marL="0" indent="0">
              <a:buNone/>
            </a:pPr>
            <a:r>
              <a:rPr lang="en-US" b="1" dirty="0"/>
              <a:t>Active listening helps:</a:t>
            </a:r>
          </a:p>
          <a:p>
            <a:pPr lvl="0"/>
            <a:r>
              <a:rPr lang="en-US" dirty="0"/>
              <a:t>Reduce misunderstandings</a:t>
            </a:r>
          </a:p>
          <a:p>
            <a:pPr lvl="0"/>
            <a:r>
              <a:rPr lang="en-US" dirty="0"/>
              <a:t>Improve communication and knowledge sharing</a:t>
            </a:r>
          </a:p>
          <a:p>
            <a:pPr lvl="0"/>
            <a:r>
              <a:rPr lang="en-US" dirty="0"/>
              <a:t>Strengthen trust and team cohesion</a:t>
            </a:r>
          </a:p>
        </p:txBody>
      </p:sp>
    </p:spTree>
    <p:extLst>
      <p:ext uri="{BB962C8B-B14F-4D97-AF65-F5344CB8AC3E}">
        <p14:creationId xmlns:p14="http://schemas.microsoft.com/office/powerpoint/2010/main" val="6214696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Active Listening and Effective Leadership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Leaders who listen actively can: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b="1" dirty="0"/>
              <a:t>Understand concerns and barriers.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This builds rapport and leads to better decision-making.</a:t>
            </a:r>
          </a:p>
          <a:p>
            <a:pPr marL="514350" lvl="0" indent="-514350">
              <a:buFont typeface="+mj-lt"/>
              <a:buAutoNum type="romanLcPeriod"/>
            </a:pPr>
            <a:r>
              <a:rPr lang="en-US" b="1" dirty="0"/>
              <a:t>Encourage participation.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People are more likely to contribute when they feel heard.</a:t>
            </a:r>
          </a:p>
        </p:txBody>
      </p:sp>
    </p:spTree>
    <p:extLst>
      <p:ext uri="{BB962C8B-B14F-4D97-AF65-F5344CB8AC3E}">
        <p14:creationId xmlns:p14="http://schemas.microsoft.com/office/powerpoint/2010/main" val="31073994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Active Listening and Effective Leadership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 startAt="3"/>
            </a:pPr>
            <a:r>
              <a:rPr lang="en-US" b="1" dirty="0"/>
              <a:t>Resolve conflict early.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Many conflicts escalate due to lack of proper listening.</a:t>
            </a:r>
          </a:p>
          <a:p>
            <a:pPr marL="514350" lvl="0" indent="-514350">
              <a:buFont typeface="+mj-lt"/>
              <a:buAutoNum type="romanLcPeriod" startAt="3"/>
            </a:pPr>
            <a:r>
              <a:rPr lang="en-US" b="1" dirty="0"/>
              <a:t>Increase influence.</a:t>
            </a:r>
            <a:r>
              <a:rPr lang="en-US" dirty="0"/>
              <a:t/>
            </a:r>
            <a:br>
              <a:rPr lang="en-US" dirty="0"/>
            </a:br>
            <a:r>
              <a:rPr lang="en-US" dirty="0"/>
              <a:t>PMBOK identifies “high levels of active and effective listening skills” as a key component of influence.</a:t>
            </a:r>
          </a:p>
        </p:txBody>
      </p:sp>
    </p:spTree>
    <p:extLst>
      <p:ext uri="{BB962C8B-B14F-4D97-AF65-F5344CB8AC3E}">
        <p14:creationId xmlns:p14="http://schemas.microsoft.com/office/powerpoint/2010/main" val="38590638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Active Listening Behaviours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Giving full attention</a:t>
            </a:r>
            <a:endParaRPr lang="en-US" dirty="0"/>
          </a:p>
          <a:p>
            <a:pPr lvl="0"/>
            <a:r>
              <a:rPr lang="en-GB" dirty="0"/>
              <a:t>Acknowledging messages received</a:t>
            </a:r>
            <a:endParaRPr lang="en-US" dirty="0"/>
          </a:p>
          <a:p>
            <a:pPr lvl="0"/>
            <a:r>
              <a:rPr lang="en-GB" dirty="0"/>
              <a:t>Asking clarifying questions</a:t>
            </a:r>
            <a:endParaRPr lang="en-US" dirty="0"/>
          </a:p>
          <a:p>
            <a:pPr lvl="0"/>
            <a:r>
              <a:rPr lang="en-GB" dirty="0"/>
              <a:t>Reflecting and paraphrasing</a:t>
            </a:r>
            <a:endParaRPr lang="en-US" dirty="0"/>
          </a:p>
          <a:p>
            <a:pPr lvl="0"/>
            <a:r>
              <a:rPr lang="en-GB" dirty="0"/>
              <a:t>Observing nonverbal </a:t>
            </a:r>
            <a:r>
              <a:rPr lang="en-GB" dirty="0" smtClean="0"/>
              <a:t>cues</a:t>
            </a:r>
          </a:p>
          <a:p>
            <a:pPr marL="0" lvl="0" indent="0">
              <a:buNone/>
            </a:pPr>
            <a:r>
              <a:rPr lang="en-GB" dirty="0"/>
              <a:t>PMBOK notes that listening is essential for leaders to inspire, provide vision, and support project knowledge sharing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872623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Active Listening Behaviours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lvl="0"/>
            <a:r>
              <a:rPr lang="en-GB" dirty="0"/>
              <a:t>Giving full attention</a:t>
            </a:r>
            <a:endParaRPr lang="en-US" dirty="0"/>
          </a:p>
          <a:p>
            <a:pPr lvl="0"/>
            <a:r>
              <a:rPr lang="en-GB" dirty="0"/>
              <a:t>Acknowledging messages received</a:t>
            </a:r>
            <a:endParaRPr lang="en-US" dirty="0"/>
          </a:p>
          <a:p>
            <a:pPr lvl="0"/>
            <a:r>
              <a:rPr lang="en-GB" dirty="0"/>
              <a:t>Asking clarifying questions</a:t>
            </a:r>
            <a:endParaRPr lang="en-US" dirty="0"/>
          </a:p>
          <a:p>
            <a:pPr lvl="0"/>
            <a:r>
              <a:rPr lang="en-GB" dirty="0"/>
              <a:t>Reflecting and paraphrasing</a:t>
            </a:r>
            <a:endParaRPr lang="en-US" dirty="0"/>
          </a:p>
          <a:p>
            <a:pPr lvl="0"/>
            <a:r>
              <a:rPr lang="en-GB" dirty="0"/>
              <a:t>Observing nonverbal </a:t>
            </a:r>
            <a:r>
              <a:rPr lang="en-GB" dirty="0" smtClean="0"/>
              <a:t>cues</a:t>
            </a:r>
          </a:p>
          <a:p>
            <a:pPr marL="0" lvl="0" indent="0">
              <a:buNone/>
            </a:pPr>
            <a:r>
              <a:rPr lang="en-GB" dirty="0"/>
              <a:t>PMBOK notes that listening is essential for leaders to inspire, provide vision, and support project knowledge sharing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88282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Discussion Prompts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/>
            </a:pPr>
            <a:r>
              <a:rPr lang="en-GB" dirty="0" smtClean="0"/>
              <a:t>“Why </a:t>
            </a:r>
            <a:r>
              <a:rPr lang="en-GB" dirty="0"/>
              <a:t>is active listening difficult for leaders? What gets in the way?”</a:t>
            </a:r>
            <a:endParaRPr lang="en-US" dirty="0"/>
          </a:p>
          <a:p>
            <a:pPr marL="514350" lvl="0" indent="-514350">
              <a:buFont typeface="+mj-lt"/>
              <a:buAutoNum type="romanLcPeriod"/>
            </a:pPr>
            <a:r>
              <a:rPr lang="en-GB" dirty="0"/>
              <a:t>“PMBOK identifies active listening as a major influencing skill. How does listening increase influence</a:t>
            </a:r>
            <a:r>
              <a:rPr lang="en-GB" dirty="0" smtClean="0"/>
              <a:t>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935145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Discussion Prompts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 startAt="3"/>
            </a:pPr>
            <a:r>
              <a:rPr lang="en-GB" dirty="0" smtClean="0"/>
              <a:t>“</a:t>
            </a:r>
            <a:r>
              <a:rPr lang="en-GB" dirty="0"/>
              <a:t>Think of a leader who listened well. What made their behaviour effective?”</a:t>
            </a:r>
            <a:endParaRPr lang="en-US" dirty="0"/>
          </a:p>
          <a:p>
            <a:pPr marL="514350" indent="-514350">
              <a:buFont typeface="+mj-lt"/>
              <a:buAutoNum type="romanLcPeriod" startAt="3"/>
            </a:pPr>
            <a:r>
              <a:rPr lang="en-GB" dirty="0"/>
              <a:t>“Is listening more important than speaking for leaders? Why or why not?”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66738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dirty="0" smtClean="0"/>
              <a:t>BASIC CONFLICT-MANAGEMENT STRATEGIES</a:t>
            </a:r>
            <a:endParaRPr lang="en-GB" sz="4400" b="1" dirty="0"/>
          </a:p>
        </p:txBody>
      </p:sp>
    </p:spTree>
    <p:extLst>
      <p:ext uri="{BB962C8B-B14F-4D97-AF65-F5344CB8AC3E}">
        <p14:creationId xmlns:p14="http://schemas.microsoft.com/office/powerpoint/2010/main" val="24689458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 smtClean="0"/>
              <a:t>Conflict Management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r>
              <a:rPr lang="en-GB" dirty="0"/>
              <a:t>PMBOK states that </a:t>
            </a:r>
            <a:r>
              <a:rPr lang="en-GB" b="1" dirty="0"/>
              <a:t>conflict is inevitable</a:t>
            </a:r>
            <a:r>
              <a:rPr lang="en-GB" dirty="0"/>
              <a:t> on projects due to differing priorities, scarce resources, and personal working styles</a:t>
            </a:r>
            <a:r>
              <a:rPr lang="en-GB" dirty="0" smtClean="0"/>
              <a:t>.</a:t>
            </a:r>
          </a:p>
          <a:p>
            <a:r>
              <a:rPr lang="en-GB" dirty="0"/>
              <a:t/>
            </a:r>
            <a:br>
              <a:rPr lang="en-GB" dirty="0"/>
            </a:br>
            <a:r>
              <a:rPr lang="en-GB" dirty="0"/>
              <a:t>Successful conflict management leads to improved productivity, better decision-making, and stronger relationships</a:t>
            </a:r>
            <a:r>
              <a:rPr lang="en-GB" dirty="0" smtClean="0"/>
              <a:t>.</a:t>
            </a:r>
          </a:p>
          <a:p>
            <a:endParaRPr lang="en-US" dirty="0"/>
          </a:p>
          <a:p>
            <a:r>
              <a:rPr lang="en-GB" dirty="0"/>
              <a:t>Conflict should be addressed early and usually in private, using a </a:t>
            </a:r>
            <a:r>
              <a:rPr lang="en-GB" b="1" dirty="0"/>
              <a:t>direct and collaborative approach</a:t>
            </a:r>
            <a:r>
              <a:rPr lang="en-GB" dirty="0"/>
              <a:t>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22295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sz="4400" b="1" dirty="0"/>
              <a:t>Five PMBOK Conflict-Resolution Techniques</a:t>
            </a:r>
          </a:p>
        </p:txBody>
      </p:sp>
    </p:spTree>
    <p:extLst>
      <p:ext uri="{BB962C8B-B14F-4D97-AF65-F5344CB8AC3E}">
        <p14:creationId xmlns:p14="http://schemas.microsoft.com/office/powerpoint/2010/main" val="28026895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 err="1" smtClean="0"/>
              <a:t>i</a:t>
            </a:r>
            <a:r>
              <a:rPr lang="en-GB" b="1" dirty="0" smtClean="0"/>
              <a:t>. Withdraw/Avoid</a:t>
            </a:r>
            <a:endParaRPr lang="en-US" sz="28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lvl="1"/>
            <a:r>
              <a:rPr lang="en-GB" sz="2400" b="1" dirty="0" smtClean="0"/>
              <a:t>Definition</a:t>
            </a:r>
            <a:r>
              <a:rPr lang="en-GB" sz="2400" b="1" dirty="0"/>
              <a:t>:</a:t>
            </a:r>
            <a:r>
              <a:rPr lang="en-GB" sz="2400" dirty="0"/>
              <a:t> Retreating from the conflict, postponing the issue, or allowing it to be resolved by others.</a:t>
            </a:r>
            <a:endParaRPr lang="en-US" sz="2400" dirty="0"/>
          </a:p>
          <a:p>
            <a:pPr lvl="1"/>
            <a:r>
              <a:rPr lang="en-GB" sz="2400" b="1" dirty="0"/>
              <a:t>Use When:</a:t>
            </a:r>
            <a:endParaRPr lang="en-US" sz="2400" dirty="0"/>
          </a:p>
          <a:p>
            <a:pPr lvl="2"/>
            <a:r>
              <a:rPr lang="en-GB" sz="2400" dirty="0"/>
              <a:t>The issue is minor</a:t>
            </a:r>
            <a:endParaRPr lang="en-US" sz="2400" dirty="0"/>
          </a:p>
          <a:p>
            <a:pPr lvl="2"/>
            <a:r>
              <a:rPr lang="en-GB" sz="2400" dirty="0"/>
              <a:t>Emotions are high and time is needed to cool </a:t>
            </a:r>
            <a:r>
              <a:rPr lang="en-GB" sz="2400" dirty="0" smtClean="0"/>
              <a:t>down</a:t>
            </a:r>
          </a:p>
          <a:p>
            <a:pPr lvl="2"/>
            <a:r>
              <a:rPr lang="en-GB" sz="2400" dirty="0" smtClean="0"/>
              <a:t>More </a:t>
            </a:r>
            <a:r>
              <a:rPr lang="en-GB" sz="2400" dirty="0"/>
              <a:t>information is required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90150050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 smtClean="0"/>
              <a:t>ii. Smooth/Accommodate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lvl="1"/>
            <a:r>
              <a:rPr lang="en-GB" sz="2400" b="1" dirty="0"/>
              <a:t>Definition:</a:t>
            </a:r>
            <a:r>
              <a:rPr lang="en-GB" sz="2400" dirty="0"/>
              <a:t> Emphasizing points of agreement rather than differences; giving in to maintain harmony.</a:t>
            </a:r>
            <a:endParaRPr lang="en-US" sz="2400" dirty="0"/>
          </a:p>
          <a:p>
            <a:pPr lvl="1"/>
            <a:r>
              <a:rPr lang="en-GB" sz="2400" b="1" dirty="0"/>
              <a:t>Use When:</a:t>
            </a:r>
            <a:endParaRPr lang="en-US" sz="2400" dirty="0"/>
          </a:p>
          <a:p>
            <a:pPr lvl="2"/>
            <a:r>
              <a:rPr lang="en-GB" sz="2400" dirty="0"/>
              <a:t>Preserving the relationship is more important than winning</a:t>
            </a:r>
            <a:endParaRPr lang="en-US" sz="2400" dirty="0"/>
          </a:p>
          <a:p>
            <a:pPr lvl="2"/>
            <a:r>
              <a:rPr lang="en-GB" sz="2400" dirty="0"/>
              <a:t>The leader is wrong or the issue is more important to the other party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21900651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 smtClean="0"/>
              <a:t>iv. Force/Direct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lvl="1"/>
            <a:r>
              <a:rPr lang="en-GB" sz="2400" b="1" dirty="0"/>
              <a:t>Definition:</a:t>
            </a:r>
            <a:r>
              <a:rPr lang="en-GB" sz="2400" dirty="0"/>
              <a:t> Pushing one’s viewpoint at the expense of others, often using authority; a win-lose approach.</a:t>
            </a:r>
            <a:endParaRPr lang="en-US" sz="2400" dirty="0"/>
          </a:p>
          <a:p>
            <a:pPr lvl="1"/>
            <a:r>
              <a:rPr lang="en-GB" sz="2400" b="1" dirty="0"/>
              <a:t>Use When:</a:t>
            </a:r>
            <a:endParaRPr lang="en-US" sz="2400" dirty="0"/>
          </a:p>
          <a:p>
            <a:pPr lvl="2"/>
            <a:r>
              <a:rPr lang="en-GB" sz="2400" dirty="0"/>
              <a:t>Quick decision-making is needed (e.g., emergencies)</a:t>
            </a:r>
            <a:endParaRPr lang="en-US" sz="2400" dirty="0"/>
          </a:p>
          <a:p>
            <a:pPr lvl="2"/>
            <a:r>
              <a:rPr lang="en-GB" sz="2400" dirty="0"/>
              <a:t>Safety or critical standards are at stake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406968859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/>
            <a:r>
              <a:rPr lang="en-GB" b="1" dirty="0" smtClean="0"/>
              <a:t>v. Collaborate/Problem-Solve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lvl="1"/>
            <a:r>
              <a:rPr lang="en-GB" sz="2400" b="1" dirty="0"/>
              <a:t>Definition:</a:t>
            </a:r>
            <a:r>
              <a:rPr lang="en-GB" sz="2400" dirty="0"/>
              <a:t> Incorporating multiple viewpoints to reach a consensus; a win-win solution.</a:t>
            </a:r>
            <a:endParaRPr lang="en-US" sz="2400" dirty="0"/>
          </a:p>
          <a:p>
            <a:pPr lvl="1"/>
            <a:r>
              <a:rPr lang="en-GB" sz="2400" b="1" dirty="0"/>
              <a:t>Use When:</a:t>
            </a:r>
            <a:endParaRPr lang="en-US" sz="2400" dirty="0"/>
          </a:p>
          <a:p>
            <a:pPr lvl="2"/>
            <a:r>
              <a:rPr lang="en-GB" sz="2400" dirty="0"/>
              <a:t>Long-term relationship matters</a:t>
            </a:r>
            <a:endParaRPr lang="en-US" sz="2400" dirty="0"/>
          </a:p>
          <a:p>
            <a:pPr lvl="2"/>
            <a:r>
              <a:rPr lang="en-GB" sz="2400" dirty="0"/>
              <a:t>Issue is complex and requires creative solutions</a:t>
            </a:r>
            <a:endParaRPr lang="en-US" sz="2400" dirty="0"/>
          </a:p>
          <a:p>
            <a:pPr lvl="2"/>
            <a:r>
              <a:rPr lang="en-GB" sz="2400" dirty="0"/>
              <a:t>All stakeholders must be committed to the outcome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384323047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Choosing the Right Strategy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/>
              <a:t>Factors affecting the choice of conflict-resolution method include:</a:t>
            </a:r>
            <a:endParaRPr lang="en-US" sz="2000" dirty="0"/>
          </a:p>
          <a:p>
            <a:pPr lvl="0"/>
            <a:r>
              <a:rPr lang="en-GB" dirty="0"/>
              <a:t>Importance of the issue</a:t>
            </a:r>
            <a:endParaRPr lang="en-US" sz="2000" dirty="0"/>
          </a:p>
          <a:p>
            <a:pPr lvl="0"/>
            <a:r>
              <a:rPr lang="en-GB" dirty="0"/>
              <a:t>Time pressure</a:t>
            </a:r>
            <a:endParaRPr lang="en-US" sz="2000" dirty="0"/>
          </a:p>
          <a:p>
            <a:pPr lvl="0"/>
            <a:r>
              <a:rPr lang="en-GB" dirty="0"/>
              <a:t>Power dynamics</a:t>
            </a:r>
            <a:endParaRPr lang="en-US" sz="2000" dirty="0"/>
          </a:p>
          <a:p>
            <a:pPr lvl="0"/>
            <a:r>
              <a:rPr lang="en-GB" dirty="0"/>
              <a:t>Relationship importance</a:t>
            </a:r>
            <a:endParaRPr lang="en-US" sz="2000" dirty="0"/>
          </a:p>
          <a:p>
            <a:r>
              <a:rPr lang="en-GB" dirty="0"/>
              <a:t>Long-term vs short-term objectives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429160439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GB" b="1" dirty="0"/>
              <a:t>Discussion Prompts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romanLcPeriod"/>
            </a:pPr>
            <a:r>
              <a:rPr lang="en-GB" dirty="0"/>
              <a:t>“Which conflict strategy do you tend to use personally? Is it effective?”</a:t>
            </a:r>
            <a:endParaRPr lang="en-US" dirty="0"/>
          </a:p>
          <a:p>
            <a:pPr marL="514350" lvl="0" indent="-514350">
              <a:buFont typeface="+mj-lt"/>
              <a:buAutoNum type="romanLcPeriod"/>
            </a:pPr>
            <a:r>
              <a:rPr lang="en-GB" dirty="0"/>
              <a:t>“PMBOK says collaboration leads to a win-win. Why don’t leaders use it more often?”</a:t>
            </a:r>
            <a:endParaRPr lang="en-US" dirty="0"/>
          </a:p>
          <a:p>
            <a:pPr marL="514350" lvl="0" indent="-514350">
              <a:buFont typeface="+mj-lt"/>
              <a:buAutoNum type="romanLcPeriod"/>
            </a:pPr>
            <a:r>
              <a:rPr lang="en-GB" dirty="0"/>
              <a:t>“When is compromise harmful? When is it helpful?”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675594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GB" b="1" dirty="0"/>
              <a:t>SUMMARY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95401" y="2556931"/>
            <a:ext cx="9601196" cy="367761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800" dirty="0" smtClean="0"/>
              <a:t>.</a:t>
            </a:r>
            <a:endParaRPr lang="en-US" sz="800" dirty="0"/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209026"/>
              </p:ext>
            </p:extLst>
          </p:nvPr>
        </p:nvGraphicFramePr>
        <p:xfrm>
          <a:off x="1295401" y="2498724"/>
          <a:ext cx="9589913" cy="37358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8" name="Document" r:id="rId3" imgW="5956042" imgH="1858583" progId="Word.Document.12">
                  <p:embed/>
                </p:oleObj>
              </mc:Choice>
              <mc:Fallback>
                <p:oleObj name="Document" r:id="rId3" imgW="5956042" imgH="1858583" progId="Word.Documen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295401" y="2498724"/>
                        <a:ext cx="9589913" cy="373582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49894593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158</TotalTime>
  <Words>833</Words>
  <Application>Microsoft Office PowerPoint</Application>
  <PresentationFormat>Widescreen</PresentationFormat>
  <Paragraphs>106</Paragraphs>
  <Slides>28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2" baseType="lpstr">
      <vt:lpstr>Arial</vt:lpstr>
      <vt:lpstr>Garamond</vt:lpstr>
      <vt:lpstr>Organic</vt:lpstr>
      <vt:lpstr>Microsoft Word Document</vt:lpstr>
      <vt:lpstr>IDENTIFY BASIC LEADERSHIP SKILLS</vt:lpstr>
      <vt:lpstr>Introduction</vt:lpstr>
      <vt:lpstr>THE ROLE OF MOTIVATION IN LEADING OTHERS</vt:lpstr>
      <vt:lpstr>Definition of Motivation</vt:lpstr>
      <vt:lpstr>Why Motivation Matters in Leadership</vt:lpstr>
      <vt:lpstr>How Leaders Motivate (PMBOK Insights)</vt:lpstr>
      <vt:lpstr>How Leaders Motivate (PMBOK Insights)</vt:lpstr>
      <vt:lpstr>Key Takeaway</vt:lpstr>
      <vt:lpstr>Discussion Prompts</vt:lpstr>
      <vt:lpstr>Discussion Prompts</vt:lpstr>
      <vt:lpstr>THE ROLE OF LISTENING IN LEADERSHIP</vt:lpstr>
      <vt:lpstr>What PMBOK Says About Listening</vt:lpstr>
      <vt:lpstr>Active Listening and Effective Leadership</vt:lpstr>
      <vt:lpstr>Active Listening and Effective Leadership</vt:lpstr>
      <vt:lpstr>Active Listening Behaviours</vt:lpstr>
      <vt:lpstr>Active Listening Behaviours</vt:lpstr>
      <vt:lpstr>Discussion Prompts</vt:lpstr>
      <vt:lpstr>Discussion Prompts</vt:lpstr>
      <vt:lpstr>BASIC CONFLICT-MANAGEMENT STRATEGIES</vt:lpstr>
      <vt:lpstr>Conflict Management</vt:lpstr>
      <vt:lpstr>Five PMBOK Conflict-Resolution Techniques</vt:lpstr>
      <vt:lpstr>i. Withdraw/Avoid</vt:lpstr>
      <vt:lpstr>ii. Smooth/Accommodate</vt:lpstr>
      <vt:lpstr>iv. Force/Direct</vt:lpstr>
      <vt:lpstr>v. Collaborate/Problem-Solve</vt:lpstr>
      <vt:lpstr>Choosing the Right Strategy</vt:lpstr>
      <vt:lpstr>Discussion Prompts</vt:lpstr>
      <vt:lpstr>SUMMARY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=</dc:title>
  <dc:creator>Microsoft account</dc:creator>
  <cp:lastModifiedBy>Microsoft account</cp:lastModifiedBy>
  <cp:revision>12</cp:revision>
  <dcterms:created xsi:type="dcterms:W3CDTF">2025-11-23T21:13:23Z</dcterms:created>
  <dcterms:modified xsi:type="dcterms:W3CDTF">2025-11-23T23:51:29Z</dcterms:modified>
</cp:coreProperties>
</file>