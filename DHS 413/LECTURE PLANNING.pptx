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66" r:id="rId3"/>
    <p:sldId id="6229" r:id="rId4"/>
    <p:sldId id="6221" r:id="rId5"/>
    <p:sldId id="6238" r:id="rId6"/>
    <p:sldId id="6250" r:id="rId7"/>
    <p:sldId id="6260" r:id="rId8"/>
    <p:sldId id="6200" r:id="rId9"/>
    <p:sldId id="6201" r:id="rId10"/>
    <p:sldId id="6232" r:id="rId11"/>
    <p:sldId id="6202" r:id="rId13"/>
    <p:sldId id="6203" r:id="rId14"/>
    <p:sldId id="6264" r:id="rId15"/>
    <p:sldId id="6261" r:id="rId16"/>
    <p:sldId id="6263" r:id="rId17"/>
    <p:sldId id="6262" r:id="rId18"/>
    <p:sldId id="6234" r:id="rId19"/>
    <p:sldId id="6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3" autoAdjust="0"/>
    <p:restoredTop sz="94660"/>
  </p:normalViewPr>
  <p:slideViewPr>
    <p:cSldViewPr snapToGrid="0" showGuides="1">
      <p:cViewPr varScale="1">
        <p:scale>
          <a:sx n="85" d="100"/>
          <a:sy n="85" d="100"/>
        </p:scale>
        <p:origin x="336" y="84"/>
      </p:cViewPr>
      <p:guideLst>
        <p:guide orient="horz" pos="2160"/>
        <p:guide pos="3840"/>
      </p:guideLst>
    </p:cSldViewPr>
  </p:slideViewPr>
  <p:notesTextViewPr>
    <p:cViewPr>
      <p:scale>
        <a:sx n="1" d="1"/>
        <a:sy n="1" d="1"/>
      </p:scale>
      <p:origin x="0" y="0"/>
    </p:cViewPr>
  </p:notesTextViewPr>
  <p:sorterViewPr>
    <p:cViewPr>
      <p:scale>
        <a:sx n="100" d="100"/>
        <a:sy n="100" d="100"/>
      </p:scale>
      <p:origin x="0" y="981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2D4B9-F4B5-4337-A3E9-E4B73A033AA2}" type="datetimeFigureOut">
              <a:rPr lang="x-none" smtClean="0"/>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29A665-9C52-41F4-B40D-1A983D2C0417}" type="slidenum">
              <a:rPr lang="x-none" smtClean="0"/>
            </a:fld>
            <a:endParaRPr lang="x-non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034249-3CC6-4568-BC5D-8238B8560D5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3023A5-3519-432C-86E6-736807A1BF6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97F9DE9-0176-4232-90F5-7CEFD5A2742E}"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97F9DE9-0176-4232-90F5-7CEFD5A2742E}"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97F9DE9-0176-4232-90F5-7CEFD5A2742E}"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97F9DE9-0176-4232-90F5-7CEFD5A2742E}"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97F9DE9-0176-4232-90F5-7CEFD5A2742E}" type="datetimeFigureOut">
              <a:rPr lang="x-none" smtClean="0"/>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97F9DE9-0176-4232-90F5-7CEFD5A2742E}" type="datetimeFigureOut">
              <a:rPr lang="x-none" smtClean="0"/>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7F9DE9-0176-4232-90F5-7CEFD5A2742E}" type="datetimeFigureOut">
              <a:rPr lang="x-none" smtClean="0"/>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97F9DE9-0176-4232-90F5-7CEFD5A2742E}"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97F9DE9-0176-4232-90F5-7CEFD5A2742E}"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97F9DE9-0176-4232-90F5-7CEFD5A2742E}"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97F9DE9-0176-4232-90F5-7CEFD5A2742E}"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EA25AC8-EF13-4E35-A362-B896E37E3AA9}" type="slidenum">
              <a:rPr lang="x-none" smtClean="0"/>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endParaRPr lang="en-US"/>
          </a:p>
        </p:txBody>
      </p:sp>
      <p:sp>
        <p:nvSpPr>
          <p:cNvPr id="10" name="Subtitle 2"/>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3" name="Date Placeholder 2"/>
          <p:cNvSpPr>
            <a:spLocks noGrp="1"/>
          </p:cNvSpPr>
          <p:nvPr>
            <p:ph type="dt" sz="half" idx="10"/>
          </p:nvPr>
        </p:nvSpPr>
        <p:spPr>
          <a:xfrm>
            <a:off x="4676774" y="6356350"/>
            <a:ext cx="1695450" cy="365125"/>
          </a:xfrm>
        </p:spPr>
        <p:txBody>
          <a:bodyPr/>
          <a:lstStyle>
            <a:lvl1pPr>
              <a:defRPr sz="900"/>
            </a:lvl1pPr>
          </a:lstStyle>
          <a:p>
            <a:r>
              <a:rPr lang="en-US" dirty="0"/>
              <a:t>20XX</a:t>
            </a:r>
            <a:endParaRPr lang="en-US" dirty="0"/>
          </a:p>
        </p:txBody>
      </p:sp>
      <p:sp>
        <p:nvSpPr>
          <p:cNvPr id="4" name="Footer Placeholder 3"/>
          <p:cNvSpPr>
            <a:spLocks noGrp="1"/>
          </p:cNvSpPr>
          <p:nvPr>
            <p:ph type="ftr" sz="quarter" idx="11"/>
          </p:nvPr>
        </p:nvSpPr>
        <p:spPr>
          <a:xfrm>
            <a:off x="6743699" y="6356350"/>
            <a:ext cx="2543175" cy="365125"/>
          </a:xfrm>
        </p:spPr>
        <p:txBody>
          <a:bodyPr/>
          <a:lstStyle>
            <a:lvl1pPr>
              <a:defRPr sz="900"/>
            </a:lvl1pPr>
          </a:lstStyle>
          <a:p>
            <a:r>
              <a:rPr lang="en-US" dirty="0"/>
              <a:t>PRESENTATION TITLE</a:t>
            </a:r>
            <a:endParaRPr lang="en-US" dirty="0"/>
          </a:p>
        </p:txBody>
      </p:sp>
      <p:sp>
        <p:nvSpPr>
          <p:cNvPr id="5" name="Slide Number Placeholder 4"/>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fld>
            <a:endParaRPr lang="en-US" dirty="0"/>
          </a:p>
        </p:txBody>
      </p:sp>
      <p:cxnSp>
        <p:nvCxnSpPr>
          <p:cNvPr id="9" name="Straight Connector 8"/>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7F9DE9-0176-4232-90F5-7CEFD5A2742E}" type="datetimeFigureOut">
              <a:rPr lang="x-none" smtClean="0"/>
            </a:fld>
            <a:endParaRPr 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A25AC8-EF13-4E35-A362-B896E37E3AA9}" type="slidenum">
              <a:rPr lang="x-none" smtClean="0"/>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google.com/search?client=firefox-b-d&amp;q=Critical+Path&amp;mstk=AUtExfDsDYyqtjpcyhSNbL_bEBkelY2kYOKrBVec1-0anGP5n4NJmHgiA6D-iamyPpg6CAVgoJt1csQTkBfz2cdf8AkqxCX2RKt1ltBt3q7URyP8DTS5i85lXqgl1NvGC2kn6duSp6Rhl4nwkTQxBLWNJhc0FW8LEai8GmrwCK6llfP63yk&amp;csui=3&amp;ved=2ahUKEwj9oPe54ZeSAxUqUkEAHdQLKzsQgK4QegQIAxAC"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7378" y="538778"/>
            <a:ext cx="11243733" cy="6350000"/>
          </a:xfrm>
          <a:prstGeom prst="rect">
            <a:avLst/>
          </a:prstGeom>
        </p:spPr>
      </p:pic>
      <p:sp>
        <p:nvSpPr>
          <p:cNvPr id="4" name="TextBox 3"/>
          <p:cNvSpPr txBox="1"/>
          <p:nvPr/>
        </p:nvSpPr>
        <p:spPr>
          <a:xfrm>
            <a:off x="1885244" y="138668"/>
            <a:ext cx="7010400" cy="400110"/>
          </a:xfrm>
          <a:prstGeom prst="rect">
            <a:avLst/>
          </a:prstGeom>
          <a:noFill/>
        </p:spPr>
        <p:txBody>
          <a:bodyPr wrap="square">
            <a:spAutoFit/>
          </a:bodyPr>
          <a:lstStyle/>
          <a:p>
            <a:r>
              <a:rPr lang="en-US" sz="2000" dirty="0">
                <a:solidFill>
                  <a:srgbClr val="FF0000"/>
                </a:solidFill>
              </a:rPr>
              <a:t>COURSE CODE: 413</a:t>
            </a:r>
            <a:endParaRPr lang="en-US" sz="2000" dirty="0"/>
          </a:p>
        </p:txBody>
      </p:sp>
    </p:spTree>
  </p:cSld>
  <p:clrMapOvr>
    <a:masterClrMapping/>
  </p:clrMapOvr>
  <mc:AlternateContent xmlns:mc="http://schemas.openxmlformats.org/markup-compatibility/2006">
    <mc:Choice xmlns:p14="http://schemas.microsoft.com/office/powerpoint/2010/main" Requires="p14">
      <p:transition spd="slow" p14:dur="2000" advTm="3118"/>
    </mc:Choice>
    <mc:Fallback>
      <p:transition spd="slow" advTm="31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01185" y="0"/>
            <a:ext cx="10153650" cy="523220"/>
          </a:xfrm>
          <a:prstGeom prst="rect">
            <a:avLst/>
          </a:prstGeom>
        </p:spPr>
        <p:txBody>
          <a:bodyPr wrap="square">
            <a:spAutoFit/>
          </a:bodyPr>
          <a:lstStyle/>
          <a:p>
            <a:pPr algn="ctr"/>
            <a:r>
              <a:rPr lang="en-US" sz="2800" b="1" dirty="0">
                <a:latin typeface="Gill Sans MT" pitchFamily="34" charset="0"/>
              </a:rPr>
              <a:t>PROJECT SCHEDULE MANAGEMENT </a:t>
            </a:r>
            <a:endParaRPr lang="en-US" sz="2800" b="1" dirty="0">
              <a:latin typeface="Gill Sans MT" pitchFamily="34" charset="0"/>
            </a:endParaRPr>
          </a:p>
        </p:txBody>
      </p:sp>
      <p:pic>
        <p:nvPicPr>
          <p:cNvPr id="5" name="Picture 4"/>
          <p:cNvPicPr>
            <a:picLocks noChangeAspect="1"/>
          </p:cNvPicPr>
          <p:nvPr/>
        </p:nvPicPr>
        <p:blipFill>
          <a:blip r:embed="rId1"/>
          <a:stretch>
            <a:fillRect/>
          </a:stretch>
        </p:blipFill>
        <p:spPr>
          <a:xfrm>
            <a:off x="1201185" y="1828801"/>
            <a:ext cx="9715171" cy="5125156"/>
          </a:xfrm>
          <a:prstGeom prst="rect">
            <a:avLst/>
          </a:prstGeom>
        </p:spPr>
      </p:pic>
      <p:sp>
        <p:nvSpPr>
          <p:cNvPr id="2" name="TextBox 1"/>
          <p:cNvSpPr txBox="1"/>
          <p:nvPr/>
        </p:nvSpPr>
        <p:spPr>
          <a:xfrm>
            <a:off x="383822" y="523220"/>
            <a:ext cx="11627556" cy="1643527"/>
          </a:xfrm>
          <a:prstGeom prst="rect">
            <a:avLst/>
          </a:prstGeom>
          <a:noFill/>
        </p:spPr>
        <p:txBody>
          <a:bodyPr wrap="square" rtlCol="0">
            <a:spAutoFit/>
          </a:bodyPr>
          <a:lstStyle/>
          <a:p>
            <a:pPr marL="0" marR="0">
              <a:lnSpc>
                <a:spcPct val="115000"/>
              </a:lnSpc>
              <a:spcBef>
                <a:spcPts val="0"/>
              </a:spcBef>
              <a:spcAft>
                <a:spcPts val="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Project scheduling</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is the process of defining project activities, estimating their duration, sequencing them logically, and assigning resources to ensure the project is completed within the planned time frame. </a:t>
            </a: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 well-structured schedule helps the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project team stay on track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monitors progress, and identifies potential delays before they become critical issues.</a:t>
            </a:r>
            <a:endParaRPr lang="en-US" sz="1800" kern="100" dirty="0">
              <a:effectLst/>
              <a:latin typeface="Aptos"/>
              <a:ea typeface="Aptos"/>
              <a:cs typeface="Times New Roman" panose="02020603050405020304" pitchFamily="18" charset="0"/>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on document with pen"/>
          <p:cNvPicPr>
            <a:picLocks noChangeAspect="1"/>
          </p:cNvPicPr>
          <p:nvPr/>
        </p:nvPicPr>
        <p:blipFill rotWithShape="1">
          <a:blip r:embed="rId1"/>
          <a:srcRect l="15628" r="-1" b="-1"/>
          <a:stretch>
            <a:fillRect/>
          </a:stretch>
        </p:blipFill>
        <p:spPr>
          <a:xfrm>
            <a:off x="20" y="-45146"/>
            <a:ext cx="8668492" cy="6857990"/>
          </a:xfrm>
          <a:prstGeom prst="rect">
            <a:avLst/>
          </a:prstGeom>
        </p:spPr>
      </p:pic>
      <p:sp>
        <p:nvSpPr>
          <p:cNvPr id="11" name="Rectangle 10"/>
          <p:cNvSpPr>
            <a:spLocks noGrp="1" noRot="1" noChangeAspect="1" noMove="1" noResize="1" noEditPoints="1" noAdjustHandles="1" noChangeArrowheads="1" noChangeShapeType="1" noTextEdit="1"/>
          </p:cNvSpPr>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a:spLocks noGrp="1" noRot="1" noChangeAspect="1" noMove="1" noResize="1" noEditPoints="1" noAdjustHandles="1" noChangeArrowheads="1" noChangeShapeType="1" noTextEdit="1"/>
          </p:cNvSpPr>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p:cNvSpPr>
            <a:spLocks noGrp="1" noRot="1" noChangeAspect="1" noMove="1" noResize="1" noEditPoints="1" noAdjustHandles="1" noChangeArrowheads="1" noChangeShapeType="1" noTextEdit="1"/>
          </p:cNvSpPr>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8353878" y="1259063"/>
            <a:ext cx="3438906" cy="1267376"/>
          </a:xfrm>
        </p:spPr>
        <p:txBody>
          <a:bodyPr anchor="t">
            <a:normAutofit fontScale="92500"/>
          </a:bodyPr>
          <a:lstStyle/>
          <a:p>
            <a:pPr marL="0" lvl="0" indent="0" algn="ctr">
              <a:lnSpc>
                <a:spcPct val="120000"/>
              </a:lnSpc>
              <a:buNone/>
            </a:pPr>
            <a:r>
              <a:rPr lang="en-US" sz="1700" b="1" dirty="0">
                <a:solidFill>
                  <a:schemeClr val="bg1"/>
                </a:solidFill>
                <a:effectLst>
                  <a:outerShdw blurRad="38100" dist="38100" dir="2700000" algn="tl">
                    <a:srgbClr val="000000">
                      <a:alpha val="43137"/>
                    </a:srgbClr>
                  </a:outerShdw>
                </a:effectLst>
                <a:latin typeface="Gill Sans MT" pitchFamily="34" charset="0"/>
              </a:rPr>
              <a:t> </a:t>
            </a:r>
            <a:r>
              <a:rPr lang="en-US" sz="3600" b="1" dirty="0">
                <a:solidFill>
                  <a:schemeClr val="bg1"/>
                </a:solidFill>
              </a:rPr>
              <a:t>PLAN SCHEDULE MANAGEMENT</a:t>
            </a:r>
            <a:endParaRPr lang="en-US" sz="3600" b="1" dirty="0">
              <a:solidFill>
                <a:schemeClr val="bg1"/>
              </a:solidFill>
            </a:endParaRPr>
          </a:p>
        </p:txBody>
      </p:sp>
      <p:sp>
        <p:nvSpPr>
          <p:cNvPr id="2" name="Rectangle 1"/>
          <p:cNvSpPr/>
          <p:nvPr/>
        </p:nvSpPr>
        <p:spPr>
          <a:xfrm>
            <a:off x="8252254" y="2644175"/>
            <a:ext cx="3642154" cy="2308324"/>
          </a:xfrm>
          <a:prstGeom prst="rect">
            <a:avLst/>
          </a:prstGeom>
        </p:spPr>
        <p:txBody>
          <a:bodyPr wrap="square">
            <a:spAutoFit/>
          </a:bodyPr>
          <a:lstStyle/>
          <a:p>
            <a:pPr lvl="0" algn="ctr">
              <a:lnSpc>
                <a:spcPct val="100000"/>
              </a:lnSpc>
            </a:pPr>
            <a:r>
              <a:rPr lang="en-US" sz="2400" i="1" dirty="0">
                <a:solidFill>
                  <a:srgbClr val="FFFF00"/>
                </a:solidFill>
                <a:latin typeface="Gill Sans MT" pitchFamily="34" charset="0"/>
              </a:rPr>
              <a:t>Schedule planning Management covers the processes of defining how the project's schedule will be developed, executed, and controlled. </a:t>
            </a:r>
            <a:endParaRPr lang="en-US" sz="2400" i="1" dirty="0">
              <a:solidFill>
                <a:srgbClr val="FFFF00"/>
              </a:solidFill>
              <a:latin typeface="Gill Sans MT" pitchFamily="34" charset="0"/>
            </a:endParaRPr>
          </a:p>
        </p:txBody>
      </p:sp>
      <p:sp>
        <p:nvSpPr>
          <p:cNvPr id="6" name="Rectangle 5"/>
          <p:cNvSpPr/>
          <p:nvPr/>
        </p:nvSpPr>
        <p:spPr>
          <a:xfrm>
            <a:off x="1217930" y="2677795"/>
            <a:ext cx="6096000" cy="3596005"/>
          </a:xfrm>
          <a:prstGeom prst="rect">
            <a:avLst/>
          </a:prstGeom>
          <a:solidFill>
            <a:schemeClr val="bg1"/>
          </a:solidFill>
        </p:spPr>
        <p:txBody>
          <a:bodyPr>
            <a:noAutofit/>
          </a:bodyPr>
          <a:lstStyle/>
          <a:p>
            <a:pPr lvl="0" algn="just">
              <a:lnSpc>
                <a:spcPct val="100000"/>
              </a:lnSpc>
            </a:pPr>
            <a:r>
              <a:rPr lang="en-US" sz="3200" i="1" dirty="0">
                <a:latin typeface="Gill Sans MT" pitchFamily="34" charset="0"/>
              </a:rPr>
              <a:t>The main objective of Schedule planning Management is to establish the guidelines, methods, and tools that will be used to create and manage the project schedule effectively. </a:t>
            </a:r>
            <a:endParaRPr lang="en-US" sz="3200" i="1" dirty="0">
              <a:latin typeface="Gill Sans MT"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0" y="265043"/>
            <a:ext cx="11714469" cy="6440557"/>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 MANAGEMENT PLAN</a:t>
            </a:r>
            <a:endParaRPr lang="en-US" dirty="0"/>
          </a:p>
        </p:txBody>
      </p:sp>
      <p:pic>
        <p:nvPicPr>
          <p:cNvPr id="4" name="Content Placeholder 3"/>
          <p:cNvPicPr>
            <a:picLocks noGrp="1"/>
          </p:cNvPicPr>
          <p:nvPr>
            <p:ph idx="1"/>
          </p:nvPr>
        </p:nvPicPr>
        <p:blipFill>
          <a:blip r:embed="rId1"/>
          <a:stretch>
            <a:fillRect/>
          </a:stretch>
        </p:blipFill>
        <p:spPr>
          <a:xfrm>
            <a:off x="618904" y="1339906"/>
            <a:ext cx="10952922" cy="47707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889" y="87730"/>
            <a:ext cx="11207044" cy="1325563"/>
          </a:xfrm>
        </p:spPr>
        <p:txBody>
          <a:bodyPr/>
          <a:lstStyle/>
          <a:p>
            <a:r>
              <a:rPr lang="en-US" dirty="0"/>
              <a:t>KEY TERMINOLOGIES IN PROJECT SCHEDULING</a:t>
            </a:r>
            <a:endParaRPr lang="en-US" dirty="0"/>
          </a:p>
        </p:txBody>
      </p:sp>
      <p:graphicFrame>
        <p:nvGraphicFramePr>
          <p:cNvPr id="6" name="Content Placeholder 5"/>
          <p:cNvGraphicFramePr>
            <a:graphicFrameLocks noGrp="1"/>
          </p:cNvGraphicFramePr>
          <p:nvPr>
            <p:ph idx="1"/>
          </p:nvPr>
        </p:nvGraphicFramePr>
        <p:xfrm>
          <a:off x="548922" y="1192283"/>
          <a:ext cx="11315700" cy="5535013"/>
        </p:xfrm>
        <a:graphic>
          <a:graphicData uri="http://schemas.openxmlformats.org/drawingml/2006/table">
            <a:tbl>
              <a:tblPr firstRow="1" firstCol="1" bandRow="1">
                <a:tableStyleId>{5C22544A-7EE6-4342-B048-85BDC9FD1C3A}</a:tableStyleId>
              </a:tblPr>
              <a:tblGrid>
                <a:gridCol w="3653458"/>
                <a:gridCol w="7662242"/>
              </a:tblGrid>
              <a:tr h="293231">
                <a:tc>
                  <a:txBody>
                    <a:bodyPr/>
                    <a:lstStyle/>
                    <a:p>
                      <a:pPr marL="0" marR="0" algn="ctr">
                        <a:lnSpc>
                          <a:spcPct val="115000"/>
                        </a:lnSpc>
                        <a:spcBef>
                          <a:spcPts val="0"/>
                        </a:spcBef>
                        <a:spcAft>
                          <a:spcPts val="0"/>
                        </a:spcAft>
                      </a:pPr>
                      <a:r>
                        <a:rPr lang="en-US" sz="1200" kern="0" dirty="0">
                          <a:effectLst/>
                        </a:rPr>
                        <a:t>Term</a:t>
                      </a:r>
                      <a:endParaRPr lang="en-US" sz="1200" kern="100" dirty="0">
                        <a:effectLst/>
                        <a:latin typeface="Aptos"/>
                        <a:ea typeface="Aptos"/>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Definition</a:t>
                      </a:r>
                      <a:endParaRPr lang="en-US" sz="12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Project Schedule</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 detailed plan that outlines start and finish dates for project activities.</a:t>
                      </a:r>
                      <a:endParaRPr lang="en-US" sz="1600" kern="100">
                        <a:effectLst/>
                        <a:latin typeface="Aptos"/>
                        <a:ea typeface="Aptos"/>
                        <a:cs typeface="Times New Roman" panose="02020603050405020304" pitchFamily="18" charset="0"/>
                      </a:endParaRPr>
                    </a:p>
                  </a:txBody>
                  <a:tcPr marL="9525" marR="9525" marT="9525" marB="9525" anchor="ctr"/>
                </a:tc>
              </a:tr>
              <a:tr h="577368">
                <a:tc>
                  <a:txBody>
                    <a:bodyPr/>
                    <a:lstStyle/>
                    <a:p>
                      <a:pPr marL="0" marR="0">
                        <a:lnSpc>
                          <a:spcPct val="115000"/>
                        </a:lnSpc>
                        <a:spcBef>
                          <a:spcPts val="0"/>
                        </a:spcBef>
                        <a:spcAft>
                          <a:spcPts val="0"/>
                        </a:spcAft>
                      </a:pPr>
                      <a:r>
                        <a:rPr lang="en-US" sz="1600" kern="0">
                          <a:effectLst/>
                        </a:rPr>
                        <a:t>Schedule Baseline</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The approved version of the project schedule, used as a reference to measure progress.</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Activity</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 specific task or work package that needs to be completed as part of the project.</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Activity List</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 document that includes all activities needed to complete the project.</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Activity Duration</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The estimated time required to complete a specific task.</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Predecessor Activity</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An activity that must be completed before another activity can start.</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Successor Activity</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An activity that follows another activity in the project schedule.</a:t>
                      </a:r>
                      <a:endParaRPr lang="en-US" sz="1600" kern="100">
                        <a:effectLst/>
                        <a:latin typeface="Aptos"/>
                        <a:ea typeface="Aptos"/>
                        <a:cs typeface="Times New Roman" panose="02020603050405020304" pitchFamily="18" charset="0"/>
                      </a:endParaRPr>
                    </a:p>
                  </a:txBody>
                  <a:tcPr marL="9525" marR="9525" marT="9525" marB="9525" anchor="ctr"/>
                </a:tc>
              </a:tr>
              <a:tr h="577368">
                <a:tc>
                  <a:txBody>
                    <a:bodyPr/>
                    <a:lstStyle/>
                    <a:p>
                      <a:pPr marL="0" marR="0">
                        <a:lnSpc>
                          <a:spcPct val="115000"/>
                        </a:lnSpc>
                        <a:spcBef>
                          <a:spcPts val="0"/>
                        </a:spcBef>
                        <a:spcAft>
                          <a:spcPts val="0"/>
                        </a:spcAft>
                      </a:pPr>
                      <a:r>
                        <a:rPr lang="en-US" sz="1600" kern="0">
                          <a:effectLst/>
                        </a:rPr>
                        <a:t>Critical Path</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The longest sequence of dependent activities that determine the shortest possible project duration.</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Float (Slack)</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The amount of time an activity can be delayed without delaying the overall project.</a:t>
                      </a:r>
                      <a:endParaRPr lang="en-US" sz="1600" kern="100">
                        <a:effectLst/>
                        <a:latin typeface="Aptos"/>
                        <a:ea typeface="Aptos"/>
                        <a:cs typeface="Times New Roman" panose="02020603050405020304" pitchFamily="18" charset="0"/>
                      </a:endParaRPr>
                    </a:p>
                  </a:txBody>
                  <a:tcPr marL="9525" marR="9525" marT="9525" marB="9525" anchor="ctr"/>
                </a:tc>
              </a:tr>
              <a:tr h="577368">
                <a:tc>
                  <a:txBody>
                    <a:bodyPr/>
                    <a:lstStyle/>
                    <a:p>
                      <a:pPr marL="0" marR="0">
                        <a:lnSpc>
                          <a:spcPct val="115000"/>
                        </a:lnSpc>
                        <a:spcBef>
                          <a:spcPts val="0"/>
                        </a:spcBef>
                        <a:spcAft>
                          <a:spcPts val="0"/>
                        </a:spcAft>
                      </a:pPr>
                      <a:r>
                        <a:rPr lang="en-US" sz="1600" kern="0">
                          <a:effectLst/>
                        </a:rPr>
                        <a:t>Leads and Lags</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Lead: An activity starts before its predecessor finishes. Lag: A delay between dependent activities.</a:t>
                      </a:r>
                      <a:endParaRPr lang="en-US" sz="1600" kern="100">
                        <a:effectLst/>
                        <a:latin typeface="Aptos"/>
                        <a:ea typeface="Aptos"/>
                        <a:cs typeface="Times New Roman" panose="02020603050405020304" pitchFamily="18" charset="0"/>
                      </a:endParaRPr>
                    </a:p>
                  </a:txBody>
                  <a:tcPr marL="9525" marR="9525" marT="9525" marB="9525" anchor="ctr"/>
                </a:tc>
              </a:tr>
              <a:tr h="577368">
                <a:tc>
                  <a:txBody>
                    <a:bodyPr/>
                    <a:lstStyle/>
                    <a:p>
                      <a:pPr marL="0" marR="0">
                        <a:lnSpc>
                          <a:spcPct val="115000"/>
                        </a:lnSpc>
                        <a:spcBef>
                          <a:spcPts val="0"/>
                        </a:spcBef>
                        <a:spcAft>
                          <a:spcPts val="0"/>
                        </a:spcAft>
                      </a:pPr>
                      <a:r>
                        <a:rPr lang="en-US" sz="1600" kern="0">
                          <a:effectLst/>
                        </a:rPr>
                        <a:t>Milestone</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 significant event or achievement in the project schedule (e.g., project phases, approvals).</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Gantt Chart</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A visual representation of the project schedule showing activities over time.</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Schedule Compression</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a:effectLst/>
                        </a:rPr>
                        <a:t>Techniques like crashing or fast-tracking used to shorten project duration.</a:t>
                      </a:r>
                      <a:endParaRPr lang="en-US" sz="1600" kern="100">
                        <a:effectLst/>
                        <a:latin typeface="Aptos"/>
                        <a:ea typeface="Aptos"/>
                        <a:cs typeface="Times New Roman" panose="02020603050405020304" pitchFamily="18" charset="0"/>
                      </a:endParaRPr>
                    </a:p>
                  </a:txBody>
                  <a:tcPr marL="9525" marR="9525" marT="9525" marB="9525" anchor="ctr"/>
                </a:tc>
              </a:tr>
              <a:tr h="293231">
                <a:tc>
                  <a:txBody>
                    <a:bodyPr/>
                    <a:lstStyle/>
                    <a:p>
                      <a:pPr marL="0" marR="0">
                        <a:lnSpc>
                          <a:spcPct val="115000"/>
                        </a:lnSpc>
                        <a:spcBef>
                          <a:spcPts val="0"/>
                        </a:spcBef>
                        <a:spcAft>
                          <a:spcPts val="0"/>
                        </a:spcAft>
                      </a:pPr>
                      <a:r>
                        <a:rPr lang="en-US" sz="1600" kern="0">
                          <a:effectLst/>
                        </a:rPr>
                        <a:t>Earned Value Management (EVM)</a:t>
                      </a:r>
                      <a:endParaRPr lang="en-US" sz="1600" kern="100">
                        <a:effectLst/>
                        <a:latin typeface="Aptos"/>
                        <a:ea typeface="Aptos"/>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600" kern="0" dirty="0">
                          <a:effectLst/>
                        </a:rPr>
                        <a:t>A method to measure project performance against the schedule and cost baselines.</a:t>
                      </a:r>
                      <a:endParaRPr lang="en-US" sz="1600" kern="100" dirty="0">
                        <a:effectLst/>
                        <a:latin typeface="Aptos"/>
                        <a:ea typeface="Aptos"/>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94841" y="5563106"/>
            <a:ext cx="6760884" cy="40011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marL="514350" indent="-514350">
              <a:buFont typeface="+mj-lt"/>
              <a:buAutoNum type="arabicPeriod" startAt="4"/>
            </a:pPr>
            <a:r>
              <a:rPr lang="en-US" sz="2000" b="1" dirty="0">
                <a:effectLst>
                  <a:outerShdw blurRad="38100" dist="38100" dir="2700000" algn="tl">
                    <a:srgbClr val="000000">
                      <a:alpha val="43137"/>
                    </a:srgbClr>
                  </a:outerShdw>
                </a:effectLst>
              </a:rPr>
              <a:t>START-TO-FINISH (SF)</a:t>
            </a:r>
            <a:r>
              <a:rPr lang="en-US" sz="2000" dirty="0"/>
              <a:t> </a:t>
            </a:r>
            <a:r>
              <a:rPr lang="en-US" sz="2000" b="1" dirty="0"/>
              <a:t>DEPENDECY</a:t>
            </a:r>
            <a:r>
              <a:rPr lang="en-US" sz="2000" dirty="0"/>
              <a:t> </a:t>
            </a:r>
            <a:endParaRPr lang="en-US" sz="2000" dirty="0">
              <a:solidFill>
                <a:srgbClr val="FF0000"/>
              </a:solidFill>
              <a:effectLst>
                <a:outerShdw blurRad="38100" dist="38100" dir="2700000" algn="tl">
                  <a:srgbClr val="000000">
                    <a:alpha val="43137"/>
                  </a:srgbClr>
                </a:outerShdw>
              </a:effectLst>
            </a:endParaRPr>
          </a:p>
        </p:txBody>
      </p:sp>
      <p:sp>
        <p:nvSpPr>
          <p:cNvPr id="22" name="Rectangle 21"/>
          <p:cNvSpPr/>
          <p:nvPr/>
        </p:nvSpPr>
        <p:spPr>
          <a:xfrm>
            <a:off x="0" y="4382189"/>
            <a:ext cx="6787485" cy="40011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pPr marL="514350" indent="-514350">
              <a:buFont typeface="+mj-lt"/>
              <a:buAutoNum type="arabicPeriod" startAt="3"/>
            </a:pPr>
            <a:r>
              <a:rPr lang="en-US" sz="2000" b="1" dirty="0">
                <a:solidFill>
                  <a:schemeClr val="bg1"/>
                </a:solidFill>
                <a:effectLst>
                  <a:outerShdw blurRad="38100" dist="38100" dir="2700000" algn="tl">
                    <a:srgbClr val="000000">
                      <a:alpha val="43137"/>
                    </a:srgbClr>
                  </a:outerShdw>
                </a:effectLst>
              </a:rPr>
              <a:t>FINISH-TO-FINISH (FF)  </a:t>
            </a:r>
            <a:r>
              <a:rPr lang="en-US" sz="2000" b="1" dirty="0">
                <a:solidFill>
                  <a:schemeClr val="bg1"/>
                </a:solidFill>
              </a:rPr>
              <a:t>DEPENDECY</a:t>
            </a:r>
            <a:endParaRPr lang="en-US" sz="2000" dirty="0">
              <a:solidFill>
                <a:schemeClr val="bg1"/>
              </a:solidFill>
              <a:effectLst>
                <a:outerShdw blurRad="38100" dist="38100" dir="2700000" algn="tl">
                  <a:srgbClr val="000000">
                    <a:alpha val="43137"/>
                  </a:srgbClr>
                </a:outerShdw>
              </a:effectLst>
            </a:endParaRPr>
          </a:p>
        </p:txBody>
      </p:sp>
      <p:sp>
        <p:nvSpPr>
          <p:cNvPr id="6" name="Rectangle 5"/>
          <p:cNvSpPr/>
          <p:nvPr/>
        </p:nvSpPr>
        <p:spPr>
          <a:xfrm>
            <a:off x="-1" y="3007670"/>
            <a:ext cx="5131559" cy="40011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marL="514350" indent="-514350">
              <a:buFont typeface="+mj-lt"/>
              <a:buAutoNum type="arabicPeriod" startAt="2"/>
            </a:pPr>
            <a:r>
              <a:rPr lang="en-US" sz="2000" b="1" dirty="0">
                <a:solidFill>
                  <a:schemeClr val="bg1"/>
                </a:solidFill>
                <a:effectLst>
                  <a:outerShdw blurRad="38100" dist="38100" dir="2700000" algn="tl">
                    <a:srgbClr val="000000">
                      <a:alpha val="43137"/>
                    </a:srgbClr>
                  </a:outerShdw>
                </a:effectLst>
              </a:rPr>
              <a:t>START-TO-START (SS) </a:t>
            </a:r>
            <a:r>
              <a:rPr lang="en-US" sz="2000" dirty="0">
                <a:solidFill>
                  <a:schemeClr val="bg1"/>
                </a:solidFill>
              </a:rPr>
              <a:t>   </a:t>
            </a:r>
            <a:r>
              <a:rPr lang="en-US" sz="2000" b="1" dirty="0">
                <a:solidFill>
                  <a:schemeClr val="bg1"/>
                </a:solidFill>
              </a:rPr>
              <a:t>DEPENDECY</a:t>
            </a:r>
            <a:endParaRPr lang="en-US" sz="2000" dirty="0">
              <a:solidFill>
                <a:schemeClr val="bg1"/>
              </a:solidFill>
              <a:effectLst>
                <a:outerShdw blurRad="38100" dist="38100" dir="2700000" algn="tl">
                  <a:srgbClr val="000000">
                    <a:alpha val="43137"/>
                  </a:srgbClr>
                </a:outerShdw>
              </a:effectLst>
            </a:endParaRPr>
          </a:p>
        </p:txBody>
      </p:sp>
      <p:sp>
        <p:nvSpPr>
          <p:cNvPr id="4" name="Rectangle 3"/>
          <p:cNvSpPr/>
          <p:nvPr/>
        </p:nvSpPr>
        <p:spPr>
          <a:xfrm>
            <a:off x="0" y="1386754"/>
            <a:ext cx="4913194" cy="400110"/>
          </a:xfrm>
          <a:prstGeom prst="rect">
            <a:avLst/>
          </a:prstGeom>
          <a:solidFill>
            <a:schemeClr val="accent2">
              <a:lumMod val="50000"/>
            </a:schemeClr>
          </a:solidFill>
        </p:spPr>
        <p:style>
          <a:lnRef idx="1">
            <a:schemeClr val="accent5"/>
          </a:lnRef>
          <a:fillRef idx="2">
            <a:schemeClr val="accent5"/>
          </a:fillRef>
          <a:effectRef idx="1">
            <a:schemeClr val="accent5"/>
          </a:effectRef>
          <a:fontRef idx="minor">
            <a:schemeClr val="dk1"/>
          </a:fontRef>
        </p:style>
        <p:txBody>
          <a:bodyPr wrap="square">
            <a:spAutoFit/>
          </a:bodyPr>
          <a:lstStyle/>
          <a:p>
            <a:pPr marL="514350" indent="-514350">
              <a:buAutoNum type="arabicPeriod"/>
            </a:pPr>
            <a:r>
              <a:rPr lang="en-US" sz="2000" b="1" dirty="0">
                <a:solidFill>
                  <a:schemeClr val="bg1"/>
                </a:solidFill>
                <a:effectLst>
                  <a:outerShdw blurRad="38100" dist="38100" dir="2700000" algn="tl">
                    <a:srgbClr val="000000">
                      <a:alpha val="43137"/>
                    </a:srgbClr>
                  </a:outerShdw>
                </a:effectLst>
              </a:rPr>
              <a:t>FINISH-TO-START (FS) </a:t>
            </a:r>
            <a:r>
              <a:rPr lang="en-US" sz="2000" dirty="0">
                <a:solidFill>
                  <a:schemeClr val="bg1"/>
                </a:solidFill>
              </a:rPr>
              <a:t> </a:t>
            </a:r>
            <a:r>
              <a:rPr lang="en-US" sz="2000" b="1" dirty="0">
                <a:solidFill>
                  <a:schemeClr val="bg1"/>
                </a:solidFill>
              </a:rPr>
              <a:t>DEPENDECY</a:t>
            </a:r>
            <a:endParaRPr lang="x-none" sz="2800" b="1" dirty="0">
              <a:solidFill>
                <a:schemeClr val="bg1"/>
              </a:solidFill>
            </a:endParaRPr>
          </a:p>
        </p:txBody>
      </p:sp>
      <p:sp>
        <p:nvSpPr>
          <p:cNvPr id="3" name="Rounded Rectangle 2"/>
          <p:cNvSpPr/>
          <p:nvPr/>
        </p:nvSpPr>
        <p:spPr>
          <a:xfrm>
            <a:off x="4913194" y="1046169"/>
            <a:ext cx="1678675" cy="1043442"/>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A</a:t>
            </a:r>
            <a:endParaRPr lang="en-US" sz="3200" dirty="0">
              <a:solidFill>
                <a:schemeClr val="bg1"/>
              </a:solidFill>
            </a:endParaRPr>
          </a:p>
        </p:txBody>
      </p:sp>
      <p:sp>
        <p:nvSpPr>
          <p:cNvPr id="35" name="Rounded Rectangle 34"/>
          <p:cNvSpPr/>
          <p:nvPr/>
        </p:nvSpPr>
        <p:spPr>
          <a:xfrm>
            <a:off x="7278237" y="1084007"/>
            <a:ext cx="1678675" cy="1043442"/>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B</a:t>
            </a:r>
            <a:endParaRPr lang="en-US" sz="3200" dirty="0">
              <a:solidFill>
                <a:schemeClr val="bg1"/>
              </a:solidFill>
            </a:endParaRPr>
          </a:p>
        </p:txBody>
      </p:sp>
      <p:sp>
        <p:nvSpPr>
          <p:cNvPr id="38" name="Rounded Rectangle 37"/>
          <p:cNvSpPr/>
          <p:nvPr/>
        </p:nvSpPr>
        <p:spPr>
          <a:xfrm>
            <a:off x="5652446" y="2583534"/>
            <a:ext cx="1678675" cy="10434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A</a:t>
            </a:r>
            <a:endParaRPr lang="en-US" sz="3600" dirty="0">
              <a:solidFill>
                <a:schemeClr val="bg1"/>
              </a:solidFill>
            </a:endParaRPr>
          </a:p>
        </p:txBody>
      </p:sp>
      <p:sp>
        <p:nvSpPr>
          <p:cNvPr id="39" name="Rounded Rectangle 38"/>
          <p:cNvSpPr/>
          <p:nvPr/>
        </p:nvSpPr>
        <p:spPr>
          <a:xfrm>
            <a:off x="8466160" y="2506526"/>
            <a:ext cx="1678675" cy="10434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B</a:t>
            </a:r>
            <a:endParaRPr lang="en-US" sz="3600" dirty="0">
              <a:solidFill>
                <a:schemeClr val="bg1"/>
              </a:solidFill>
            </a:endParaRPr>
          </a:p>
        </p:txBody>
      </p:sp>
      <p:sp>
        <p:nvSpPr>
          <p:cNvPr id="40" name="Rounded Rectangle 39"/>
          <p:cNvSpPr/>
          <p:nvPr/>
        </p:nvSpPr>
        <p:spPr>
          <a:xfrm>
            <a:off x="9469272" y="4060523"/>
            <a:ext cx="1678675" cy="104344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dirty="0">
                <a:solidFill>
                  <a:schemeClr val="bg1"/>
                </a:solidFill>
              </a:rPr>
              <a:t>B</a:t>
            </a:r>
            <a:endParaRPr lang="en-US" sz="3600" dirty="0">
              <a:solidFill>
                <a:schemeClr val="bg1"/>
              </a:solidFill>
            </a:endParaRPr>
          </a:p>
        </p:txBody>
      </p:sp>
      <p:sp>
        <p:nvSpPr>
          <p:cNvPr id="41" name="Rounded Rectangle 40"/>
          <p:cNvSpPr/>
          <p:nvPr/>
        </p:nvSpPr>
        <p:spPr>
          <a:xfrm>
            <a:off x="6787485" y="4060523"/>
            <a:ext cx="1678675" cy="104344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dirty="0">
                <a:solidFill>
                  <a:schemeClr val="bg1"/>
                </a:solidFill>
              </a:rPr>
              <a:t>A</a:t>
            </a:r>
            <a:endParaRPr lang="en-US" sz="3600" dirty="0">
              <a:solidFill>
                <a:schemeClr val="bg1"/>
              </a:solidFill>
            </a:endParaRPr>
          </a:p>
        </p:txBody>
      </p:sp>
      <p:sp>
        <p:nvSpPr>
          <p:cNvPr id="42" name="Rounded Rectangle 41"/>
          <p:cNvSpPr/>
          <p:nvPr/>
        </p:nvSpPr>
        <p:spPr>
          <a:xfrm>
            <a:off x="9668302" y="5620374"/>
            <a:ext cx="1678675" cy="104344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a:solidFill>
                  <a:schemeClr val="bg1"/>
                </a:solidFill>
              </a:rPr>
              <a:t>B</a:t>
            </a:r>
            <a:endParaRPr lang="en-US" sz="3600" dirty="0">
              <a:solidFill>
                <a:schemeClr val="bg1"/>
              </a:solidFill>
            </a:endParaRPr>
          </a:p>
        </p:txBody>
      </p:sp>
      <p:sp>
        <p:nvSpPr>
          <p:cNvPr id="43" name="Rounded Rectangle 42"/>
          <p:cNvSpPr/>
          <p:nvPr/>
        </p:nvSpPr>
        <p:spPr>
          <a:xfrm>
            <a:off x="7622271" y="5576953"/>
            <a:ext cx="1678675" cy="104344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a:solidFill>
                  <a:schemeClr val="bg1"/>
                </a:solidFill>
              </a:rPr>
              <a:t>A</a:t>
            </a:r>
            <a:endParaRPr lang="en-US" sz="3600" dirty="0">
              <a:solidFill>
                <a:schemeClr val="bg1"/>
              </a:solidFill>
            </a:endParaRPr>
          </a:p>
        </p:txBody>
      </p:sp>
      <p:cxnSp>
        <p:nvCxnSpPr>
          <p:cNvPr id="10" name="Straight Arrow Connector 9"/>
          <p:cNvCxnSpPr>
            <a:stCxn id="3" idx="3"/>
          </p:cNvCxnSpPr>
          <p:nvPr/>
        </p:nvCxnSpPr>
        <p:spPr>
          <a:xfrm>
            <a:off x="6591869" y="1567890"/>
            <a:ext cx="738112" cy="0"/>
          </a:xfrm>
          <a:prstGeom prst="straightConnector1">
            <a:avLst/>
          </a:prstGeom>
          <a:ln w="38100">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a:stCxn id="38" idx="1"/>
          </p:cNvCxnSpPr>
          <p:nvPr/>
        </p:nvCxnSpPr>
        <p:spPr>
          <a:xfrm flipH="1">
            <a:off x="5227093" y="3105255"/>
            <a:ext cx="425353"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227093" y="2485949"/>
            <a:ext cx="262037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847463" y="2485949"/>
            <a:ext cx="0" cy="61930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39" idx="1"/>
          </p:cNvCxnSpPr>
          <p:nvPr/>
        </p:nvCxnSpPr>
        <p:spPr>
          <a:xfrm flipV="1">
            <a:off x="7847463" y="3028247"/>
            <a:ext cx="618697" cy="2450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1" idx="3"/>
          </p:cNvCxnSpPr>
          <p:nvPr/>
        </p:nvCxnSpPr>
        <p:spPr>
          <a:xfrm>
            <a:off x="8466160" y="4582244"/>
            <a:ext cx="490752" cy="0"/>
          </a:xfrm>
          <a:prstGeom prst="straightConnector1">
            <a:avLst/>
          </a:prstGeom>
          <a:ln w="38100">
            <a:tailEnd type="arrow"/>
          </a:ln>
        </p:spPr>
        <p:style>
          <a:lnRef idx="1">
            <a:schemeClr val="accent6"/>
          </a:lnRef>
          <a:fillRef idx="0">
            <a:schemeClr val="accent6"/>
          </a:fillRef>
          <a:effectRef idx="0">
            <a:schemeClr val="accent6"/>
          </a:effectRef>
          <a:fontRef idx="minor">
            <a:schemeClr val="tx1"/>
          </a:fontRef>
        </p:style>
      </p:cxnSp>
      <p:cxnSp>
        <p:nvCxnSpPr>
          <p:cNvPr id="53" name="Straight Arrow Connector 52"/>
          <p:cNvCxnSpPr/>
          <p:nvPr/>
        </p:nvCxnSpPr>
        <p:spPr>
          <a:xfrm flipV="1">
            <a:off x="8956912" y="3958135"/>
            <a:ext cx="0" cy="624109"/>
          </a:xfrm>
          <a:prstGeom prst="straightConnector1">
            <a:avLst/>
          </a:prstGeom>
          <a:ln w="38100">
            <a:tailEnd type="arrow"/>
          </a:ln>
        </p:spPr>
        <p:style>
          <a:lnRef idx="1">
            <a:schemeClr val="accent6"/>
          </a:lnRef>
          <a:fillRef idx="0">
            <a:schemeClr val="accent6"/>
          </a:fillRef>
          <a:effectRef idx="0">
            <a:schemeClr val="accent6"/>
          </a:effectRef>
          <a:fontRef idx="minor">
            <a:schemeClr val="tx1"/>
          </a:fontRef>
        </p:style>
      </p:cxnSp>
      <p:cxnSp>
        <p:nvCxnSpPr>
          <p:cNvPr id="55" name="Straight Arrow Connector 54"/>
          <p:cNvCxnSpPr/>
          <p:nvPr/>
        </p:nvCxnSpPr>
        <p:spPr>
          <a:xfrm>
            <a:off x="8956912" y="3958135"/>
            <a:ext cx="2589094" cy="0"/>
          </a:xfrm>
          <a:prstGeom prst="straightConnector1">
            <a:avLst/>
          </a:prstGeom>
          <a:ln w="38100">
            <a:tailEnd type="arrow"/>
          </a:ln>
        </p:spPr>
        <p:style>
          <a:lnRef idx="1">
            <a:schemeClr val="accent6"/>
          </a:lnRef>
          <a:fillRef idx="0">
            <a:schemeClr val="accent6"/>
          </a:fillRef>
          <a:effectRef idx="0">
            <a:schemeClr val="accent6"/>
          </a:effectRef>
          <a:fontRef idx="minor">
            <a:schemeClr val="tx1"/>
          </a:fontRef>
        </p:style>
      </p:cxnSp>
      <p:cxnSp>
        <p:nvCxnSpPr>
          <p:cNvPr id="59" name="Straight Arrow Connector 58"/>
          <p:cNvCxnSpPr/>
          <p:nvPr/>
        </p:nvCxnSpPr>
        <p:spPr>
          <a:xfrm>
            <a:off x="11546006" y="3924989"/>
            <a:ext cx="0" cy="657255"/>
          </a:xfrm>
          <a:prstGeom prst="straightConnector1">
            <a:avLst/>
          </a:prstGeom>
          <a:ln w="38100">
            <a:tailEnd type="arrow"/>
          </a:ln>
        </p:spPr>
        <p:style>
          <a:lnRef idx="1">
            <a:schemeClr val="accent6"/>
          </a:lnRef>
          <a:fillRef idx="0">
            <a:schemeClr val="accent6"/>
          </a:fillRef>
          <a:effectRef idx="0">
            <a:schemeClr val="accent6"/>
          </a:effectRef>
          <a:fontRef idx="minor">
            <a:schemeClr val="tx1"/>
          </a:fontRef>
        </p:style>
      </p:cxnSp>
      <p:cxnSp>
        <p:nvCxnSpPr>
          <p:cNvPr id="65" name="Straight Arrow Connector 64"/>
          <p:cNvCxnSpPr/>
          <p:nvPr/>
        </p:nvCxnSpPr>
        <p:spPr>
          <a:xfrm flipH="1">
            <a:off x="11147948" y="4582244"/>
            <a:ext cx="398058" cy="12487"/>
          </a:xfrm>
          <a:prstGeom prst="straightConnector1">
            <a:avLst/>
          </a:prstGeom>
          <a:ln w="38100">
            <a:tailEnd type="arrow"/>
          </a:ln>
        </p:spPr>
        <p:style>
          <a:lnRef idx="1">
            <a:schemeClr val="accent6"/>
          </a:lnRef>
          <a:fillRef idx="0">
            <a:schemeClr val="accent6"/>
          </a:fillRef>
          <a:effectRef idx="0">
            <a:schemeClr val="accent6"/>
          </a:effectRef>
          <a:fontRef idx="minor">
            <a:schemeClr val="tx1"/>
          </a:fontRef>
        </p:style>
      </p:cxnSp>
      <p:cxnSp>
        <p:nvCxnSpPr>
          <p:cNvPr id="70" name="Straight Arrow Connector 69"/>
          <p:cNvCxnSpPr>
            <a:stCxn id="43" idx="1"/>
          </p:cNvCxnSpPr>
          <p:nvPr/>
        </p:nvCxnSpPr>
        <p:spPr>
          <a:xfrm flipH="1">
            <a:off x="6787485" y="6098674"/>
            <a:ext cx="834786"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6855725" y="5363854"/>
            <a:ext cx="0" cy="798615"/>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74" name="Straight Arrow Connector 73"/>
          <p:cNvCxnSpPr/>
          <p:nvPr/>
        </p:nvCxnSpPr>
        <p:spPr>
          <a:xfrm>
            <a:off x="6843441" y="5363854"/>
            <a:ext cx="5095393"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78" name="Straight Arrow Connector 77"/>
          <p:cNvCxnSpPr/>
          <p:nvPr/>
        </p:nvCxnSpPr>
        <p:spPr>
          <a:xfrm>
            <a:off x="11882878" y="5363854"/>
            <a:ext cx="0" cy="798616"/>
          </a:xfrm>
          <a:prstGeom prst="straightConnector1">
            <a:avLst/>
          </a:prstGeom>
          <a:ln w="38100">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80" name="Straight Arrow Connector 79"/>
          <p:cNvCxnSpPr/>
          <p:nvPr/>
        </p:nvCxnSpPr>
        <p:spPr>
          <a:xfrm flipH="1">
            <a:off x="11346977" y="6223714"/>
            <a:ext cx="591857" cy="0"/>
          </a:xfrm>
          <a:prstGeom prst="straightConnector1">
            <a:avLst/>
          </a:prstGeom>
          <a:ln w="38100">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83" name="TextBox 82"/>
          <p:cNvSpPr txBox="1"/>
          <p:nvPr/>
        </p:nvSpPr>
        <p:spPr>
          <a:xfrm>
            <a:off x="9117728" y="1244724"/>
            <a:ext cx="2779821" cy="830997"/>
          </a:xfrm>
          <a:prstGeom prst="rect">
            <a:avLst/>
          </a:prstGeom>
          <a:solidFill>
            <a:schemeClr val="accent4">
              <a:lumMod val="20000"/>
              <a:lumOff val="80000"/>
            </a:schemeClr>
          </a:solidFill>
        </p:spPr>
        <p:txBody>
          <a:bodyPr wrap="square" rtlCol="0">
            <a:spAutoFit/>
          </a:bodyPr>
          <a:lstStyle/>
          <a:p>
            <a:pPr algn="ctr"/>
            <a:r>
              <a:rPr lang="en-US" sz="2400" dirty="0"/>
              <a:t>The most common dependency</a:t>
            </a:r>
            <a:endParaRPr lang="en-US" sz="2400" dirty="0"/>
          </a:p>
        </p:txBody>
      </p:sp>
      <p:cxnSp>
        <p:nvCxnSpPr>
          <p:cNvPr id="85" name="Straight Arrow Connector 84"/>
          <p:cNvCxnSpPr/>
          <p:nvPr/>
        </p:nvCxnSpPr>
        <p:spPr>
          <a:xfrm flipV="1">
            <a:off x="5281687" y="2401584"/>
            <a:ext cx="0" cy="70119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906670" y="266014"/>
            <a:ext cx="7691721" cy="461665"/>
          </a:xfrm>
          <a:prstGeom prst="rect">
            <a:avLst/>
          </a:prstGeom>
        </p:spPr>
        <p:txBody>
          <a:bodyPr wrap="none">
            <a:spAutoFit/>
          </a:bodyPr>
          <a:lstStyle/>
          <a:p>
            <a:pPr algn="ctr"/>
            <a:r>
              <a:rPr lang="en-US" sz="2400" b="1" dirty="0">
                <a:latin typeface="Gill Sans MT" pitchFamily="34" charset="0"/>
              </a:rPr>
              <a:t>THE FOUR TYPES OF LOGICAL RELATIONSHIPS</a:t>
            </a:r>
            <a:endParaRPr lang="en-US" sz="2400" b="1" dirty="0">
              <a:latin typeface="Gill Sans MT"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500" fill="hold"/>
                                        <p:tgtEl>
                                          <p:spTgt spid="35"/>
                                        </p:tgtEl>
                                        <p:attrNameLst>
                                          <p:attrName>ppt_x</p:attrName>
                                        </p:attrNameLst>
                                      </p:cBhvr>
                                      <p:tavLst>
                                        <p:tav tm="0">
                                          <p:val>
                                            <p:strVal val="#ppt_x"/>
                                          </p:val>
                                        </p:tav>
                                        <p:tav tm="100000">
                                          <p:val>
                                            <p:strVal val="#ppt_x"/>
                                          </p:val>
                                        </p:tav>
                                      </p:tavLst>
                                    </p:anim>
                                    <p:anim calcmode="lin" valueType="num">
                                      <p:cBhvr additive="base">
                                        <p:cTn id="2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anim calcmode="lin" valueType="num">
                                      <p:cBhvr additive="base">
                                        <p:cTn id="31" dur="500" fill="hold"/>
                                        <p:tgtEl>
                                          <p:spTgt spid="83"/>
                                        </p:tgtEl>
                                        <p:attrNameLst>
                                          <p:attrName>ppt_x</p:attrName>
                                        </p:attrNameLst>
                                      </p:cBhvr>
                                      <p:tavLst>
                                        <p:tav tm="0">
                                          <p:val>
                                            <p:strVal val="#ppt_x"/>
                                          </p:val>
                                        </p:tav>
                                        <p:tav tm="100000">
                                          <p:val>
                                            <p:strVal val="#ppt_x"/>
                                          </p:val>
                                        </p:tav>
                                      </p:tavLst>
                                    </p:anim>
                                    <p:anim calcmode="lin" valueType="num">
                                      <p:cBhvr additive="base">
                                        <p:cTn id="32"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5"/>
                                        </p:tgtEl>
                                        <p:attrNameLst>
                                          <p:attrName>style.visibility</p:attrName>
                                        </p:attrNameLst>
                                      </p:cBhvr>
                                      <p:to>
                                        <p:strVal val="visible"/>
                                      </p:to>
                                    </p:set>
                                    <p:anim calcmode="lin" valueType="num">
                                      <p:cBhvr additive="base">
                                        <p:cTn id="55" dur="500" fill="hold"/>
                                        <p:tgtEl>
                                          <p:spTgt spid="85"/>
                                        </p:tgtEl>
                                        <p:attrNameLst>
                                          <p:attrName>ppt_x</p:attrName>
                                        </p:attrNameLst>
                                      </p:cBhvr>
                                      <p:tavLst>
                                        <p:tav tm="0">
                                          <p:val>
                                            <p:strVal val="#ppt_x"/>
                                          </p:val>
                                        </p:tav>
                                        <p:tav tm="100000">
                                          <p:val>
                                            <p:strVal val="#ppt_x"/>
                                          </p:val>
                                        </p:tav>
                                      </p:tavLst>
                                    </p:anim>
                                    <p:anim calcmode="lin" valueType="num">
                                      <p:cBhvr additive="base">
                                        <p:cTn id="56"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additive="base">
                                        <p:cTn id="67" dur="500" fill="hold"/>
                                        <p:tgtEl>
                                          <p:spTgt spid="44"/>
                                        </p:tgtEl>
                                        <p:attrNameLst>
                                          <p:attrName>ppt_x</p:attrName>
                                        </p:attrNameLst>
                                      </p:cBhvr>
                                      <p:tavLst>
                                        <p:tav tm="0">
                                          <p:val>
                                            <p:strVal val="#ppt_x"/>
                                          </p:val>
                                        </p:tav>
                                        <p:tav tm="100000">
                                          <p:val>
                                            <p:strVal val="#ppt_x"/>
                                          </p:val>
                                        </p:tav>
                                      </p:tavLst>
                                    </p:anim>
                                    <p:anim calcmode="lin" valueType="num">
                                      <p:cBhvr additive="base">
                                        <p:cTn id="6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additive="base">
                                        <p:cTn id="73" dur="500" fill="hold"/>
                                        <p:tgtEl>
                                          <p:spTgt spid="46"/>
                                        </p:tgtEl>
                                        <p:attrNameLst>
                                          <p:attrName>ppt_x</p:attrName>
                                        </p:attrNameLst>
                                      </p:cBhvr>
                                      <p:tavLst>
                                        <p:tav tm="0">
                                          <p:val>
                                            <p:strVal val="#ppt_x"/>
                                          </p:val>
                                        </p:tav>
                                        <p:tav tm="100000">
                                          <p:val>
                                            <p:strVal val="#ppt_x"/>
                                          </p:val>
                                        </p:tav>
                                      </p:tavLst>
                                    </p:anim>
                                    <p:anim calcmode="lin" valueType="num">
                                      <p:cBhvr additive="base">
                                        <p:cTn id="74"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9"/>
                                        </p:tgtEl>
                                        <p:attrNameLst>
                                          <p:attrName>style.visibility</p:attrName>
                                        </p:attrNameLst>
                                      </p:cBhvr>
                                      <p:to>
                                        <p:strVal val="visible"/>
                                      </p:to>
                                    </p:set>
                                    <p:anim calcmode="lin" valueType="num">
                                      <p:cBhvr additive="base">
                                        <p:cTn id="79" dur="500" fill="hold"/>
                                        <p:tgtEl>
                                          <p:spTgt spid="39"/>
                                        </p:tgtEl>
                                        <p:attrNameLst>
                                          <p:attrName>ppt_x</p:attrName>
                                        </p:attrNameLst>
                                      </p:cBhvr>
                                      <p:tavLst>
                                        <p:tav tm="0">
                                          <p:val>
                                            <p:strVal val="#ppt_x"/>
                                          </p:val>
                                        </p:tav>
                                        <p:tav tm="100000">
                                          <p:val>
                                            <p:strVal val="#ppt_x"/>
                                          </p:val>
                                        </p:tav>
                                      </p:tavLst>
                                    </p:anim>
                                    <p:anim calcmode="lin" valueType="num">
                                      <p:cBhvr additive="base">
                                        <p:cTn id="8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00" fill="hold"/>
                                        <p:tgtEl>
                                          <p:spTgt spid="22"/>
                                        </p:tgtEl>
                                        <p:attrNameLst>
                                          <p:attrName>ppt_x</p:attrName>
                                        </p:attrNameLst>
                                      </p:cBhvr>
                                      <p:tavLst>
                                        <p:tav tm="0">
                                          <p:val>
                                            <p:strVal val="#ppt_x"/>
                                          </p:val>
                                        </p:tav>
                                        <p:tav tm="100000">
                                          <p:val>
                                            <p:strVal val="#ppt_x"/>
                                          </p:val>
                                        </p:tav>
                                      </p:tavLst>
                                    </p:anim>
                                    <p:anim calcmode="lin" valueType="num">
                                      <p:cBhvr additive="base">
                                        <p:cTn id="8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anim calcmode="lin" valueType="num">
                                      <p:cBhvr additive="base">
                                        <p:cTn id="91" dur="500" fill="hold"/>
                                        <p:tgtEl>
                                          <p:spTgt spid="41"/>
                                        </p:tgtEl>
                                        <p:attrNameLst>
                                          <p:attrName>ppt_x</p:attrName>
                                        </p:attrNameLst>
                                      </p:cBhvr>
                                      <p:tavLst>
                                        <p:tav tm="0">
                                          <p:val>
                                            <p:strVal val="#ppt_x"/>
                                          </p:val>
                                        </p:tav>
                                        <p:tav tm="100000">
                                          <p:val>
                                            <p:strVal val="#ppt_x"/>
                                          </p:val>
                                        </p:tav>
                                      </p:tavLst>
                                    </p:anim>
                                    <p:anim calcmode="lin" valueType="num">
                                      <p:cBhvr additive="base">
                                        <p:cTn id="9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51"/>
                                        </p:tgtEl>
                                        <p:attrNameLst>
                                          <p:attrName>style.visibility</p:attrName>
                                        </p:attrNameLst>
                                      </p:cBhvr>
                                      <p:to>
                                        <p:strVal val="visible"/>
                                      </p:to>
                                    </p:set>
                                    <p:anim calcmode="lin" valueType="num">
                                      <p:cBhvr additive="base">
                                        <p:cTn id="97" dur="500" fill="hold"/>
                                        <p:tgtEl>
                                          <p:spTgt spid="51"/>
                                        </p:tgtEl>
                                        <p:attrNameLst>
                                          <p:attrName>ppt_x</p:attrName>
                                        </p:attrNameLst>
                                      </p:cBhvr>
                                      <p:tavLst>
                                        <p:tav tm="0">
                                          <p:val>
                                            <p:strVal val="#ppt_x"/>
                                          </p:val>
                                        </p:tav>
                                        <p:tav tm="100000">
                                          <p:val>
                                            <p:strVal val="#ppt_x"/>
                                          </p:val>
                                        </p:tav>
                                      </p:tavLst>
                                    </p:anim>
                                    <p:anim calcmode="lin" valueType="num">
                                      <p:cBhvr additive="base">
                                        <p:cTn id="9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53"/>
                                        </p:tgtEl>
                                        <p:attrNameLst>
                                          <p:attrName>style.visibility</p:attrName>
                                        </p:attrNameLst>
                                      </p:cBhvr>
                                      <p:to>
                                        <p:strVal val="visible"/>
                                      </p:to>
                                    </p:set>
                                    <p:anim calcmode="lin" valueType="num">
                                      <p:cBhvr additive="base">
                                        <p:cTn id="103" dur="500" fill="hold"/>
                                        <p:tgtEl>
                                          <p:spTgt spid="53"/>
                                        </p:tgtEl>
                                        <p:attrNameLst>
                                          <p:attrName>ppt_x</p:attrName>
                                        </p:attrNameLst>
                                      </p:cBhvr>
                                      <p:tavLst>
                                        <p:tav tm="0">
                                          <p:val>
                                            <p:strVal val="#ppt_x"/>
                                          </p:val>
                                        </p:tav>
                                        <p:tav tm="100000">
                                          <p:val>
                                            <p:strVal val="#ppt_x"/>
                                          </p:val>
                                        </p:tav>
                                      </p:tavLst>
                                    </p:anim>
                                    <p:anim calcmode="lin" valueType="num">
                                      <p:cBhvr additive="base">
                                        <p:cTn id="10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55"/>
                                        </p:tgtEl>
                                        <p:attrNameLst>
                                          <p:attrName>style.visibility</p:attrName>
                                        </p:attrNameLst>
                                      </p:cBhvr>
                                      <p:to>
                                        <p:strVal val="visible"/>
                                      </p:to>
                                    </p:set>
                                    <p:anim calcmode="lin" valueType="num">
                                      <p:cBhvr additive="base">
                                        <p:cTn id="109" dur="500" fill="hold"/>
                                        <p:tgtEl>
                                          <p:spTgt spid="55"/>
                                        </p:tgtEl>
                                        <p:attrNameLst>
                                          <p:attrName>ppt_x</p:attrName>
                                        </p:attrNameLst>
                                      </p:cBhvr>
                                      <p:tavLst>
                                        <p:tav tm="0">
                                          <p:val>
                                            <p:strVal val="#ppt_x"/>
                                          </p:val>
                                        </p:tav>
                                        <p:tav tm="100000">
                                          <p:val>
                                            <p:strVal val="#ppt_x"/>
                                          </p:val>
                                        </p:tav>
                                      </p:tavLst>
                                    </p:anim>
                                    <p:anim calcmode="lin" valueType="num">
                                      <p:cBhvr additive="base">
                                        <p:cTn id="110"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59"/>
                                        </p:tgtEl>
                                        <p:attrNameLst>
                                          <p:attrName>style.visibility</p:attrName>
                                        </p:attrNameLst>
                                      </p:cBhvr>
                                      <p:to>
                                        <p:strVal val="visible"/>
                                      </p:to>
                                    </p:set>
                                    <p:anim calcmode="lin" valueType="num">
                                      <p:cBhvr additive="base">
                                        <p:cTn id="115" dur="500" fill="hold"/>
                                        <p:tgtEl>
                                          <p:spTgt spid="59"/>
                                        </p:tgtEl>
                                        <p:attrNameLst>
                                          <p:attrName>ppt_x</p:attrName>
                                        </p:attrNameLst>
                                      </p:cBhvr>
                                      <p:tavLst>
                                        <p:tav tm="0">
                                          <p:val>
                                            <p:strVal val="#ppt_x"/>
                                          </p:val>
                                        </p:tav>
                                        <p:tav tm="100000">
                                          <p:val>
                                            <p:strVal val="#ppt_x"/>
                                          </p:val>
                                        </p:tav>
                                      </p:tavLst>
                                    </p:anim>
                                    <p:anim calcmode="lin" valueType="num">
                                      <p:cBhvr additive="base">
                                        <p:cTn id="116"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65"/>
                                        </p:tgtEl>
                                        <p:attrNameLst>
                                          <p:attrName>style.visibility</p:attrName>
                                        </p:attrNameLst>
                                      </p:cBhvr>
                                      <p:to>
                                        <p:strVal val="visible"/>
                                      </p:to>
                                    </p:set>
                                    <p:anim calcmode="lin" valueType="num">
                                      <p:cBhvr additive="base">
                                        <p:cTn id="121" dur="500" fill="hold"/>
                                        <p:tgtEl>
                                          <p:spTgt spid="65"/>
                                        </p:tgtEl>
                                        <p:attrNameLst>
                                          <p:attrName>ppt_x</p:attrName>
                                        </p:attrNameLst>
                                      </p:cBhvr>
                                      <p:tavLst>
                                        <p:tav tm="0">
                                          <p:val>
                                            <p:strVal val="#ppt_x"/>
                                          </p:val>
                                        </p:tav>
                                        <p:tav tm="100000">
                                          <p:val>
                                            <p:strVal val="#ppt_x"/>
                                          </p:val>
                                        </p:tav>
                                      </p:tavLst>
                                    </p:anim>
                                    <p:anim calcmode="lin" valueType="num">
                                      <p:cBhvr additive="base">
                                        <p:cTn id="122"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40"/>
                                        </p:tgtEl>
                                        <p:attrNameLst>
                                          <p:attrName>style.visibility</p:attrName>
                                        </p:attrNameLst>
                                      </p:cBhvr>
                                      <p:to>
                                        <p:strVal val="visible"/>
                                      </p:to>
                                    </p:set>
                                    <p:anim calcmode="lin" valueType="num">
                                      <p:cBhvr additive="base">
                                        <p:cTn id="127" dur="500" fill="hold"/>
                                        <p:tgtEl>
                                          <p:spTgt spid="40"/>
                                        </p:tgtEl>
                                        <p:attrNameLst>
                                          <p:attrName>ppt_x</p:attrName>
                                        </p:attrNameLst>
                                      </p:cBhvr>
                                      <p:tavLst>
                                        <p:tav tm="0">
                                          <p:val>
                                            <p:strVal val="#ppt_x"/>
                                          </p:val>
                                        </p:tav>
                                        <p:tav tm="100000">
                                          <p:val>
                                            <p:strVal val="#ppt_x"/>
                                          </p:val>
                                        </p:tav>
                                      </p:tavLst>
                                    </p:anim>
                                    <p:anim calcmode="lin" valueType="num">
                                      <p:cBhvr additive="base">
                                        <p:cTn id="12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23"/>
                                        </p:tgtEl>
                                        <p:attrNameLst>
                                          <p:attrName>style.visibility</p:attrName>
                                        </p:attrNameLst>
                                      </p:cBhvr>
                                      <p:to>
                                        <p:strVal val="visible"/>
                                      </p:to>
                                    </p:set>
                                    <p:anim calcmode="lin" valueType="num">
                                      <p:cBhvr additive="base">
                                        <p:cTn id="133" dur="500" fill="hold"/>
                                        <p:tgtEl>
                                          <p:spTgt spid="23"/>
                                        </p:tgtEl>
                                        <p:attrNameLst>
                                          <p:attrName>ppt_x</p:attrName>
                                        </p:attrNameLst>
                                      </p:cBhvr>
                                      <p:tavLst>
                                        <p:tav tm="0">
                                          <p:val>
                                            <p:strVal val="#ppt_x"/>
                                          </p:val>
                                        </p:tav>
                                        <p:tav tm="100000">
                                          <p:val>
                                            <p:strVal val="#ppt_x"/>
                                          </p:val>
                                        </p:tav>
                                      </p:tavLst>
                                    </p:anim>
                                    <p:anim calcmode="lin" valueType="num">
                                      <p:cBhvr additive="base">
                                        <p:cTn id="13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43"/>
                                        </p:tgtEl>
                                        <p:attrNameLst>
                                          <p:attrName>style.visibility</p:attrName>
                                        </p:attrNameLst>
                                      </p:cBhvr>
                                      <p:to>
                                        <p:strVal val="visible"/>
                                      </p:to>
                                    </p:set>
                                    <p:anim calcmode="lin" valueType="num">
                                      <p:cBhvr additive="base">
                                        <p:cTn id="139" dur="500" fill="hold"/>
                                        <p:tgtEl>
                                          <p:spTgt spid="43"/>
                                        </p:tgtEl>
                                        <p:attrNameLst>
                                          <p:attrName>ppt_x</p:attrName>
                                        </p:attrNameLst>
                                      </p:cBhvr>
                                      <p:tavLst>
                                        <p:tav tm="0">
                                          <p:val>
                                            <p:strVal val="#ppt_x"/>
                                          </p:val>
                                        </p:tav>
                                        <p:tav tm="100000">
                                          <p:val>
                                            <p:strVal val="#ppt_x"/>
                                          </p:val>
                                        </p:tav>
                                      </p:tavLst>
                                    </p:anim>
                                    <p:anim calcmode="lin" valueType="num">
                                      <p:cBhvr additive="base">
                                        <p:cTn id="14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70"/>
                                        </p:tgtEl>
                                        <p:attrNameLst>
                                          <p:attrName>style.visibility</p:attrName>
                                        </p:attrNameLst>
                                      </p:cBhvr>
                                      <p:to>
                                        <p:strVal val="visible"/>
                                      </p:to>
                                    </p:set>
                                    <p:anim calcmode="lin" valueType="num">
                                      <p:cBhvr additive="base">
                                        <p:cTn id="145" dur="500" fill="hold"/>
                                        <p:tgtEl>
                                          <p:spTgt spid="70"/>
                                        </p:tgtEl>
                                        <p:attrNameLst>
                                          <p:attrName>ppt_x</p:attrName>
                                        </p:attrNameLst>
                                      </p:cBhvr>
                                      <p:tavLst>
                                        <p:tav tm="0">
                                          <p:val>
                                            <p:strVal val="#ppt_x"/>
                                          </p:val>
                                        </p:tav>
                                        <p:tav tm="100000">
                                          <p:val>
                                            <p:strVal val="#ppt_x"/>
                                          </p:val>
                                        </p:tav>
                                      </p:tavLst>
                                    </p:anim>
                                    <p:anim calcmode="lin" valueType="num">
                                      <p:cBhvr additive="base">
                                        <p:cTn id="146"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72"/>
                                        </p:tgtEl>
                                        <p:attrNameLst>
                                          <p:attrName>style.visibility</p:attrName>
                                        </p:attrNameLst>
                                      </p:cBhvr>
                                      <p:to>
                                        <p:strVal val="visible"/>
                                      </p:to>
                                    </p:set>
                                    <p:anim calcmode="lin" valueType="num">
                                      <p:cBhvr additive="base">
                                        <p:cTn id="151" dur="500" fill="hold"/>
                                        <p:tgtEl>
                                          <p:spTgt spid="72"/>
                                        </p:tgtEl>
                                        <p:attrNameLst>
                                          <p:attrName>ppt_x</p:attrName>
                                        </p:attrNameLst>
                                      </p:cBhvr>
                                      <p:tavLst>
                                        <p:tav tm="0">
                                          <p:val>
                                            <p:strVal val="#ppt_x"/>
                                          </p:val>
                                        </p:tav>
                                        <p:tav tm="100000">
                                          <p:val>
                                            <p:strVal val="#ppt_x"/>
                                          </p:val>
                                        </p:tav>
                                      </p:tavLst>
                                    </p:anim>
                                    <p:anim calcmode="lin" valueType="num">
                                      <p:cBhvr additive="base">
                                        <p:cTn id="15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74"/>
                                        </p:tgtEl>
                                        <p:attrNameLst>
                                          <p:attrName>style.visibility</p:attrName>
                                        </p:attrNameLst>
                                      </p:cBhvr>
                                      <p:to>
                                        <p:strVal val="visible"/>
                                      </p:to>
                                    </p:set>
                                    <p:anim calcmode="lin" valueType="num">
                                      <p:cBhvr additive="base">
                                        <p:cTn id="157" dur="500" fill="hold"/>
                                        <p:tgtEl>
                                          <p:spTgt spid="74"/>
                                        </p:tgtEl>
                                        <p:attrNameLst>
                                          <p:attrName>ppt_x</p:attrName>
                                        </p:attrNameLst>
                                      </p:cBhvr>
                                      <p:tavLst>
                                        <p:tav tm="0">
                                          <p:val>
                                            <p:strVal val="#ppt_x"/>
                                          </p:val>
                                        </p:tav>
                                        <p:tav tm="100000">
                                          <p:val>
                                            <p:strVal val="#ppt_x"/>
                                          </p:val>
                                        </p:tav>
                                      </p:tavLst>
                                    </p:anim>
                                    <p:anim calcmode="lin" valueType="num">
                                      <p:cBhvr additive="base">
                                        <p:cTn id="158"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78"/>
                                        </p:tgtEl>
                                        <p:attrNameLst>
                                          <p:attrName>style.visibility</p:attrName>
                                        </p:attrNameLst>
                                      </p:cBhvr>
                                      <p:to>
                                        <p:strVal val="visible"/>
                                      </p:to>
                                    </p:set>
                                    <p:anim calcmode="lin" valueType="num">
                                      <p:cBhvr additive="base">
                                        <p:cTn id="163" dur="500" fill="hold"/>
                                        <p:tgtEl>
                                          <p:spTgt spid="78"/>
                                        </p:tgtEl>
                                        <p:attrNameLst>
                                          <p:attrName>ppt_x</p:attrName>
                                        </p:attrNameLst>
                                      </p:cBhvr>
                                      <p:tavLst>
                                        <p:tav tm="0">
                                          <p:val>
                                            <p:strVal val="#ppt_x"/>
                                          </p:val>
                                        </p:tav>
                                        <p:tav tm="100000">
                                          <p:val>
                                            <p:strVal val="#ppt_x"/>
                                          </p:val>
                                        </p:tav>
                                      </p:tavLst>
                                    </p:anim>
                                    <p:anim calcmode="lin" valueType="num">
                                      <p:cBhvr additive="base">
                                        <p:cTn id="164"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nodeType="clickEffect">
                                  <p:stCondLst>
                                    <p:cond delay="0"/>
                                  </p:stCondLst>
                                  <p:childTnLst>
                                    <p:set>
                                      <p:cBhvr>
                                        <p:cTn id="168" dur="1" fill="hold">
                                          <p:stCondLst>
                                            <p:cond delay="0"/>
                                          </p:stCondLst>
                                        </p:cTn>
                                        <p:tgtEl>
                                          <p:spTgt spid="80"/>
                                        </p:tgtEl>
                                        <p:attrNameLst>
                                          <p:attrName>style.visibility</p:attrName>
                                        </p:attrNameLst>
                                      </p:cBhvr>
                                      <p:to>
                                        <p:strVal val="visible"/>
                                      </p:to>
                                    </p:set>
                                    <p:anim calcmode="lin" valueType="num">
                                      <p:cBhvr additive="base">
                                        <p:cTn id="169" dur="500" fill="hold"/>
                                        <p:tgtEl>
                                          <p:spTgt spid="80"/>
                                        </p:tgtEl>
                                        <p:attrNameLst>
                                          <p:attrName>ppt_x</p:attrName>
                                        </p:attrNameLst>
                                      </p:cBhvr>
                                      <p:tavLst>
                                        <p:tav tm="0">
                                          <p:val>
                                            <p:strVal val="#ppt_x"/>
                                          </p:val>
                                        </p:tav>
                                        <p:tav tm="100000">
                                          <p:val>
                                            <p:strVal val="#ppt_x"/>
                                          </p:val>
                                        </p:tav>
                                      </p:tavLst>
                                    </p:anim>
                                    <p:anim calcmode="lin" valueType="num">
                                      <p:cBhvr additive="base">
                                        <p:cTn id="170"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42"/>
                                        </p:tgtEl>
                                        <p:attrNameLst>
                                          <p:attrName>style.visibility</p:attrName>
                                        </p:attrNameLst>
                                      </p:cBhvr>
                                      <p:to>
                                        <p:strVal val="visible"/>
                                      </p:to>
                                    </p:set>
                                    <p:anim calcmode="lin" valueType="num">
                                      <p:cBhvr additive="base">
                                        <p:cTn id="175" dur="500" fill="hold"/>
                                        <p:tgtEl>
                                          <p:spTgt spid="42"/>
                                        </p:tgtEl>
                                        <p:attrNameLst>
                                          <p:attrName>ppt_x</p:attrName>
                                        </p:attrNameLst>
                                      </p:cBhvr>
                                      <p:tavLst>
                                        <p:tav tm="0">
                                          <p:val>
                                            <p:strVal val="#ppt_x"/>
                                          </p:val>
                                        </p:tav>
                                        <p:tav tm="100000">
                                          <p:val>
                                            <p:strVal val="#ppt_x"/>
                                          </p:val>
                                        </p:tav>
                                      </p:tavLst>
                                    </p:anim>
                                    <p:anim calcmode="lin" valueType="num">
                                      <p:cBhvr additive="base">
                                        <p:cTn id="17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6" grpId="0" animBg="1"/>
      <p:bldP spid="4" grpId="0" animBg="1"/>
      <p:bldP spid="3" grpId="0" animBg="1"/>
      <p:bldP spid="35" grpId="0" animBg="1"/>
      <p:bldP spid="38" grpId="0" animBg="1"/>
      <p:bldP spid="39" grpId="0" animBg="1"/>
      <p:bldP spid="40" grpId="0" animBg="1"/>
      <p:bldP spid="41" grpId="0" animBg="1"/>
      <p:bldP spid="42" grpId="0" animBg="1"/>
      <p:bldP spid="43" grpId="0" animBg="1"/>
      <p:bldP spid="8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3467" y="221526"/>
            <a:ext cx="10905066" cy="4195508"/>
          </a:xfrm>
          <a:prstGeom prst="rect">
            <a:avLst/>
          </a:prstGeom>
        </p:spPr>
        <p:txBody>
          <a:bodyPr wrap="square">
            <a:spAutoFit/>
          </a:bodyPr>
          <a:lstStyle/>
          <a:p>
            <a:pPr algn="ctr" defTabSz="859790">
              <a:spcAft>
                <a:spcPts val="600"/>
              </a:spcAft>
            </a:pPr>
            <a:r>
              <a:rPr lang="en-US" sz="2400" b="1" kern="1200" dirty="0">
                <a:solidFill>
                  <a:srgbClr val="C00000"/>
                </a:solidFill>
                <a:effectLst>
                  <a:outerShdw blurRad="38100" dist="38100" dir="2700000" algn="tl">
                    <a:srgbClr val="000000">
                      <a:alpha val="43137"/>
                    </a:srgbClr>
                  </a:outerShdw>
                </a:effectLst>
                <a:latin typeface="+mn-lt"/>
                <a:ea typeface="+mn-ea"/>
                <a:cs typeface="+mn-cs"/>
              </a:rPr>
              <a:t>DEPENDECY COMBINATION WITHIN A NETWORK</a:t>
            </a:r>
            <a:endParaRPr lang="en-US" sz="2400" b="1" kern="1200" dirty="0">
              <a:solidFill>
                <a:srgbClr val="C00000"/>
              </a:solidFill>
              <a:effectLst>
                <a:outerShdw blurRad="38100" dist="38100" dir="2700000" algn="tl">
                  <a:srgbClr val="000000">
                    <a:alpha val="43137"/>
                  </a:srgbClr>
                </a:outerShdw>
              </a:effectLst>
              <a:latin typeface="+mn-lt"/>
              <a:ea typeface="+mn-ea"/>
              <a:cs typeface="+mn-cs"/>
            </a:endParaRPr>
          </a:p>
          <a:p>
            <a:pPr algn="ctr" defTabSz="859790">
              <a:spcAft>
                <a:spcPts val="600"/>
              </a:spcAft>
            </a:pPr>
            <a:endParaRPr lang="en-US" sz="2400" b="1" kern="1200" dirty="0">
              <a:solidFill>
                <a:srgbClr val="C00000"/>
              </a:solidFill>
              <a:effectLst>
                <a:outerShdw blurRad="38100" dist="38100" dir="2700000" algn="tl">
                  <a:srgbClr val="000000">
                    <a:alpha val="43137"/>
                  </a:srgbClr>
                </a:outerShdw>
              </a:effectLst>
              <a:latin typeface="+mn-lt"/>
              <a:ea typeface="+mn-ea"/>
              <a:cs typeface="+mn-cs"/>
            </a:endParaRPr>
          </a:p>
          <a:p>
            <a:pPr algn="just" defTabSz="859790">
              <a:spcAft>
                <a:spcPts val="600"/>
              </a:spcAft>
            </a:pPr>
            <a:r>
              <a:rPr lang="en-US" sz="2800" kern="1200" dirty="0">
                <a:solidFill>
                  <a:schemeClr val="tx1"/>
                </a:solidFill>
                <a:latin typeface="Gill Sans MT" pitchFamily="34" charset="0"/>
              </a:rPr>
              <a:t>It should be noted that in all cases the dependencies can be used in combination. The most commonly used pairing is the </a:t>
            </a:r>
            <a:r>
              <a:rPr lang="en-US" sz="2800" kern="1200" dirty="0">
                <a:solidFill>
                  <a:srgbClr val="FF0000"/>
                </a:solidFill>
                <a:latin typeface="Gill Sans MT" pitchFamily="34" charset="0"/>
              </a:rPr>
              <a:t>START-TO-START</a:t>
            </a:r>
            <a:r>
              <a:rPr lang="en-US" sz="2800" kern="1200" dirty="0">
                <a:solidFill>
                  <a:schemeClr val="tx1"/>
                </a:solidFill>
                <a:latin typeface="Gill Sans MT" pitchFamily="34" charset="0"/>
              </a:rPr>
              <a:t> (lag-start) and </a:t>
            </a:r>
            <a:r>
              <a:rPr lang="en-US" sz="2800" kern="1200" dirty="0">
                <a:solidFill>
                  <a:srgbClr val="FF0000"/>
                </a:solidFill>
                <a:latin typeface="Gill Sans MT" pitchFamily="34" charset="0"/>
              </a:rPr>
              <a:t>FINISH-TO-FINISH</a:t>
            </a:r>
            <a:r>
              <a:rPr lang="en-US" sz="2800" kern="1200" dirty="0">
                <a:solidFill>
                  <a:schemeClr val="tx1"/>
                </a:solidFill>
                <a:latin typeface="Gill Sans MT" pitchFamily="34" charset="0"/>
              </a:rPr>
              <a:t> (lag finish) </a:t>
            </a:r>
            <a:endParaRPr lang="en-US" sz="2800" kern="1200" dirty="0">
              <a:solidFill>
                <a:schemeClr val="tx1"/>
              </a:solidFill>
              <a:latin typeface="Gill Sans MT" pitchFamily="34" charset="0"/>
            </a:endParaRPr>
          </a:p>
          <a:p>
            <a:pPr algn="just" defTabSz="859790">
              <a:spcAft>
                <a:spcPts val="600"/>
              </a:spcAft>
            </a:pPr>
            <a:endParaRPr lang="en-US" sz="2255" kern="1200" dirty="0">
              <a:solidFill>
                <a:schemeClr val="tx1"/>
              </a:solidFill>
              <a:latin typeface="+mn-lt"/>
              <a:ea typeface="+mn-ea"/>
              <a:cs typeface="+mn-cs"/>
            </a:endParaRPr>
          </a:p>
          <a:p>
            <a:pPr algn="just" defTabSz="859790">
              <a:spcAft>
                <a:spcPts val="600"/>
              </a:spcAft>
            </a:pPr>
            <a:endParaRPr lang="en-US" sz="2255" kern="1200" dirty="0">
              <a:solidFill>
                <a:schemeClr val="tx1"/>
              </a:solidFill>
              <a:latin typeface="+mn-lt"/>
              <a:ea typeface="+mn-ea"/>
              <a:cs typeface="+mn-cs"/>
            </a:endParaRPr>
          </a:p>
          <a:p>
            <a:pPr algn="just" defTabSz="859790">
              <a:spcAft>
                <a:spcPts val="600"/>
              </a:spcAft>
            </a:pPr>
            <a:endParaRPr lang="en-US" sz="2255" kern="1200" dirty="0">
              <a:solidFill>
                <a:schemeClr val="tx1"/>
              </a:solidFill>
              <a:latin typeface="+mn-lt"/>
              <a:ea typeface="+mn-ea"/>
              <a:cs typeface="+mn-cs"/>
            </a:endParaRPr>
          </a:p>
          <a:p>
            <a:pPr algn="just" defTabSz="859790">
              <a:spcAft>
                <a:spcPts val="600"/>
              </a:spcAft>
            </a:pPr>
            <a:endParaRPr lang="en-US" sz="940" kern="1200" dirty="0">
              <a:solidFill>
                <a:schemeClr val="tx1"/>
              </a:solidFill>
              <a:latin typeface="+mn-lt"/>
              <a:ea typeface="+mn-ea"/>
              <a:cs typeface="+mn-cs"/>
            </a:endParaRPr>
          </a:p>
          <a:p>
            <a:pPr algn="just" defTabSz="859790">
              <a:spcAft>
                <a:spcPts val="600"/>
              </a:spcAft>
            </a:pPr>
            <a:r>
              <a:rPr lang="en-US" sz="2255" kern="1200" dirty="0">
                <a:solidFill>
                  <a:schemeClr val="tx1"/>
                </a:solidFill>
                <a:latin typeface="+mn-lt"/>
                <a:ea typeface="+mn-ea"/>
                <a:cs typeface="+mn-cs"/>
              </a:rPr>
              <a:t> </a:t>
            </a:r>
            <a:endParaRPr lang="en-US" sz="2400" dirty="0">
              <a:solidFill>
                <a:srgbClr val="FF0000"/>
              </a:solidFill>
            </a:endParaRPr>
          </a:p>
        </p:txBody>
      </p:sp>
      <p:pic>
        <p:nvPicPr>
          <p:cNvPr id="6" name="Picture 5"/>
          <p:cNvPicPr/>
          <p:nvPr/>
        </p:nvPicPr>
        <p:blipFill>
          <a:blip r:embed="rId1"/>
          <a:stretch>
            <a:fillRect/>
          </a:stretch>
        </p:blipFill>
        <p:spPr>
          <a:xfrm>
            <a:off x="410817" y="2531165"/>
            <a:ext cx="10323444" cy="43268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37066" y="5074794"/>
            <a:ext cx="1185333"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START</a:t>
            </a:r>
            <a:endParaRPr lang="en-US" sz="2000" b="1" dirty="0"/>
          </a:p>
        </p:txBody>
      </p:sp>
      <p:sp>
        <p:nvSpPr>
          <p:cNvPr id="5" name="Rounded Rectangle 4"/>
          <p:cNvSpPr/>
          <p:nvPr/>
        </p:nvSpPr>
        <p:spPr>
          <a:xfrm>
            <a:off x="1729648" y="4578183"/>
            <a:ext cx="1320800" cy="6858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800" dirty="0"/>
              <a:t>A</a:t>
            </a:r>
            <a:endParaRPr lang="en-US" sz="2800" dirty="0"/>
          </a:p>
        </p:txBody>
      </p:sp>
      <p:sp>
        <p:nvSpPr>
          <p:cNvPr id="6" name="Rounded Rectangle 5"/>
          <p:cNvSpPr/>
          <p:nvPr/>
        </p:nvSpPr>
        <p:spPr>
          <a:xfrm>
            <a:off x="3755958" y="4835720"/>
            <a:ext cx="1320800" cy="685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B</a:t>
            </a:r>
            <a:endParaRPr lang="en-US" sz="2800" dirty="0"/>
          </a:p>
        </p:txBody>
      </p:sp>
      <p:sp>
        <p:nvSpPr>
          <p:cNvPr id="8" name="Rounded Rectangle 7"/>
          <p:cNvSpPr/>
          <p:nvPr/>
        </p:nvSpPr>
        <p:spPr>
          <a:xfrm>
            <a:off x="9042400" y="3375696"/>
            <a:ext cx="1320800" cy="6858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H</a:t>
            </a:r>
            <a:endParaRPr lang="en-US" sz="2800" dirty="0"/>
          </a:p>
        </p:txBody>
      </p:sp>
      <p:sp>
        <p:nvSpPr>
          <p:cNvPr id="9" name="Rounded Rectangle 8"/>
          <p:cNvSpPr/>
          <p:nvPr/>
        </p:nvSpPr>
        <p:spPr>
          <a:xfrm>
            <a:off x="8749936" y="4860799"/>
            <a:ext cx="1320800" cy="6858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3200" dirty="0"/>
              <a:t>F</a:t>
            </a:r>
            <a:endParaRPr lang="en-US" sz="3200" dirty="0"/>
          </a:p>
        </p:txBody>
      </p:sp>
      <p:sp>
        <p:nvSpPr>
          <p:cNvPr id="10" name="Rounded Rectangle 9"/>
          <p:cNvSpPr/>
          <p:nvPr/>
        </p:nvSpPr>
        <p:spPr>
          <a:xfrm>
            <a:off x="8591724" y="5876317"/>
            <a:ext cx="1320800" cy="6858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800" dirty="0"/>
              <a:t>G</a:t>
            </a:r>
            <a:endParaRPr lang="en-US" sz="2800" dirty="0"/>
          </a:p>
        </p:txBody>
      </p:sp>
      <p:sp>
        <p:nvSpPr>
          <p:cNvPr id="11" name="Rounded Rectangle 10"/>
          <p:cNvSpPr/>
          <p:nvPr/>
        </p:nvSpPr>
        <p:spPr>
          <a:xfrm>
            <a:off x="6847240" y="3744152"/>
            <a:ext cx="1320800" cy="685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dirty="0"/>
              <a:t>E</a:t>
            </a:r>
            <a:endParaRPr lang="en-US" sz="2800" dirty="0"/>
          </a:p>
        </p:txBody>
      </p:sp>
      <p:sp>
        <p:nvSpPr>
          <p:cNvPr id="12" name="Rounded Rectangle 11"/>
          <p:cNvSpPr/>
          <p:nvPr/>
        </p:nvSpPr>
        <p:spPr>
          <a:xfrm>
            <a:off x="6847240" y="4756540"/>
            <a:ext cx="1320800" cy="6858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200" dirty="0"/>
              <a:t>D</a:t>
            </a:r>
            <a:endParaRPr lang="en-US" sz="3200" dirty="0"/>
          </a:p>
        </p:txBody>
      </p:sp>
      <p:sp>
        <p:nvSpPr>
          <p:cNvPr id="13" name="Rounded Rectangle 12"/>
          <p:cNvSpPr/>
          <p:nvPr/>
        </p:nvSpPr>
        <p:spPr>
          <a:xfrm>
            <a:off x="6500115" y="5909958"/>
            <a:ext cx="1320800" cy="68580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3200" dirty="0"/>
              <a:t>C</a:t>
            </a:r>
            <a:endParaRPr lang="en-US" sz="3200" dirty="0"/>
          </a:p>
        </p:txBody>
      </p:sp>
      <p:sp>
        <p:nvSpPr>
          <p:cNvPr id="14" name="Oval 13"/>
          <p:cNvSpPr/>
          <p:nvPr/>
        </p:nvSpPr>
        <p:spPr>
          <a:xfrm>
            <a:off x="10464800" y="4998594"/>
            <a:ext cx="17272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FINISH</a:t>
            </a:r>
            <a:endParaRPr lang="en-US" sz="2400" dirty="0"/>
          </a:p>
        </p:txBody>
      </p:sp>
      <p:cxnSp>
        <p:nvCxnSpPr>
          <p:cNvPr id="16" name="Straight Arrow Connector 15"/>
          <p:cNvCxnSpPr>
            <a:stCxn id="4" idx="6"/>
            <a:endCxn id="5" idx="1"/>
          </p:cNvCxnSpPr>
          <p:nvPr/>
        </p:nvCxnSpPr>
        <p:spPr>
          <a:xfrm flipV="1">
            <a:off x="1422399" y="4921083"/>
            <a:ext cx="307249" cy="649011"/>
          </a:xfrm>
          <a:prstGeom prst="straightConnector1">
            <a:avLst/>
          </a:prstGeom>
          <a:ln>
            <a:prstDash val="dashDot"/>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5" idx="3"/>
            <a:endCxn id="6" idx="1"/>
          </p:cNvCxnSpPr>
          <p:nvPr/>
        </p:nvCxnSpPr>
        <p:spPr>
          <a:xfrm>
            <a:off x="3050448" y="4921083"/>
            <a:ext cx="705510" cy="25753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9" name="Straight Arrow Connector 18"/>
          <p:cNvCxnSpPr>
            <a:stCxn id="6" idx="3"/>
            <a:endCxn id="12" idx="1"/>
          </p:cNvCxnSpPr>
          <p:nvPr/>
        </p:nvCxnSpPr>
        <p:spPr>
          <a:xfrm flipV="1">
            <a:off x="5076758" y="5099440"/>
            <a:ext cx="1770482" cy="7918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0" name="Straight Arrow Connector 19"/>
          <p:cNvCxnSpPr/>
          <p:nvPr/>
        </p:nvCxnSpPr>
        <p:spPr>
          <a:xfrm>
            <a:off x="5076758" y="5339198"/>
            <a:ext cx="1423357" cy="107423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Straight Arrow Connector 23"/>
          <p:cNvCxnSpPr>
            <a:stCxn id="6" idx="3"/>
            <a:endCxn id="11" idx="1"/>
          </p:cNvCxnSpPr>
          <p:nvPr/>
        </p:nvCxnSpPr>
        <p:spPr>
          <a:xfrm flipV="1">
            <a:off x="5076758" y="4087052"/>
            <a:ext cx="1770482" cy="1091568"/>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29" name="Straight Arrow Connector 28"/>
          <p:cNvCxnSpPr>
            <a:stCxn id="11" idx="3"/>
            <a:endCxn id="8" idx="1"/>
          </p:cNvCxnSpPr>
          <p:nvPr/>
        </p:nvCxnSpPr>
        <p:spPr>
          <a:xfrm flipV="1">
            <a:off x="8168040" y="3718596"/>
            <a:ext cx="874360" cy="368456"/>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1" name="Straight Arrow Connector 30"/>
          <p:cNvCxnSpPr/>
          <p:nvPr/>
        </p:nvCxnSpPr>
        <p:spPr>
          <a:xfrm>
            <a:off x="10363200" y="3695101"/>
            <a:ext cx="762000" cy="150859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0" idx="3"/>
            <a:endCxn id="14" idx="2"/>
          </p:cNvCxnSpPr>
          <p:nvPr/>
        </p:nvCxnSpPr>
        <p:spPr>
          <a:xfrm flipV="1">
            <a:off x="9912525" y="5570095"/>
            <a:ext cx="552276" cy="649123"/>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3" idx="3"/>
            <a:endCxn id="9" idx="1"/>
          </p:cNvCxnSpPr>
          <p:nvPr/>
        </p:nvCxnSpPr>
        <p:spPr>
          <a:xfrm flipV="1">
            <a:off x="7820915" y="5203700"/>
            <a:ext cx="929021" cy="1049159"/>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38" name="Straight Arrow Connector 37"/>
          <p:cNvCxnSpPr>
            <a:stCxn id="13" idx="3"/>
            <a:endCxn id="10" idx="1"/>
          </p:cNvCxnSpPr>
          <p:nvPr/>
        </p:nvCxnSpPr>
        <p:spPr>
          <a:xfrm flipV="1">
            <a:off x="7820916" y="6219218"/>
            <a:ext cx="770809" cy="33641"/>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41" name="Straight Arrow Connector 40"/>
          <p:cNvCxnSpPr>
            <a:stCxn id="12" idx="3"/>
            <a:endCxn id="9" idx="1"/>
          </p:cNvCxnSpPr>
          <p:nvPr/>
        </p:nvCxnSpPr>
        <p:spPr>
          <a:xfrm>
            <a:off x="8168040" y="5099441"/>
            <a:ext cx="581896" cy="104259"/>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43" name="Straight Arrow Connector 42"/>
          <p:cNvCxnSpPr>
            <a:stCxn id="12" idx="3"/>
            <a:endCxn id="10" idx="1"/>
          </p:cNvCxnSpPr>
          <p:nvPr/>
        </p:nvCxnSpPr>
        <p:spPr>
          <a:xfrm>
            <a:off x="8168041" y="5099441"/>
            <a:ext cx="423684" cy="1119777"/>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46" name="Straight Arrow Connector 45"/>
          <p:cNvCxnSpPr>
            <a:stCxn id="9" idx="0"/>
            <a:endCxn id="8" idx="2"/>
          </p:cNvCxnSpPr>
          <p:nvPr/>
        </p:nvCxnSpPr>
        <p:spPr>
          <a:xfrm flipV="1">
            <a:off x="9410336" y="4061497"/>
            <a:ext cx="292464" cy="799303"/>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65" name="Rectangle 64"/>
          <p:cNvSpPr/>
          <p:nvPr/>
        </p:nvSpPr>
        <p:spPr>
          <a:xfrm>
            <a:off x="9252124" y="420193"/>
            <a:ext cx="2659597" cy="2616101"/>
          </a:xfrm>
          <a:prstGeom prst="rect">
            <a:avLst/>
          </a:prstGeom>
        </p:spPr>
        <p:txBody>
          <a:bodyPr wrap="square">
            <a:spAutoFit/>
          </a:bodyPr>
          <a:lstStyle/>
          <a:p>
            <a:pPr algn="ctr"/>
            <a:r>
              <a:rPr lang="en-US" sz="2000" b="1" dirty="0"/>
              <a:t>List activities in a typical road construction project, create the corresponding WBS and discuss the interdependencies of these activities</a:t>
            </a:r>
            <a:r>
              <a:rPr lang="en-US" sz="2400" b="1" dirty="0"/>
              <a:t>. </a:t>
            </a:r>
            <a:endParaRPr lang="en-US" sz="2400" b="1" dirty="0"/>
          </a:p>
        </p:txBody>
      </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361" y="420193"/>
            <a:ext cx="8898040" cy="319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 name="Rectangle 68"/>
          <p:cNvSpPr/>
          <p:nvPr/>
        </p:nvSpPr>
        <p:spPr>
          <a:xfrm>
            <a:off x="4299411" y="60779"/>
            <a:ext cx="2861104" cy="369332"/>
          </a:xfrm>
          <a:prstGeom prst="rect">
            <a:avLst/>
          </a:prstGeom>
        </p:spPr>
        <p:txBody>
          <a:bodyPr wrap="none">
            <a:spAutoFit/>
          </a:bodyPr>
          <a:lstStyle/>
          <a:p>
            <a:r>
              <a:rPr lang="en-US" b="1" dirty="0"/>
              <a:t>PRECEDENCE RELATIONSHIP</a:t>
            </a:r>
            <a:endParaRPr lang="en-US" dirty="0"/>
          </a:p>
        </p:txBody>
      </p:sp>
      <p:sp>
        <p:nvSpPr>
          <p:cNvPr id="70" name="Rectangle 69"/>
          <p:cNvSpPr/>
          <p:nvPr/>
        </p:nvSpPr>
        <p:spPr>
          <a:xfrm>
            <a:off x="1729648" y="3718596"/>
            <a:ext cx="2641600" cy="4754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Activity on Node (AON)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30806" y="271659"/>
            <a:ext cx="3021918" cy="646331"/>
          </a:xfrm>
          <a:prstGeom prst="rect">
            <a:avLst/>
          </a:prstGeom>
        </p:spPr>
        <p:txBody>
          <a:bodyPr wrap="none">
            <a:spAutoFit/>
          </a:bodyPr>
          <a:lstStyle/>
          <a:p>
            <a:pPr algn="ctr" defTabSz="859790">
              <a:spcAft>
                <a:spcPts val="600"/>
              </a:spcAft>
            </a:pPr>
            <a:r>
              <a:rPr lang="en-US" sz="3600" b="1" dirty="0">
                <a:solidFill>
                  <a:srgbClr val="C00000"/>
                </a:solidFill>
                <a:effectLst>
                  <a:outerShdw blurRad="38100" dist="38100" dir="2700000" algn="tl">
                    <a:srgbClr val="000000">
                      <a:alpha val="43137"/>
                    </a:srgbClr>
                  </a:outerShdw>
                </a:effectLst>
              </a:rPr>
              <a:t>LEAD AND LAG</a:t>
            </a:r>
            <a:endParaRPr lang="en-US" sz="3600" b="1" dirty="0">
              <a:solidFill>
                <a:srgbClr val="C00000"/>
              </a:solidFill>
              <a:effectLst>
                <a:outerShdw blurRad="38100" dist="38100" dir="2700000" algn="tl">
                  <a:srgbClr val="000000">
                    <a:alpha val="43137"/>
                  </a:srgbClr>
                </a:outerShdw>
              </a:effectLst>
            </a:endParaRPr>
          </a:p>
        </p:txBody>
      </p:sp>
      <p:sp>
        <p:nvSpPr>
          <p:cNvPr id="3" name="Rectangle 2"/>
          <p:cNvSpPr/>
          <p:nvPr/>
        </p:nvSpPr>
        <p:spPr>
          <a:xfrm>
            <a:off x="669046" y="917990"/>
            <a:ext cx="10853908" cy="815608"/>
          </a:xfrm>
          <a:prstGeom prst="rect">
            <a:avLst/>
          </a:prstGeom>
        </p:spPr>
        <p:txBody>
          <a:bodyPr wrap="square">
            <a:spAutoFit/>
          </a:bodyPr>
          <a:lstStyle/>
          <a:p>
            <a:pPr algn="ctr" defTabSz="859790">
              <a:spcAft>
                <a:spcPts val="600"/>
              </a:spcAft>
            </a:pPr>
            <a:r>
              <a:rPr lang="en-US" sz="2400" b="1" dirty="0">
                <a:solidFill>
                  <a:srgbClr val="C00000"/>
                </a:solidFill>
                <a:effectLst>
                  <a:outerShdw blurRad="38100" dist="38100" dir="2700000" algn="tl">
                    <a:srgbClr val="000000">
                      <a:alpha val="43137"/>
                    </a:srgbClr>
                  </a:outerShdw>
                </a:effectLst>
              </a:rPr>
              <a:t>LEAD</a:t>
            </a:r>
            <a:r>
              <a:rPr lang="en-US" dirty="0">
                <a:solidFill>
                  <a:schemeClr val="dk1"/>
                </a:solidFill>
                <a:effectLst>
                  <a:outerShdw blurRad="38100" dist="38100" dir="2700000" algn="tl">
                    <a:srgbClr val="000000">
                      <a:alpha val="43137"/>
                    </a:srgbClr>
                  </a:outerShdw>
                </a:effectLst>
              </a:rPr>
              <a:t> is the acceleration of the successor activity.    </a:t>
            </a:r>
            <a:endParaRPr lang="en-US" dirty="0">
              <a:solidFill>
                <a:schemeClr val="dk1"/>
              </a:solidFill>
              <a:effectLst>
                <a:outerShdw blurRad="38100" dist="38100" dir="2700000" algn="tl">
                  <a:srgbClr val="000000">
                    <a:alpha val="43137"/>
                  </a:srgbClr>
                </a:outerShdw>
              </a:effectLst>
            </a:endParaRPr>
          </a:p>
          <a:p>
            <a:pPr algn="ctr" defTabSz="859790">
              <a:spcAft>
                <a:spcPts val="600"/>
              </a:spcAft>
            </a:pPr>
            <a:r>
              <a:rPr lang="en-US" dirty="0">
                <a:solidFill>
                  <a:schemeClr val="dk1"/>
                </a:solidFill>
                <a:effectLst>
                  <a:outerShdw blurRad="38100" dist="38100" dir="2700000" algn="tl">
                    <a:srgbClr val="000000">
                      <a:alpha val="43137"/>
                    </a:srgbClr>
                  </a:outerShdw>
                </a:effectLst>
              </a:rPr>
              <a:t>This means the amount of time a successor activity can be advanced with respect to predecessor activities</a:t>
            </a:r>
            <a:endParaRPr lang="x-none" dirty="0">
              <a:solidFill>
                <a:srgbClr val="FF0000"/>
              </a:solidFill>
              <a:effectLst>
                <a:outerShdw blurRad="38100" dist="38100" dir="2700000" algn="tl">
                  <a:srgbClr val="000000">
                    <a:alpha val="43137"/>
                  </a:srgbClr>
                </a:outerShdw>
              </a:effectLst>
            </a:endParaRPr>
          </a:p>
        </p:txBody>
      </p:sp>
      <p:sp>
        <p:nvSpPr>
          <p:cNvPr id="4" name="Rectangle 3"/>
          <p:cNvSpPr/>
          <p:nvPr/>
        </p:nvSpPr>
        <p:spPr>
          <a:xfrm>
            <a:off x="520569" y="4074443"/>
            <a:ext cx="10442410" cy="815608"/>
          </a:xfrm>
          <a:prstGeom prst="rect">
            <a:avLst/>
          </a:prstGeom>
        </p:spPr>
        <p:txBody>
          <a:bodyPr wrap="none">
            <a:spAutoFit/>
          </a:bodyPr>
          <a:lstStyle/>
          <a:p>
            <a:pPr algn="ctr" defTabSz="859790">
              <a:spcAft>
                <a:spcPts val="600"/>
              </a:spcAft>
            </a:pPr>
            <a:r>
              <a:rPr lang="en-US" sz="2400" b="1" dirty="0">
                <a:solidFill>
                  <a:srgbClr val="C00000"/>
                </a:solidFill>
                <a:effectLst>
                  <a:outerShdw blurRad="38100" dist="38100" dir="2700000" algn="tl">
                    <a:srgbClr val="000000">
                      <a:alpha val="43137"/>
                    </a:srgbClr>
                  </a:outerShdw>
                </a:effectLst>
              </a:rPr>
              <a:t>LAG</a:t>
            </a:r>
            <a:r>
              <a:rPr lang="en-US" dirty="0">
                <a:solidFill>
                  <a:schemeClr val="dk1"/>
                </a:solidFill>
                <a:effectLst>
                  <a:outerShdw blurRad="38100" dist="38100" dir="2700000" algn="tl">
                    <a:srgbClr val="000000">
                      <a:alpha val="43137"/>
                    </a:srgbClr>
                  </a:outerShdw>
                </a:effectLst>
              </a:rPr>
              <a:t> indicate a delay in the predecessor activity. </a:t>
            </a:r>
            <a:endParaRPr lang="en-US" dirty="0">
              <a:solidFill>
                <a:schemeClr val="dk1"/>
              </a:solidFill>
              <a:effectLst>
                <a:outerShdw blurRad="38100" dist="38100" dir="2700000" algn="tl">
                  <a:srgbClr val="000000">
                    <a:alpha val="43137"/>
                  </a:srgbClr>
                </a:outerShdw>
              </a:effectLst>
            </a:endParaRPr>
          </a:p>
          <a:p>
            <a:pPr algn="ctr" defTabSz="859790">
              <a:spcAft>
                <a:spcPts val="600"/>
              </a:spcAft>
            </a:pPr>
            <a:r>
              <a:rPr lang="en-US" dirty="0">
                <a:solidFill>
                  <a:schemeClr val="dk1"/>
                </a:solidFill>
                <a:effectLst>
                  <a:outerShdw blurRad="38100" dist="38100" dir="2700000" algn="tl">
                    <a:srgbClr val="000000">
                      <a:alpha val="43137"/>
                    </a:srgbClr>
                  </a:outerShdw>
                </a:effectLst>
              </a:rPr>
              <a:t>This means the amount of time the successor activity will be delayed with respect to the predecessor activity </a:t>
            </a:r>
            <a:endParaRPr lang="x-none" dirty="0">
              <a:solidFill>
                <a:srgbClr val="FF0000"/>
              </a:solidFill>
              <a:effectLst>
                <a:outerShdw blurRad="38100" dist="38100" dir="2700000" algn="tl">
                  <a:srgbClr val="000000">
                    <a:alpha val="43137"/>
                  </a:srgbClr>
                </a:outerShdw>
              </a:effectLst>
            </a:endParaRPr>
          </a:p>
        </p:txBody>
      </p:sp>
      <p:pic>
        <p:nvPicPr>
          <p:cNvPr id="12" name="Picture 11"/>
          <p:cNvPicPr/>
          <p:nvPr/>
        </p:nvPicPr>
        <p:blipFill>
          <a:blip r:embed="rId1"/>
          <a:stretch>
            <a:fillRect/>
          </a:stretch>
        </p:blipFill>
        <p:spPr>
          <a:xfrm>
            <a:off x="2425149" y="1902867"/>
            <a:ext cx="4827576" cy="2192056"/>
          </a:xfrm>
          <a:prstGeom prst="rect">
            <a:avLst/>
          </a:prstGeom>
        </p:spPr>
      </p:pic>
      <p:pic>
        <p:nvPicPr>
          <p:cNvPr id="13" name="Picture 12"/>
          <p:cNvPicPr/>
          <p:nvPr/>
        </p:nvPicPr>
        <p:blipFill>
          <a:blip r:embed="rId2"/>
          <a:stretch>
            <a:fillRect/>
          </a:stretch>
        </p:blipFill>
        <p:spPr>
          <a:xfrm>
            <a:off x="3220278" y="4890051"/>
            <a:ext cx="4373218" cy="21866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6" name="Rectangle 18"/>
          <p:cNvSpPr/>
          <p:nvPr/>
        </p:nvSpPr>
        <p:spPr>
          <a:xfrm>
            <a:off x="275492" y="333137"/>
            <a:ext cx="11641016" cy="63094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rgbClr val="7F7F7F"/>
                </a:solidFill>
                <a:latin typeface="+mj-lt"/>
                <a:ea typeface="+mn-ea"/>
                <a:cs typeface="+mn-cs"/>
              </a:defRPr>
            </a:lvl1pPr>
            <a:lvl2pPr marL="742950" indent="-285750" algn="l" rtl="0" eaLnBrk="0" fontAlgn="base" hangingPunct="0">
              <a:spcBef>
                <a:spcPct val="20000"/>
              </a:spcBef>
              <a:spcAft>
                <a:spcPct val="0"/>
              </a:spcAft>
              <a:buFont typeface="Courier New" panose="02070309020205020404" pitchFamily="49" charset="0"/>
              <a:buChar char="o"/>
              <a:defRPr sz="1600" kern="1200">
                <a:solidFill>
                  <a:srgbClr val="7F7F7F"/>
                </a:solidFill>
                <a:latin typeface="+mj-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n-ea"/>
                <a:cs typeface="+mn-cs"/>
              </a:defRPr>
            </a:lvl3pPr>
            <a:lvl4pPr marL="1600200" indent="-228600" algn="l" rtl="0" eaLnBrk="0" fontAlgn="base" hangingPunct="0">
              <a:spcBef>
                <a:spcPct val="20000"/>
              </a:spcBef>
              <a:spcAft>
                <a:spcPct val="0"/>
              </a:spcAft>
              <a:buFont typeface="Courier New" panose="02070309020205020404" pitchFamily="49" charset="0"/>
              <a:buChar char="o"/>
              <a:defRPr sz="1600" kern="1200">
                <a:solidFill>
                  <a:srgbClr val="7F7F7F"/>
                </a:solidFill>
                <a:latin typeface="+mj-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n-ea"/>
                <a:cs typeface="+mn-cs"/>
              </a:defRPr>
            </a:lvl5pPr>
          </a:lstStyle>
          <a:p>
            <a:pPr marL="0" indent="0" algn="ctr" eaLnBrk="1" hangingPunct="1">
              <a:spcBef>
                <a:spcPct val="0"/>
              </a:spcBef>
              <a:buNone/>
            </a:pPr>
            <a:r>
              <a:rPr lang="en-US" altLang="en-US" sz="3200" b="1" dirty="0">
                <a:solidFill>
                  <a:schemeClr val="tx1"/>
                </a:solidFill>
                <a:latin typeface="Calibri" panose="020F0502020204030204" pitchFamily="34" charset="0"/>
              </a:rPr>
              <a:t>DEPENDENCY DETERMINATION</a:t>
            </a:r>
            <a:endParaRPr lang="en-US" altLang="en-US" sz="3200" b="1" dirty="0">
              <a:solidFill>
                <a:schemeClr val="tx1"/>
              </a:solidFill>
              <a:latin typeface="Calibri" panose="020F0502020204030204" pitchFamily="34" charset="0"/>
            </a:endParaRPr>
          </a:p>
          <a:p>
            <a:pPr marL="0" indent="0" eaLnBrk="1" hangingPunct="1">
              <a:spcBef>
                <a:spcPct val="0"/>
              </a:spcBef>
              <a:buNone/>
            </a:pPr>
            <a:endParaRPr lang="en-US" altLang="en-US" sz="1000" dirty="0">
              <a:solidFill>
                <a:schemeClr val="tx1"/>
              </a:solidFill>
            </a:endParaRPr>
          </a:p>
          <a:p>
            <a:pPr marL="0" algn="just" eaLnBrk="1" hangingPunct="1">
              <a:spcBef>
                <a:spcPct val="0"/>
              </a:spcBef>
              <a:buFont typeface="Wingdings" panose="05000000000000000000" pitchFamily="2" charset="2"/>
              <a:buChar char="§"/>
            </a:pPr>
            <a:r>
              <a:rPr lang="en-US" altLang="en-US" sz="2800" i="1" dirty="0">
                <a:solidFill>
                  <a:schemeClr val="tx1"/>
                </a:solidFill>
                <a:effectLst>
                  <a:outerShdw blurRad="38100" dist="38100" dir="2700000" algn="tl">
                    <a:srgbClr val="000000">
                      <a:alpha val="43137"/>
                    </a:srgbClr>
                  </a:outerShdw>
                </a:effectLst>
                <a:latin typeface="Gill Sans MT" pitchFamily="34" charset="0"/>
              </a:rPr>
              <a:t>Mandatory dependencies</a:t>
            </a:r>
            <a:r>
              <a:rPr lang="en-US" altLang="en-US" sz="2800" i="1" dirty="0">
                <a:solidFill>
                  <a:schemeClr val="tx1"/>
                </a:solidFill>
                <a:latin typeface="Gill Sans MT" pitchFamily="34" charset="0"/>
              </a:rPr>
              <a:t>: </a:t>
            </a:r>
            <a:r>
              <a:rPr lang="en-US" altLang="en-US" sz="2800" dirty="0">
                <a:solidFill>
                  <a:schemeClr val="tx1"/>
                </a:solidFill>
                <a:latin typeface="Gill Sans MT" pitchFamily="34" charset="0"/>
              </a:rPr>
              <a:t>These dependencies are form of physical limitation. They are also </a:t>
            </a:r>
            <a:r>
              <a:rPr lang="en-US" altLang="en-US" sz="2800" i="1" dirty="0">
                <a:solidFill>
                  <a:schemeClr val="tx1"/>
                </a:solidFill>
                <a:latin typeface="Gill Sans MT" pitchFamily="34" charset="0"/>
              </a:rPr>
              <a:t>known as hard logic</a:t>
            </a:r>
            <a:r>
              <a:rPr lang="en-US" altLang="en-US" sz="2800" dirty="0">
                <a:solidFill>
                  <a:schemeClr val="tx1"/>
                </a:solidFill>
                <a:latin typeface="Gill Sans MT" pitchFamily="34" charset="0"/>
              </a:rPr>
              <a:t>. </a:t>
            </a:r>
            <a:r>
              <a:rPr lang="en-US" altLang="en-US" sz="2800" i="1" dirty="0">
                <a:solidFill>
                  <a:schemeClr val="tx1"/>
                </a:solidFill>
                <a:latin typeface="Gill Sans MT" pitchFamily="34" charset="0"/>
              </a:rPr>
              <a:t>Example: You can’t commence building until you receive government approval to build.  </a:t>
            </a:r>
            <a:r>
              <a:rPr lang="en-US" sz="2800" i="1" dirty="0">
                <a:solidFill>
                  <a:schemeClr val="tx1"/>
                </a:solidFill>
                <a:latin typeface="Gill Sans MT" pitchFamily="34" charset="0"/>
                <a:cs typeface="Calibri" panose="020F0502020204030204" pitchFamily="34" charset="0"/>
              </a:rPr>
              <a:t> </a:t>
            </a:r>
            <a:endParaRPr lang="en-US" altLang="en-US" sz="2800" i="1" dirty="0">
              <a:solidFill>
                <a:schemeClr val="tx1"/>
              </a:solidFill>
              <a:latin typeface="Gill Sans MT" pitchFamily="34" charset="0"/>
              <a:cs typeface="Calibri" panose="020F0502020204030204" pitchFamily="34" charset="0"/>
            </a:endParaRPr>
          </a:p>
          <a:p>
            <a:pPr marL="0" algn="just" eaLnBrk="1" hangingPunct="1">
              <a:spcBef>
                <a:spcPct val="0"/>
              </a:spcBef>
              <a:buFont typeface="Wingdings" panose="05000000000000000000" pitchFamily="2" charset="2"/>
              <a:buChar char="§"/>
            </a:pPr>
            <a:r>
              <a:rPr lang="en-US" altLang="en-US" sz="2800" i="1" dirty="0">
                <a:solidFill>
                  <a:schemeClr val="tx1"/>
                </a:solidFill>
                <a:effectLst>
                  <a:outerShdw blurRad="38100" dist="38100" dir="2700000" algn="tl">
                    <a:srgbClr val="000000">
                      <a:alpha val="43137"/>
                    </a:srgbClr>
                  </a:outerShdw>
                </a:effectLst>
                <a:latin typeface="Gill Sans MT" pitchFamily="34" charset="0"/>
              </a:rPr>
              <a:t>Discretionary dependencies</a:t>
            </a:r>
            <a:r>
              <a:rPr lang="en-US" altLang="en-US" sz="2800" i="1" dirty="0">
                <a:solidFill>
                  <a:schemeClr val="tx1"/>
                </a:solidFill>
                <a:latin typeface="Gill Sans MT" pitchFamily="34" charset="0"/>
              </a:rPr>
              <a:t>: </a:t>
            </a:r>
            <a:r>
              <a:rPr lang="en-US" sz="2800" dirty="0">
                <a:solidFill>
                  <a:schemeClr val="tx1"/>
                </a:solidFill>
                <a:latin typeface="Gill Sans MT" pitchFamily="34" charset="0"/>
                <a:cs typeface="Calibri" panose="020F0502020204030204" pitchFamily="34" charset="0"/>
              </a:rPr>
              <a:t>These dependencies may be at the discretion of the project manager. They </a:t>
            </a:r>
            <a:r>
              <a:rPr lang="en-US" altLang="en-US" sz="2800" dirty="0">
                <a:solidFill>
                  <a:schemeClr val="tx1"/>
                </a:solidFill>
                <a:latin typeface="Gill Sans MT" pitchFamily="34" charset="0"/>
              </a:rPr>
              <a:t>are based on the knowledge of best-practice or project team’s expertise based on past experiences. They are also called ‘</a:t>
            </a:r>
            <a:r>
              <a:rPr lang="en-US" altLang="en-US" sz="2800" i="1" dirty="0">
                <a:solidFill>
                  <a:schemeClr val="tx1"/>
                </a:solidFill>
                <a:latin typeface="Gill Sans MT" pitchFamily="34" charset="0"/>
              </a:rPr>
              <a:t>preferred or soft logic’</a:t>
            </a:r>
            <a:r>
              <a:rPr lang="en-US" altLang="en-US" sz="2800" dirty="0">
                <a:solidFill>
                  <a:schemeClr val="tx1"/>
                </a:solidFill>
                <a:latin typeface="Gill Sans MT" pitchFamily="34" charset="0"/>
              </a:rPr>
              <a:t>.  </a:t>
            </a:r>
            <a:r>
              <a:rPr lang="en-US" altLang="en-US" sz="2800" i="1" dirty="0">
                <a:solidFill>
                  <a:schemeClr val="tx1"/>
                </a:solidFill>
                <a:latin typeface="Gill Sans MT" pitchFamily="34" charset="0"/>
              </a:rPr>
              <a:t>Example is adoption of new approach due to expertise.</a:t>
            </a:r>
            <a:endParaRPr lang="en-US" altLang="en-US" sz="2800" i="1" dirty="0">
              <a:solidFill>
                <a:schemeClr val="tx1"/>
              </a:solidFill>
              <a:latin typeface="Gill Sans MT" pitchFamily="34" charset="0"/>
            </a:endParaRPr>
          </a:p>
          <a:p>
            <a:pPr marL="0" algn="just" eaLnBrk="1" hangingPunct="1">
              <a:spcBef>
                <a:spcPct val="0"/>
              </a:spcBef>
              <a:buFont typeface="Wingdings" panose="05000000000000000000" pitchFamily="2" charset="2"/>
              <a:buChar char="§"/>
            </a:pPr>
            <a:r>
              <a:rPr lang="en-US" altLang="en-GB" sz="2800" i="1" dirty="0">
                <a:solidFill>
                  <a:schemeClr val="tx1"/>
                </a:solidFill>
                <a:effectLst>
                  <a:outerShdw blurRad="38100" dist="38100" dir="2700000" algn="tl">
                    <a:srgbClr val="000000">
                      <a:alpha val="43137"/>
                    </a:srgbClr>
                  </a:outerShdw>
                </a:effectLst>
                <a:latin typeface="Gill Sans MT" pitchFamily="34" charset="0"/>
              </a:rPr>
              <a:t>External dependencies</a:t>
            </a:r>
            <a:r>
              <a:rPr lang="en-US" altLang="en-GB" sz="2800" b="1" i="1" dirty="0">
                <a:solidFill>
                  <a:schemeClr val="tx1"/>
                </a:solidFill>
                <a:latin typeface="Gill Sans MT" pitchFamily="34" charset="0"/>
              </a:rPr>
              <a:t>: </a:t>
            </a:r>
            <a:r>
              <a:rPr lang="en-US" altLang="en-GB" sz="2800" dirty="0">
                <a:solidFill>
                  <a:schemeClr val="tx1"/>
                </a:solidFill>
                <a:latin typeface="Gill Sans MT" pitchFamily="34" charset="0"/>
              </a:rPr>
              <a:t>These dependencies are external to the project team</a:t>
            </a:r>
            <a:r>
              <a:rPr lang="en-US" altLang="en-GB" sz="2800" b="1" i="1" dirty="0">
                <a:solidFill>
                  <a:schemeClr val="tx1"/>
                </a:solidFill>
                <a:latin typeface="Gill Sans MT" pitchFamily="34" charset="0"/>
              </a:rPr>
              <a:t>. </a:t>
            </a:r>
            <a:r>
              <a:rPr lang="en-US" altLang="en-GB" sz="2800" i="1" dirty="0">
                <a:solidFill>
                  <a:schemeClr val="tx1"/>
                </a:solidFill>
                <a:latin typeface="Gill Sans MT" pitchFamily="34" charset="0"/>
              </a:rPr>
              <a:t>Example is government approval before continuation of project.  </a:t>
            </a:r>
            <a:r>
              <a:rPr lang="en-US" altLang="en-GB" sz="2800" dirty="0">
                <a:solidFill>
                  <a:schemeClr val="tx1"/>
                </a:solidFill>
                <a:latin typeface="Gill Sans MT" pitchFamily="34" charset="0"/>
              </a:rPr>
              <a:t> </a:t>
            </a:r>
            <a:endParaRPr lang="en-US" altLang="en-GB" sz="2800" dirty="0">
              <a:solidFill>
                <a:schemeClr val="tx1"/>
              </a:solidFill>
              <a:latin typeface="Gill Sans MT" pitchFamily="34" charset="0"/>
            </a:endParaRPr>
          </a:p>
          <a:p>
            <a:pPr marL="0" algn="just" eaLnBrk="1" hangingPunct="1">
              <a:spcBef>
                <a:spcPct val="0"/>
              </a:spcBef>
              <a:buFont typeface="Wingdings" panose="05000000000000000000" pitchFamily="2" charset="2"/>
              <a:buChar char="§"/>
            </a:pPr>
            <a:r>
              <a:rPr lang="en-US" altLang="en-GB" sz="2800" i="1" dirty="0">
                <a:solidFill>
                  <a:schemeClr val="tx1"/>
                </a:solidFill>
                <a:effectLst>
                  <a:outerShdw blurRad="38100" dist="38100" dir="2700000" algn="tl">
                    <a:srgbClr val="000000">
                      <a:alpha val="43137"/>
                    </a:srgbClr>
                  </a:outerShdw>
                </a:effectLst>
                <a:latin typeface="Gill Sans MT" pitchFamily="34" charset="0"/>
              </a:rPr>
              <a:t>Internal dependencies</a:t>
            </a:r>
            <a:r>
              <a:rPr lang="en-US" altLang="en-GB" sz="2800" b="1" i="1" dirty="0">
                <a:solidFill>
                  <a:schemeClr val="tx1"/>
                </a:solidFill>
                <a:latin typeface="Gill Sans MT" pitchFamily="34" charset="0"/>
              </a:rPr>
              <a:t>:</a:t>
            </a:r>
            <a:r>
              <a:rPr lang="en-US" altLang="en-GB" sz="2800" dirty="0">
                <a:solidFill>
                  <a:schemeClr val="tx1"/>
                </a:solidFill>
                <a:latin typeface="Gill Sans MT" pitchFamily="34" charset="0"/>
              </a:rPr>
              <a:t> These are internal dependencies involving a precedence relationship between project activities and are within the control of the project team’s control. </a:t>
            </a:r>
            <a:r>
              <a:rPr lang="en-US" altLang="en-GB" sz="2800" i="1" dirty="0">
                <a:solidFill>
                  <a:schemeClr val="tx1"/>
                </a:solidFill>
                <a:latin typeface="Gill Sans MT" pitchFamily="34" charset="0"/>
              </a:rPr>
              <a:t>Example: when a project team agreed within themselves to first complete assembling the system before carrying out their test.  </a:t>
            </a:r>
            <a:endParaRPr lang="en-US" altLang="en-US" sz="1800" dirty="0">
              <a:solidFill>
                <a:schemeClr val="tx1"/>
              </a:solidFill>
              <a:latin typeface="Gill Sans MT" pitchFamily="34" charset="0"/>
              <a:ea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600" y="293511"/>
            <a:ext cx="12090400" cy="7294305"/>
          </a:xfrm>
          <a:prstGeom prst="rect">
            <a:avLst/>
          </a:prstGeom>
          <a:noFill/>
        </p:spPr>
        <p:txBody>
          <a:bodyPr wrap="square" rtlCol="0">
            <a:spAutoFit/>
          </a:bodyPr>
          <a:lstStyle/>
          <a:p>
            <a:r>
              <a:rPr lang="en-US" b="1" u="sng" dirty="0">
                <a:solidFill>
                  <a:srgbClr val="FF0000"/>
                </a:solidFill>
                <a:effectLst/>
              </a:rPr>
              <a:t>Resource availability </a:t>
            </a:r>
            <a:endParaRPr lang="en-US" b="1" u="sng" dirty="0">
              <a:solidFill>
                <a:srgbClr val="FF0000"/>
              </a:solidFill>
              <a:effectLst/>
            </a:endParaRPr>
          </a:p>
          <a:p>
            <a:r>
              <a:rPr lang="en-US" dirty="0"/>
              <a:t>fundamentally shapes project schedules by dictating what's possible, directly causing delays, extending project duration, altering critical paths, and impacting costs and quality when resources (people, equipment, funds) are scarce or misaligned with task demands, leading to bottlenecks, idle time, or rushed work, necessitating realistic resource-constrained scheduling to balance capacity and needs.</a:t>
            </a:r>
            <a:endParaRPr lang="en-US" dirty="0"/>
          </a:p>
          <a:p>
            <a:r>
              <a:rPr lang="en-US" b="1" dirty="0"/>
              <a:t>Good resource management ensures the right resources are available at the right time, maximizing productivity and outcomes; poor management creates delays, budget overruns, and dissatisfaction, highlighting the need for realistic scheduling that accounts for resource limits</a:t>
            </a:r>
            <a:endParaRPr lang="en-US" b="1" dirty="0"/>
          </a:p>
          <a:p>
            <a:r>
              <a:rPr lang="en-US" dirty="0"/>
              <a:t> </a:t>
            </a:r>
            <a:endParaRPr lang="en-US" dirty="0"/>
          </a:p>
          <a:p>
            <a:r>
              <a:rPr lang="en-US" b="1" u="sng" dirty="0">
                <a:solidFill>
                  <a:srgbClr val="FF0000"/>
                </a:solidFill>
              </a:rPr>
              <a:t>Key Impacts on Schedules</a:t>
            </a:r>
            <a:endParaRPr lang="en-US" b="1" u="sng" dirty="0">
              <a:solidFill>
                <a:srgbClr val="FF0000"/>
              </a:solidFill>
            </a:endParaRPr>
          </a:p>
          <a:p>
            <a:pPr>
              <a:buFont typeface="Arial" panose="020B0604020202020204" pitchFamily="34" charset="0"/>
              <a:buChar char="•"/>
            </a:pPr>
            <a:r>
              <a:rPr lang="en-US" b="1" dirty="0"/>
              <a:t>Project Delays:</a:t>
            </a:r>
            <a:r>
              <a:rPr lang="en-US" dirty="0"/>
              <a:t> Insufficient resources at the right time force tasks to start late, extending the entire project timeline.</a:t>
            </a:r>
            <a:endParaRPr lang="en-US" dirty="0"/>
          </a:p>
          <a:p>
            <a:pPr>
              <a:buFont typeface="Arial" panose="020B0604020202020204" pitchFamily="34" charset="0"/>
              <a:buChar char="•"/>
            </a:pPr>
            <a:r>
              <a:rPr lang="en-US" b="1" dirty="0">
                <a:hlinkClick r:id="rId1"/>
              </a:rPr>
              <a:t>Critical Path</a:t>
            </a:r>
            <a:r>
              <a:rPr lang="en-US" b="1" dirty="0"/>
              <a:t> Alterations:</a:t>
            </a:r>
            <a:r>
              <a:rPr lang="en-US" dirty="0"/>
              <a:t> Limited resources can make previously non-critical tasks critical, creating new dependencies and increasing schedule sensitivity, as shown in this YouTube video.</a:t>
            </a:r>
            <a:endParaRPr lang="en-US" dirty="0"/>
          </a:p>
          <a:p>
            <a:pPr>
              <a:buFont typeface="Arial" panose="020B0604020202020204" pitchFamily="34" charset="0"/>
              <a:buChar char="•"/>
            </a:pPr>
            <a:r>
              <a:rPr lang="en-US" b="1" dirty="0"/>
              <a:t>Increased Costs &amp; Quality Risks:</a:t>
            </a:r>
            <a:r>
              <a:rPr lang="en-US" dirty="0"/>
              <a:t> Delays often lead to higher costs; to compensate, scope might be cut or quality compromised, affecting deliverables.</a:t>
            </a:r>
            <a:endParaRPr lang="en-US" dirty="0"/>
          </a:p>
          <a:p>
            <a:pPr>
              <a:buFont typeface="Arial" panose="020B0604020202020204" pitchFamily="34" charset="0"/>
              <a:buChar char="•"/>
            </a:pPr>
            <a:r>
              <a:rPr lang="en-US" b="1" dirty="0"/>
              <a:t>Bottlenecks &amp; Inefficiency:</a:t>
            </a:r>
            <a:r>
              <a:rPr lang="en-US" dirty="0"/>
              <a:t> Over-allocation of a resource creates bottlenecks, while under-utilization leads to wasted time and money.</a:t>
            </a:r>
            <a:endParaRPr lang="en-US" dirty="0"/>
          </a:p>
          <a:p>
            <a:pPr>
              <a:buFont typeface="Arial" panose="020B0604020202020204" pitchFamily="34" charset="0"/>
              <a:buChar char="•"/>
            </a:pPr>
            <a:r>
              <a:rPr lang="en-US" b="1" dirty="0"/>
              <a:t>Reduced Flexibility:</a:t>
            </a:r>
            <a:r>
              <a:rPr lang="en-US" dirty="0"/>
              <a:t> Resource constraints make schedules less flexible, requiring tighter sequencing and making changes harder to absorb. </a:t>
            </a:r>
            <a:endParaRPr lang="en-US" dirty="0"/>
          </a:p>
          <a:p>
            <a:r>
              <a:rPr lang="en-US" dirty="0"/>
              <a:t>How Resource Availability Changes Planning</a:t>
            </a:r>
            <a:endParaRPr lang="en-US" dirty="0"/>
          </a:p>
          <a:p>
            <a:pPr>
              <a:buFont typeface="Arial" panose="020B0604020202020204" pitchFamily="34" charset="0"/>
              <a:buChar char="•"/>
            </a:pPr>
            <a:r>
              <a:rPr lang="en-US" b="1" dirty="0"/>
              <a:t>Resource-Constrained Scheduling:</a:t>
            </a:r>
            <a:r>
              <a:rPr lang="en-US" dirty="0"/>
              <a:t> Instead of fixing time and adjusting resources, this approach fixes resources (within capacity) and adjusts time, creating more realistic plans.</a:t>
            </a:r>
            <a:endParaRPr lang="en-US" dirty="0"/>
          </a:p>
          <a:p>
            <a:pPr>
              <a:buFont typeface="Arial" panose="020B0604020202020204" pitchFamily="34" charset="0"/>
              <a:buChar char="•"/>
            </a:pPr>
            <a:r>
              <a:rPr lang="en-US" b="1" dirty="0"/>
              <a:t>Prioritization:</a:t>
            </a:r>
            <a:r>
              <a:rPr lang="en-US" dirty="0"/>
              <a:t> When resources are scarce, some tasks must be delayed to prioritize others, often based on strategic importance.</a:t>
            </a:r>
            <a:endParaRPr lang="en-US" dirty="0"/>
          </a:p>
          <a:p>
            <a:pPr>
              <a:buFont typeface="Arial" panose="020B0604020202020204" pitchFamily="34" charset="0"/>
              <a:buChar char="•"/>
            </a:pPr>
            <a:r>
              <a:rPr lang="en-US" b="1" dirty="0"/>
              <a:t>Balancing Workloads:</a:t>
            </a:r>
            <a:r>
              <a:rPr lang="en-US" dirty="0"/>
              <a:t> Effective tracking balances work across team members, preventing burnout and maximizing overall output.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0890" y="598311"/>
            <a:ext cx="10758310" cy="3236271"/>
          </a:xfrm>
          <a:prstGeom prst="rect">
            <a:avLst/>
          </a:prstGeom>
          <a:noFill/>
        </p:spPr>
        <p:txBody>
          <a:bodyPr wrap="square" rtlCol="0">
            <a:spAutoFit/>
          </a:bodyPr>
          <a:lstStyle/>
          <a:p>
            <a:pPr marL="0" marR="0">
              <a:lnSpc>
                <a:spcPct val="115000"/>
              </a:lnSpc>
              <a:spcBef>
                <a:spcPts val="0"/>
              </a:spcBef>
              <a:spcAft>
                <a:spcPts val="0"/>
              </a:spcAf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Project Budget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is the estimated total cost required to complete a project successfully. It includes all expenses related to resources, labor, materials, equipment, and contingency reserves.</a:t>
            </a:r>
            <a:endParaRPr lang="en-US" sz="1800" kern="100" dirty="0">
              <a:effectLst/>
              <a:latin typeface="Aptos"/>
              <a:ea typeface="Aptos"/>
              <a:cs typeface="Times New Roman" panose="02020603050405020304" pitchFamily="18" charset="0"/>
            </a:endParaRPr>
          </a:p>
          <a:p>
            <a:pPr marL="0" marR="0">
              <a:lnSpc>
                <a:spcPct val="115000"/>
              </a:lnSpc>
              <a:spcBef>
                <a:spcPts val="0"/>
              </a:spcBef>
              <a:spcAft>
                <a:spcPts val="0"/>
              </a:spcAf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project budget serves as a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financial roadmap</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ensuring that funds are allocated efficiently and costs are controlled throughout the project lifecycle. It is a key component of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Project Cost Management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in PMI’s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PMBOK Guide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endParaRPr lang="en-US" kern="0" dirty="0">
              <a:latin typeface="Times New Roman" panose="02020603050405020304" pitchFamily="18" charset="0"/>
              <a:ea typeface="Aptos"/>
              <a:cs typeface="Times New Roman" panose="02020603050405020304" pitchFamily="18" charset="0"/>
            </a:endParaRPr>
          </a:p>
          <a:p>
            <a:pPr marL="0" marR="0">
              <a:lnSpc>
                <a:spcPct val="115000"/>
              </a:lnSpc>
              <a:spcBef>
                <a:spcPts val="0"/>
              </a:spcBef>
              <a:spcAft>
                <a:spcPts val="0"/>
              </a:spcAft>
            </a:pPr>
            <a:endParaRPr lang="en-US" sz="1800" kern="0" dirty="0">
              <a:effectLst/>
              <a:latin typeface="Times New Roman" panose="02020603050405020304" pitchFamily="18" charset="0"/>
              <a:ea typeface="Aptos"/>
              <a:cs typeface="Times New Roman" panose="02020603050405020304" pitchFamily="18" charset="0"/>
            </a:endParaRPr>
          </a:p>
          <a:p>
            <a:pPr marL="0" marR="0">
              <a:lnSpc>
                <a:spcPct val="115000"/>
              </a:lnSpc>
              <a:spcBef>
                <a:spcPts val="0"/>
              </a:spcBef>
              <a:spcAft>
                <a:spcPts val="0"/>
              </a:spcAft>
            </a:pPr>
            <a:endParaRPr lang="en-US" sz="1800" kern="100" dirty="0">
              <a:effectLst/>
              <a:latin typeface="Aptos"/>
              <a:ea typeface="Aptos"/>
              <a:cs typeface="Times New Roman" panose="02020603050405020304" pitchFamily="18" charset="0"/>
            </a:endParaRPr>
          </a:p>
          <a:p>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1022" y="2449689"/>
            <a:ext cx="7078133" cy="408657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59645" y="711200"/>
          <a:ext cx="11672710" cy="6255080"/>
        </p:xfrm>
        <a:graphic>
          <a:graphicData uri="http://schemas.openxmlformats.org/drawingml/2006/table">
            <a:tbl>
              <a:tblPr firstRow="1" firstCol="1" bandRow="1">
                <a:tableStyleId>{5C22544A-7EE6-4342-B048-85BDC9FD1C3A}</a:tableStyleId>
              </a:tblPr>
              <a:tblGrid>
                <a:gridCol w="3581791"/>
                <a:gridCol w="8090919"/>
              </a:tblGrid>
              <a:tr h="173148">
                <a:tc>
                  <a:txBody>
                    <a:bodyPr/>
                    <a:lstStyle/>
                    <a:p>
                      <a:pPr marL="0" marR="0" algn="ctr">
                        <a:lnSpc>
                          <a:spcPct val="115000"/>
                        </a:lnSpc>
                        <a:spcBef>
                          <a:spcPts val="0"/>
                        </a:spcBef>
                        <a:spcAft>
                          <a:spcPts val="0"/>
                        </a:spcAft>
                      </a:pPr>
                      <a:r>
                        <a:rPr lang="en-US" sz="1600" kern="0">
                          <a:effectLst/>
                        </a:rPr>
                        <a:t>Term</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gn="ctr">
                        <a:lnSpc>
                          <a:spcPct val="115000"/>
                        </a:lnSpc>
                        <a:spcBef>
                          <a:spcPts val="0"/>
                        </a:spcBef>
                        <a:spcAft>
                          <a:spcPts val="0"/>
                        </a:spcAft>
                      </a:pPr>
                      <a:r>
                        <a:rPr lang="en-US" sz="1600" kern="0" dirty="0">
                          <a:effectLst/>
                        </a:rPr>
                        <a:t>Definition</a:t>
                      </a:r>
                      <a:endParaRPr lang="en-US" sz="1600" kern="100" dirty="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dirty="0">
                          <a:effectLst/>
                        </a:rPr>
                        <a:t>Project Budget</a:t>
                      </a:r>
                      <a:endParaRPr lang="en-US" sz="1600" kern="100" dirty="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effectLst/>
                        </a:rPr>
                        <a:t>The total approved cost estimate for the project, including all planned expenses.</a:t>
                      </a:r>
                      <a:endParaRPr lang="en-US" sz="1600" kern="0" dirty="0">
                        <a:effectLst/>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Cost Baseline</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effectLst/>
                        </a:rPr>
                        <a:t>The approved version of the budget used to measure project performance.</a:t>
                      </a:r>
                      <a:endParaRPr lang="en-US" sz="1600" kern="100" dirty="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Budget Estimate</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The forecasted cost of the project, calculated using estimation techniques.</a:t>
                      </a:r>
                      <a:endParaRPr lang="en-US" sz="1600" kern="10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Direct Costs</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Costs directly related to project execution (e.g., labor, materials, software).</a:t>
                      </a:r>
                      <a:endParaRPr lang="en-US" sz="1600" kern="100">
                        <a:effectLst/>
                        <a:latin typeface="Aptos"/>
                        <a:ea typeface="Aptos"/>
                        <a:cs typeface="Times New Roman" panose="02020603050405020304" pitchFamily="18" charset="0"/>
                      </a:endParaRPr>
                    </a:p>
                  </a:txBody>
                  <a:tcPr marL="8761" marR="8761" marT="8761" marB="8761" anchor="ctr"/>
                </a:tc>
              </a:tr>
              <a:tr h="563744">
                <a:tc>
                  <a:txBody>
                    <a:bodyPr/>
                    <a:lstStyle/>
                    <a:p>
                      <a:pPr marL="0" marR="0">
                        <a:lnSpc>
                          <a:spcPct val="115000"/>
                        </a:lnSpc>
                        <a:spcBef>
                          <a:spcPts val="0"/>
                        </a:spcBef>
                        <a:spcAft>
                          <a:spcPts val="0"/>
                        </a:spcAft>
                      </a:pPr>
                      <a:r>
                        <a:rPr lang="en-US" sz="1600" kern="0">
                          <a:effectLst/>
                        </a:rPr>
                        <a:t>Indirect Costs</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Overhead costs that support the project but are not directly tied to project work (e.g., office space, utilities).</a:t>
                      </a:r>
                      <a:endParaRPr lang="en-US" sz="1600" kern="10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Contingency Reserve</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Funds set aside for known risks that may occur during the project.</a:t>
                      </a:r>
                      <a:endParaRPr lang="en-US" sz="1600" kern="10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Management Reserve</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effectLst/>
                        </a:rPr>
                        <a:t>Additional funds allocated for unknown risks or unforeseen events.</a:t>
                      </a:r>
                      <a:endParaRPr lang="en-US" sz="1600" kern="100" dirty="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Earned Value (EV)</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The value of work actually completed, used to track budget performance.</a:t>
                      </a:r>
                      <a:endParaRPr lang="en-US" sz="1600" kern="10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Planned Value (PV)</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The estimated cost of scheduled work at a given point in time.</a:t>
                      </a:r>
                      <a:endParaRPr lang="en-US" sz="1600" kern="10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Actual Cost (AC)</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The total cost incurred for work performed at a given time.</a:t>
                      </a:r>
                      <a:endParaRPr lang="en-US" sz="1600" kern="10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Cost Variance (CV)</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The difference between Earned Value (EV) and Actual Cost (AC) (CV = EV - AC).</a:t>
                      </a:r>
                      <a:endParaRPr lang="en-US" sz="1600" kern="100">
                        <a:effectLst/>
                        <a:latin typeface="Aptos"/>
                        <a:ea typeface="Aptos"/>
                        <a:cs typeface="Times New Roman" panose="02020603050405020304" pitchFamily="18" charset="0"/>
                      </a:endParaRPr>
                    </a:p>
                  </a:txBody>
                  <a:tcPr marL="8761" marR="8761" marT="8761" marB="8761" anchor="ctr"/>
                </a:tc>
              </a:tr>
              <a:tr h="563744">
                <a:tc>
                  <a:txBody>
                    <a:bodyPr/>
                    <a:lstStyle/>
                    <a:p>
                      <a:pPr marL="0" marR="0">
                        <a:lnSpc>
                          <a:spcPct val="115000"/>
                        </a:lnSpc>
                        <a:spcBef>
                          <a:spcPts val="0"/>
                        </a:spcBef>
                        <a:spcAft>
                          <a:spcPts val="0"/>
                        </a:spcAft>
                      </a:pPr>
                      <a:r>
                        <a:rPr lang="en-US" sz="1600" kern="0">
                          <a:effectLst/>
                        </a:rPr>
                        <a:t>Cost Performance Index (CPI)</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effectLst/>
                        </a:rPr>
                        <a:t>A measure of cost efficiency (CPI = EV / AC). A CPI &gt; 1 means the project is under budget, while CPI &lt; 1 indicates overspending.</a:t>
                      </a:r>
                      <a:endParaRPr lang="en-US" sz="1600" kern="100" dirty="0">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Estimate at Completion (EAC)</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effectLst/>
                        </a:rPr>
                        <a:t>A forecast of the total project cost based on current performance.</a:t>
                      </a:r>
                      <a:endParaRPr lang="en-US" sz="1600" kern="100">
                        <a:effectLst/>
                        <a:latin typeface="Aptos"/>
                        <a:ea typeface="Aptos"/>
                        <a:cs typeface="Times New Roman" panose="02020603050405020304" pitchFamily="18" charset="0"/>
                      </a:endParaRPr>
                    </a:p>
                  </a:txBody>
                  <a:tcPr marL="8761" marR="8761" marT="8761" marB="8761" anchor="ctr"/>
                </a:tc>
              </a:tr>
              <a:tr h="563744">
                <a:tc>
                  <a:txBody>
                    <a:bodyPr/>
                    <a:lstStyle/>
                    <a:p>
                      <a:pPr marL="0" marR="0">
                        <a:lnSpc>
                          <a:spcPct val="115000"/>
                        </a:lnSpc>
                        <a:spcBef>
                          <a:spcPts val="0"/>
                        </a:spcBef>
                        <a:spcAft>
                          <a:spcPts val="0"/>
                        </a:spcAft>
                      </a:pPr>
                      <a:r>
                        <a:rPr lang="en-US" sz="1600" kern="0" dirty="0">
                          <a:solidFill>
                            <a:srgbClr val="FF0000"/>
                          </a:solidFill>
                          <a:effectLst/>
                        </a:rPr>
                        <a:t>Bottom-Up Estimating</a:t>
                      </a:r>
                      <a:endParaRPr lang="en-US" sz="1600" kern="100" dirty="0">
                        <a:solidFill>
                          <a:srgbClr val="FF0000"/>
                        </a:solidFill>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a:solidFill>
                            <a:srgbClr val="FF0000"/>
                          </a:solidFill>
                          <a:effectLst/>
                        </a:rPr>
                        <a:t>A cost estimation method that calculates the total budget by summing up individual work package costs.</a:t>
                      </a:r>
                      <a:endParaRPr lang="en-US" sz="1600" kern="100">
                        <a:solidFill>
                          <a:srgbClr val="FF0000"/>
                        </a:solidFill>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dirty="0">
                          <a:solidFill>
                            <a:srgbClr val="FF0000"/>
                          </a:solidFill>
                          <a:effectLst/>
                        </a:rPr>
                        <a:t>Analogous Estimating</a:t>
                      </a:r>
                      <a:endParaRPr lang="en-US" sz="1600" kern="100" dirty="0">
                        <a:solidFill>
                          <a:srgbClr val="FF0000"/>
                        </a:solidFill>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solidFill>
                            <a:srgbClr val="FF0000"/>
                          </a:solidFill>
                          <a:effectLst/>
                        </a:rPr>
                        <a:t>A high-level estimation technique that uses historical project data to predict costs.</a:t>
                      </a:r>
                      <a:endParaRPr lang="en-US" sz="1600" kern="100" dirty="0">
                        <a:solidFill>
                          <a:srgbClr val="FF0000"/>
                        </a:solidFill>
                        <a:effectLst/>
                        <a:latin typeface="Aptos"/>
                        <a:ea typeface="Aptos"/>
                        <a:cs typeface="Times New Roman" panose="02020603050405020304" pitchFamily="18" charset="0"/>
                      </a:endParaRPr>
                    </a:p>
                  </a:txBody>
                  <a:tcPr marL="8761" marR="8761" marT="8761" marB="8761" anchor="ctr"/>
                </a:tc>
              </a:tr>
              <a:tr h="286052">
                <a:tc>
                  <a:txBody>
                    <a:bodyPr/>
                    <a:lstStyle/>
                    <a:p>
                      <a:pPr marL="0" marR="0">
                        <a:lnSpc>
                          <a:spcPct val="115000"/>
                        </a:lnSpc>
                        <a:spcBef>
                          <a:spcPts val="0"/>
                        </a:spcBef>
                        <a:spcAft>
                          <a:spcPts val="0"/>
                        </a:spcAft>
                      </a:pPr>
                      <a:r>
                        <a:rPr lang="en-US" sz="1600" kern="0">
                          <a:effectLst/>
                        </a:rPr>
                        <a:t>Parametric Estimating</a:t>
                      </a:r>
                      <a:endParaRPr lang="en-US" sz="1600" kern="10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effectLst/>
                        </a:rPr>
                        <a:t>Uses mathematical models to estimate costs based on variables (e.g., cost per unit).</a:t>
                      </a:r>
                      <a:endParaRPr lang="en-US" sz="1600" kern="100" dirty="0">
                        <a:effectLst/>
                        <a:latin typeface="Aptos"/>
                        <a:ea typeface="Aptos"/>
                        <a:cs typeface="Times New Roman" panose="02020603050405020304" pitchFamily="18" charset="0"/>
                      </a:endParaRPr>
                    </a:p>
                  </a:txBody>
                  <a:tcPr marL="8761" marR="8761" marT="8761" marB="8761" anchor="ctr"/>
                </a:tc>
              </a:tr>
              <a:tr h="563744">
                <a:tc>
                  <a:txBody>
                    <a:bodyPr/>
                    <a:lstStyle/>
                    <a:p>
                      <a:pPr marL="0" marR="0">
                        <a:lnSpc>
                          <a:spcPct val="115000"/>
                        </a:lnSpc>
                        <a:spcBef>
                          <a:spcPts val="0"/>
                        </a:spcBef>
                        <a:spcAft>
                          <a:spcPts val="0"/>
                        </a:spcAft>
                      </a:pPr>
                      <a:r>
                        <a:rPr lang="en-US" sz="1600" kern="0" dirty="0">
                          <a:effectLst/>
                        </a:rPr>
                        <a:t>Cost Control</a:t>
                      </a:r>
                      <a:endParaRPr lang="en-US" sz="1600" kern="100" dirty="0">
                        <a:effectLst/>
                        <a:latin typeface="Aptos"/>
                        <a:ea typeface="Aptos"/>
                        <a:cs typeface="Times New Roman" panose="02020603050405020304" pitchFamily="18" charset="0"/>
                      </a:endParaRPr>
                    </a:p>
                  </a:txBody>
                  <a:tcPr marL="8761" marR="8761" marT="8761" marB="8761" anchor="ctr"/>
                </a:tc>
                <a:tc>
                  <a:txBody>
                    <a:bodyPr/>
                    <a:lstStyle/>
                    <a:p>
                      <a:pPr marL="0" marR="0">
                        <a:lnSpc>
                          <a:spcPct val="115000"/>
                        </a:lnSpc>
                        <a:spcBef>
                          <a:spcPts val="0"/>
                        </a:spcBef>
                        <a:spcAft>
                          <a:spcPts val="0"/>
                        </a:spcAft>
                      </a:pPr>
                      <a:r>
                        <a:rPr lang="en-US" sz="1600" kern="0" dirty="0">
                          <a:effectLst/>
                        </a:rPr>
                        <a:t>The process of monitoring costs, managing budget changes, and ensuring financial alignment.</a:t>
                      </a:r>
                      <a:endParaRPr lang="en-US" sz="1600" kern="100" dirty="0">
                        <a:effectLst/>
                        <a:latin typeface="Aptos"/>
                        <a:ea typeface="Aptos"/>
                        <a:cs typeface="Times New Roman" panose="02020603050405020304" pitchFamily="18" charset="0"/>
                      </a:endParaRPr>
                    </a:p>
                  </a:txBody>
                  <a:tcPr marL="8761" marR="8761" marT="8761" marB="8761" anchor="ctr"/>
                </a:tc>
              </a:tr>
            </a:tbl>
          </a:graphicData>
        </a:graphic>
      </p:graphicFrame>
      <p:sp>
        <p:nvSpPr>
          <p:cNvPr id="4" name="TextBox 3"/>
          <p:cNvSpPr txBox="1"/>
          <p:nvPr/>
        </p:nvSpPr>
        <p:spPr>
          <a:xfrm>
            <a:off x="2675467" y="137067"/>
            <a:ext cx="6096000" cy="369332"/>
          </a:xfrm>
          <a:prstGeom prst="rect">
            <a:avLst/>
          </a:prstGeom>
          <a:noFill/>
        </p:spPr>
        <p:txBody>
          <a:bodyPr wrap="square">
            <a:spAutoFit/>
          </a:bodyPr>
          <a:lstStyle/>
          <a:p>
            <a:r>
              <a:rPr lang="en-US" dirty="0"/>
              <a:t>KEY TERMINOLOGIES </a:t>
            </a:r>
            <a:r>
              <a:rPr lang="en-US"/>
              <a:t>IN RELATED TO BUDGET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0889" y="598311"/>
            <a:ext cx="11255021" cy="5804666"/>
          </a:xfrm>
          <a:prstGeom prst="rect">
            <a:avLst/>
          </a:prstGeom>
          <a:noFill/>
        </p:spPr>
        <p:txBody>
          <a:bodyPr wrap="square" rtlCol="0">
            <a:spAutoFit/>
          </a:bodyPr>
          <a:lstStyle/>
          <a:p>
            <a:pPr>
              <a:buFont typeface="Arial" panose="020B0604020202020204" pitchFamily="34" charset="0"/>
              <a:buChar char="•"/>
            </a:pPr>
            <a:r>
              <a:rPr lang="en-US" sz="2400" b="1" dirty="0"/>
              <a:t>Procurement:</a:t>
            </a:r>
            <a:r>
              <a:rPr lang="en-US" sz="2400" dirty="0"/>
              <a:t> The overarching process of sourcing, negotiating, and strategically acquiring goods, services, or works from an external source, often involving a competitive bidding process.</a:t>
            </a:r>
            <a:endParaRPr lang="en-US" sz="2400" dirty="0"/>
          </a:p>
          <a:p>
            <a:r>
              <a:rPr lang="en-US" sz="2400" b="1" dirty="0"/>
              <a:t>Vendor/Supplier:</a:t>
            </a:r>
            <a:r>
              <a:rPr lang="en-US" sz="2400" dirty="0"/>
              <a:t> A company or individual that provides goods or services to another entity.</a:t>
            </a:r>
            <a:endParaRPr lang="en-US" sz="2400" dirty="0"/>
          </a:p>
          <a:p>
            <a:pPr>
              <a:buFont typeface="Arial" panose="020B0604020202020204" pitchFamily="34" charset="0"/>
              <a:buChar char="•"/>
            </a:pPr>
            <a:r>
              <a:rPr lang="en-US" sz="2400" b="1" dirty="0"/>
              <a:t>Contract:</a:t>
            </a:r>
            <a:r>
              <a:rPr lang="en-US" sz="2400" dirty="0"/>
              <a:t> A legally binding agreement between a buyer and a supplier that defines the terms, conditions, rights, and obligations regarding the purchase of goods or services.</a:t>
            </a:r>
            <a:endParaRPr lang="en-US" sz="2400" dirty="0"/>
          </a:p>
          <a:p>
            <a:pPr>
              <a:buFont typeface="Arial" panose="020B0604020202020204" pitchFamily="34" charset="0"/>
              <a:buChar char="•"/>
            </a:pPr>
            <a:endParaRPr lang="en-US" sz="2400" dirty="0"/>
          </a:p>
          <a:p>
            <a:pPr marL="342900" indent="-228600" algn="just">
              <a:lnSpc>
                <a:spcPct val="90000"/>
              </a:lnSpc>
              <a:spcAft>
                <a:spcPts val="600"/>
              </a:spcAft>
              <a:buFont typeface="Arial" panose="020B0604020202020204" pitchFamily="34" charset="0"/>
              <a:buChar char="•"/>
            </a:pPr>
            <a:r>
              <a:rPr lang="en-US" altLang="en-GB" sz="2400" b="1" dirty="0">
                <a:effectLst>
                  <a:outerShdw blurRad="38100" dist="38100" dir="2700000" algn="tl">
                    <a:srgbClr val="000000">
                      <a:alpha val="43137"/>
                    </a:srgbClr>
                  </a:outerShdw>
                </a:effectLst>
              </a:rPr>
              <a:t>Analogous Estimate(historical comparison)</a:t>
            </a:r>
            <a:r>
              <a:rPr lang="en-US" altLang="en-GB" sz="2400" b="1" dirty="0"/>
              <a:t>: </a:t>
            </a:r>
            <a:r>
              <a:rPr lang="en-US" altLang="en-GB" sz="2400" dirty="0"/>
              <a:t>is a top-bottom estimating technique used for estimating the project duration or cost of an activity using historical data from a similar activity or project. It is generally less costly, less accurate and less time-consuming but most reliable. It is ideal for management use.</a:t>
            </a:r>
            <a:endParaRPr lang="en-US" altLang="en-GB" sz="2400" dirty="0"/>
          </a:p>
          <a:p>
            <a:pPr marL="342900" indent="-228600" algn="just">
              <a:lnSpc>
                <a:spcPct val="90000"/>
              </a:lnSpc>
              <a:spcAft>
                <a:spcPts val="600"/>
              </a:spcAft>
              <a:buFont typeface="Arial" panose="020B0604020202020204" pitchFamily="34" charset="0"/>
              <a:buChar char="•"/>
            </a:pPr>
            <a:r>
              <a:rPr lang="en-US" altLang="en-GB" sz="2400" b="1" dirty="0">
                <a:effectLst>
                  <a:outerShdw blurRad="38100" dist="38100" dir="2700000" algn="tl">
                    <a:srgbClr val="000000">
                      <a:alpha val="43137"/>
                    </a:srgbClr>
                  </a:outerShdw>
                </a:effectLst>
              </a:rPr>
              <a:t>Bottom-up Estimate</a:t>
            </a:r>
            <a:r>
              <a:rPr lang="en-US" altLang="en-GB" sz="2400" b="1" dirty="0"/>
              <a:t>: </a:t>
            </a:r>
            <a:r>
              <a:rPr lang="en-US" altLang="en-GB" sz="2400" dirty="0"/>
              <a:t>Bottom-up estimating is a method of estimating project duration or cost by aggregating the estimates of the work packages. It is time consuming, but most accurate of all the estimating techniques</a:t>
            </a:r>
            <a:endParaRPr lang="en-US" altLang="en-GB" sz="2400"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605150"/>
            <a:ext cx="10820400" cy="5379934"/>
          </a:xfrm>
          <a:prstGeom prst="rect">
            <a:avLst/>
          </a:prstGeom>
        </p:spPr>
        <p:txBody>
          <a:bodyPr wrap="square">
            <a:spAutoFit/>
          </a:bodyPr>
          <a:lstStyle/>
          <a:p>
            <a:r>
              <a:rPr lang="en-US" sz="2400" b="1" dirty="0">
                <a:latin typeface="Gill Sans MT" pitchFamily="34" charset="0"/>
              </a:rPr>
              <a:t>Traditional Projects Use The Following Estimating Techniques</a:t>
            </a:r>
            <a:r>
              <a:rPr lang="en-US" sz="2400" dirty="0">
                <a:latin typeface="Gill Sans MT" pitchFamily="34" charset="0"/>
              </a:rPr>
              <a:t>:</a:t>
            </a:r>
            <a:endParaRPr lang="en-US" sz="2400" dirty="0">
              <a:latin typeface="Gill Sans MT" pitchFamily="34" charset="0"/>
            </a:endParaRPr>
          </a:p>
          <a:p>
            <a:pPr marL="342900" indent="-342900" algn="just">
              <a:buFont typeface="Wingdings" panose="05000000000000000000" pitchFamily="2" charset="2"/>
              <a:buChar char="§"/>
            </a:pPr>
            <a:r>
              <a:rPr lang="en-US" sz="2400" b="1" dirty="0">
                <a:effectLst>
                  <a:outerShdw blurRad="38100" dist="38100" dir="2700000" algn="tl">
                    <a:srgbClr val="000000">
                      <a:alpha val="43137"/>
                    </a:srgbClr>
                  </a:outerShdw>
                </a:effectLst>
                <a:latin typeface="Gill Sans MT" pitchFamily="34" charset="0"/>
              </a:rPr>
              <a:t>Range. </a:t>
            </a:r>
            <a:r>
              <a:rPr lang="en-US" sz="2400" dirty="0">
                <a:latin typeface="Gill Sans MT" pitchFamily="34" charset="0"/>
              </a:rPr>
              <a:t>Estimates are better done in range.  For example, range of -25 to +75% is at the start of exploring a project opportunity, while projects that are well along in their life cycle may have an estimating range of -5 to +10%.</a:t>
            </a:r>
            <a:endParaRPr lang="en-US" sz="2400" dirty="0">
              <a:latin typeface="Gill Sans MT" pitchFamily="34" charset="0"/>
            </a:endParaRPr>
          </a:p>
          <a:p>
            <a:pPr marL="342900" indent="-228600" algn="just">
              <a:lnSpc>
                <a:spcPct val="90000"/>
              </a:lnSpc>
              <a:spcAft>
                <a:spcPts val="600"/>
              </a:spcAft>
              <a:buFont typeface="Arial" panose="020B0604020202020204" pitchFamily="34" charset="0"/>
              <a:buChar char="•"/>
            </a:pPr>
            <a:r>
              <a:rPr lang="en-US" altLang="en-GB" sz="2400" b="1" dirty="0">
                <a:effectLst>
                  <a:outerShdw blurRad="38100" dist="38100" dir="2700000" algn="tl">
                    <a:srgbClr val="000000">
                      <a:alpha val="43137"/>
                    </a:srgbClr>
                  </a:outerShdw>
                </a:effectLst>
                <a:latin typeface="Gill Sans MT" pitchFamily="34" charset="0"/>
              </a:rPr>
              <a:t>Analogous Estimate</a:t>
            </a:r>
            <a:r>
              <a:rPr lang="en-US" altLang="en-GB" sz="2400" b="1" dirty="0">
                <a:latin typeface="Gill Sans MT" pitchFamily="34" charset="0"/>
              </a:rPr>
              <a:t>: </a:t>
            </a:r>
            <a:r>
              <a:rPr lang="en-US" altLang="en-GB" sz="2400" dirty="0">
                <a:latin typeface="Gill Sans MT" pitchFamily="34" charset="0"/>
              </a:rPr>
              <a:t>is a top-bottom estimating technique used for estimating the project duration or cost of an activity using historical data from a similar activity or project. It is generally less costly, less accurate and less time-consuming but most reliable. It is ideal for management use.</a:t>
            </a:r>
            <a:endParaRPr lang="en-US" altLang="en-GB" sz="2400" dirty="0">
              <a:latin typeface="Gill Sans MT" pitchFamily="34" charset="0"/>
            </a:endParaRPr>
          </a:p>
          <a:p>
            <a:pPr marL="342900" indent="-228600" algn="just">
              <a:lnSpc>
                <a:spcPct val="90000"/>
              </a:lnSpc>
              <a:spcAft>
                <a:spcPts val="600"/>
              </a:spcAft>
              <a:buFont typeface="Arial" panose="020B0604020202020204" pitchFamily="34" charset="0"/>
              <a:buChar char="•"/>
            </a:pPr>
            <a:r>
              <a:rPr lang="en-US" altLang="en-GB" sz="2400" b="1" dirty="0">
                <a:effectLst>
                  <a:outerShdw blurRad="38100" dist="38100" dir="2700000" algn="tl">
                    <a:srgbClr val="000000">
                      <a:alpha val="43137"/>
                    </a:srgbClr>
                  </a:outerShdw>
                </a:effectLst>
                <a:latin typeface="Gill Sans MT" pitchFamily="34" charset="0"/>
              </a:rPr>
              <a:t>Bottom-up Estimate</a:t>
            </a:r>
            <a:r>
              <a:rPr lang="en-US" altLang="en-GB" sz="2400" b="1" dirty="0">
                <a:latin typeface="Gill Sans MT" pitchFamily="34" charset="0"/>
              </a:rPr>
              <a:t>: </a:t>
            </a:r>
            <a:r>
              <a:rPr lang="en-US" altLang="en-GB" sz="2400" dirty="0">
                <a:latin typeface="Gill Sans MT" pitchFamily="34" charset="0"/>
              </a:rPr>
              <a:t>Bottom-up estimating is a method of estimating project duration or cost by aggregating the estimates of the work packages. It is time consuming, but most accurate of all the estimating techniques</a:t>
            </a:r>
            <a:endParaRPr lang="en-US" altLang="en-GB" sz="2400" dirty="0">
              <a:latin typeface="Gill Sans MT" pitchFamily="34" charset="0"/>
            </a:endParaRPr>
          </a:p>
          <a:p>
            <a:pPr marL="342900" indent="-228600" algn="just">
              <a:lnSpc>
                <a:spcPct val="90000"/>
              </a:lnSpc>
              <a:spcAft>
                <a:spcPts val="600"/>
              </a:spcAft>
              <a:buFont typeface="Arial" panose="020B0604020202020204" pitchFamily="34" charset="0"/>
              <a:buChar char="•"/>
            </a:pPr>
            <a:r>
              <a:rPr lang="en-US" altLang="en-GB" sz="2400" b="1" dirty="0">
                <a:effectLst>
                  <a:outerShdw blurRad="38100" dist="38100" dir="2700000" algn="tl">
                    <a:srgbClr val="000000">
                      <a:alpha val="43137"/>
                    </a:srgbClr>
                  </a:outerShdw>
                </a:effectLst>
                <a:latin typeface="Gill Sans MT" pitchFamily="34" charset="0"/>
              </a:rPr>
              <a:t>Parametric Estimating</a:t>
            </a:r>
            <a:r>
              <a:rPr lang="en-US" altLang="en-GB" sz="2400" b="1" dirty="0">
                <a:latin typeface="Gill Sans MT" pitchFamily="34" charset="0"/>
              </a:rPr>
              <a:t>: </a:t>
            </a:r>
            <a:r>
              <a:rPr lang="en-US" sz="2400" dirty="0">
                <a:latin typeface="Gill Sans MT" pitchFamily="34" charset="0"/>
              </a:rPr>
              <a:t>This</a:t>
            </a:r>
            <a:r>
              <a:rPr lang="en-US" sz="2400" b="1" dirty="0">
                <a:latin typeface="Gill Sans MT" pitchFamily="34" charset="0"/>
              </a:rPr>
              <a:t> </a:t>
            </a:r>
            <a:r>
              <a:rPr lang="en-US" sz="2400" dirty="0">
                <a:latin typeface="Gill Sans MT" pitchFamily="34" charset="0"/>
              </a:rPr>
              <a:t>is a quantitative estimate of multiplying quantity of work by the time rate used in doing a unit of the work based on past experience or an estimating technique that uses algorithm to calculate cost or duration based on statistical relationship or historical data.</a:t>
            </a:r>
            <a:endParaRPr lang="en-US" altLang="en-GB" sz="2400" dirty="0">
              <a:latin typeface="Gill Sans MT"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25333" y="1682044"/>
            <a:ext cx="4301067" cy="646331"/>
          </a:xfrm>
          <a:prstGeom prst="rect">
            <a:avLst/>
          </a:prstGeom>
          <a:noFill/>
        </p:spPr>
        <p:txBody>
          <a:bodyPr wrap="square" rtlCol="0">
            <a:spAutoFit/>
          </a:bodyPr>
          <a:lstStyle/>
          <a:p>
            <a:r>
              <a:rPr lang="en-US" sz="3600" dirty="0"/>
              <a:t>QUIZ</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10226</Words>
  <Application>WPS Presentation</Application>
  <PresentationFormat>Widescreen</PresentationFormat>
  <Paragraphs>269</Paragraphs>
  <Slides>17</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Gill Sans MT</vt:lpstr>
      <vt:lpstr>Times New Roman</vt:lpstr>
      <vt:lpstr>Aptos</vt:lpstr>
      <vt:lpstr>Calibri</vt:lpstr>
      <vt:lpstr>Segoe UI</vt:lpstr>
      <vt:lpstr>Courier New</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SCHEDULE MANAGEMENT PLAN</vt:lpstr>
      <vt:lpstr>KEY TERMINOLOGIES IN PROJECT SCHEDULING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Oluseyi Macaulay</dc:creator>
  <cp:lastModifiedBy>Pelumi of God</cp:lastModifiedBy>
  <cp:revision>249</cp:revision>
  <dcterms:created xsi:type="dcterms:W3CDTF">2022-10-05T12:32:00Z</dcterms:created>
  <dcterms:modified xsi:type="dcterms:W3CDTF">2026-02-19T00:12:53Z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0224B87CA3C845259B24C07E96E5F1D8_12</vt:lpwstr>
  </property>
  <property fmtid="{D5CDD505-2E9C-101B-9397-08002B2CF9AE}" pid="3" name="KSOProductBuildVer">
    <vt:lpwstr>1033-12.2.0.23196</vt:lpwstr>
  </property>
</Properties>
</file>