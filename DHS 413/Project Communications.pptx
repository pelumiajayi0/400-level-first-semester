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6" r:id="rId22"/>
    <p:sldId id="278" r:id="rId23"/>
    <p:sldId id="279" r:id="rId24"/>
    <p:sldId id="280" r:id="rId25"/>
    <p:sldId id="281" r:id="rId26"/>
    <p:sldId id="25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9" autoAdjust="0"/>
    <p:restoredTop sz="94660"/>
  </p:normalViewPr>
  <p:slideViewPr>
    <p:cSldViewPr snapToGrid="0">
      <p:cViewPr varScale="1">
        <p:scale>
          <a:sx n="46" d="100"/>
          <a:sy n="46" d="100"/>
        </p:scale>
        <p:origin x="48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Project Communications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DHS 413</a:t>
            </a:r>
          </a:p>
          <a:p>
            <a:endParaRPr lang="en-GB" dirty="0"/>
          </a:p>
          <a:p>
            <a:r>
              <a:rPr lang="en-GB" b="1" dirty="0" smtClean="0"/>
              <a:t>DR. E. E. OKOH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486746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Definition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Project communications involve the processes necessary to ensure timely and appropriate planning, collection, creation, distribution, storage, retrieval, management, control, monitoring, and ultimate disposition of project information</a:t>
            </a:r>
            <a:r>
              <a:rPr lang="en-US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47081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Definition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Effective </a:t>
            </a:r>
            <a:r>
              <a:rPr lang="en-US" sz="3200" dirty="0"/>
              <a:t>communication bridges diverse stakeholders, ensuring that messages are clear, concise, and tailored to their needs and expectations.</a:t>
            </a:r>
          </a:p>
        </p:txBody>
      </p:sp>
    </p:spTree>
    <p:extLst>
      <p:ext uri="{BB962C8B-B14F-4D97-AF65-F5344CB8AC3E}">
        <p14:creationId xmlns:p14="http://schemas.microsoft.com/office/powerpoint/2010/main" val="222892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Elements of Effective Communication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According to </a:t>
            </a:r>
            <a:r>
              <a:rPr lang="en-US" sz="3200" dirty="0" smtClean="0"/>
              <a:t>PMBOK, </a:t>
            </a:r>
            <a:r>
              <a:rPr lang="en-US" sz="3200" dirty="0"/>
              <a:t>effective communication requires clarity, structure, and active engagement between senders and receivers.</a:t>
            </a:r>
          </a:p>
        </p:txBody>
      </p:sp>
    </p:spTree>
    <p:extLst>
      <p:ext uri="{BB962C8B-B14F-4D97-AF65-F5344CB8AC3E}">
        <p14:creationId xmlns:p14="http://schemas.microsoft.com/office/powerpoint/2010/main" val="329472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A. The 5 Cs of Written Communication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0" lvl="0" indent="-571500">
              <a:buFont typeface="+mj-lt"/>
              <a:buAutoNum type="romanLcPeriod"/>
            </a:pPr>
            <a:r>
              <a:rPr lang="en-US" sz="3200" b="1" dirty="0"/>
              <a:t>Correct grammar and spelling</a:t>
            </a:r>
            <a:r>
              <a:rPr lang="en-US" sz="3200" dirty="0"/>
              <a:t> – Errors distort meaning and reduce credibility.</a:t>
            </a:r>
          </a:p>
          <a:p>
            <a:pPr marL="571500" lvl="0" indent="-571500">
              <a:buFont typeface="+mj-lt"/>
              <a:buAutoNum type="romanLcPeriod"/>
            </a:pPr>
            <a:r>
              <a:rPr lang="en-US" sz="3200" b="1" dirty="0"/>
              <a:t>Concise expression</a:t>
            </a:r>
            <a:r>
              <a:rPr lang="en-US" sz="3200" dirty="0"/>
              <a:t> – Eliminate unnecessary words; be brief but complete.</a:t>
            </a:r>
          </a:p>
          <a:p>
            <a:pPr marL="571500" lvl="0" indent="-571500">
              <a:buFont typeface="+mj-lt"/>
              <a:buAutoNum type="romanLcPeriod"/>
            </a:pPr>
            <a:r>
              <a:rPr lang="en-US" sz="3200" b="1" dirty="0"/>
              <a:t>Clear purpose and direction</a:t>
            </a:r>
            <a:r>
              <a:rPr lang="en-US" sz="3200" dirty="0"/>
              <a:t> – Align message with the reader’s needs.</a:t>
            </a:r>
          </a:p>
        </p:txBody>
      </p:sp>
    </p:spTree>
    <p:extLst>
      <p:ext uri="{BB962C8B-B14F-4D97-AF65-F5344CB8AC3E}">
        <p14:creationId xmlns:p14="http://schemas.microsoft.com/office/powerpoint/2010/main" val="3355719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A. The 5 Cs of Written Communication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GB" sz="3200" b="1" dirty="0"/>
              <a:t>Coherent logical flow</a:t>
            </a:r>
            <a:r>
              <a:rPr lang="en-GB" sz="3200" dirty="0"/>
              <a:t> – Use logical progression and summary markers.</a:t>
            </a:r>
            <a:endParaRPr lang="en-US" sz="3200" dirty="0"/>
          </a:p>
          <a:p>
            <a:r>
              <a:rPr lang="en-GB" sz="3200" b="1" dirty="0"/>
              <a:t>Controlled flow of ideas</a:t>
            </a:r>
            <a:r>
              <a:rPr lang="en-GB" sz="3200" dirty="0"/>
              <a:t> – Summarise key points; use visuals where helpful.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48624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B. Sender–Receiver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3200" dirty="0"/>
              <a:t>Effective communication occurs when:</a:t>
            </a:r>
            <a:endParaRPr lang="en-US" sz="3200" dirty="0"/>
          </a:p>
          <a:p>
            <a:pPr marL="571500" lvl="0" indent="-571500">
              <a:buFont typeface="+mj-lt"/>
              <a:buAutoNum type="romanLcPeriod"/>
            </a:pPr>
            <a:r>
              <a:rPr lang="en-GB" sz="3200" dirty="0"/>
              <a:t>The </a:t>
            </a:r>
            <a:r>
              <a:rPr lang="en-GB" sz="3200" b="1" dirty="0"/>
              <a:t>sender</a:t>
            </a:r>
            <a:r>
              <a:rPr lang="en-GB" sz="3200" dirty="0"/>
              <a:t> encodes and transmits a message clearly.</a:t>
            </a:r>
            <a:endParaRPr lang="en-US" sz="3200" dirty="0"/>
          </a:p>
          <a:p>
            <a:pPr marL="571500" lvl="0" indent="-571500">
              <a:buFont typeface="+mj-lt"/>
              <a:buAutoNum type="romanLcPeriod"/>
            </a:pPr>
            <a:r>
              <a:rPr lang="en-GB" sz="3200" dirty="0"/>
              <a:t>The </a:t>
            </a:r>
            <a:r>
              <a:rPr lang="en-GB" sz="3200" b="1" dirty="0"/>
              <a:t>receiver</a:t>
            </a:r>
            <a:r>
              <a:rPr lang="en-GB" sz="3200" dirty="0"/>
              <a:t> decodes and acknowledges receipt.</a:t>
            </a:r>
            <a:endParaRPr lang="en-US" sz="3200" dirty="0"/>
          </a:p>
          <a:p>
            <a:pPr marL="571500" lvl="0" indent="-571500">
              <a:buFont typeface="+mj-lt"/>
              <a:buAutoNum type="romanLcPeriod"/>
            </a:pPr>
            <a:r>
              <a:rPr lang="en-GB" sz="3200" b="1" dirty="0"/>
              <a:t>Feedback</a:t>
            </a:r>
            <a:r>
              <a:rPr lang="en-GB" sz="3200" dirty="0"/>
              <a:t> ensures understanding and reduces “noise” (barriers like cultural, emotional, or linguistic differences).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35073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91" y="982132"/>
            <a:ext cx="10314707" cy="1303867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C. Key Attributes of Effective 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0" lvl="0" indent="-571500">
              <a:buFont typeface="+mj-lt"/>
              <a:buAutoNum type="romanLcPeriod"/>
            </a:pPr>
            <a:r>
              <a:rPr lang="en-GB" sz="3200" b="1" dirty="0"/>
              <a:t>Clarity of purpose</a:t>
            </a:r>
            <a:r>
              <a:rPr lang="en-GB" sz="3200" dirty="0"/>
              <a:t> – Define why the communication is occurring.</a:t>
            </a:r>
            <a:endParaRPr lang="en-US" sz="3200" dirty="0"/>
          </a:p>
          <a:p>
            <a:pPr marL="571500" lvl="0" indent="-571500">
              <a:buFont typeface="+mj-lt"/>
              <a:buAutoNum type="romanLcPeriod"/>
            </a:pPr>
            <a:r>
              <a:rPr lang="en-GB" sz="3200" b="1" dirty="0"/>
              <a:t>Understanding of the receiver</a:t>
            </a:r>
            <a:r>
              <a:rPr lang="en-GB" sz="3200" dirty="0"/>
              <a:t> – Know their needs, background, and preferences.</a:t>
            </a:r>
            <a:endParaRPr lang="en-US" sz="3200" dirty="0"/>
          </a:p>
          <a:p>
            <a:pPr marL="571500" lvl="0" indent="-571500">
              <a:buFont typeface="+mj-lt"/>
              <a:buAutoNum type="romanLcPeriod"/>
            </a:pPr>
            <a:r>
              <a:rPr lang="en-GB" sz="3200" b="1" dirty="0"/>
              <a:t>Monitoring effectiveness</a:t>
            </a:r>
            <a:r>
              <a:rPr lang="en-GB" sz="3200" dirty="0"/>
              <a:t> – Assess whether communication achieves its purpose.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32872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91" y="982132"/>
            <a:ext cx="10314707" cy="1303867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C. Key Attributes of Effective 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0" lvl="0" indent="-571500">
              <a:buFont typeface="+mj-lt"/>
              <a:buAutoNum type="romanLcPeriod" startAt="4"/>
            </a:pPr>
            <a:r>
              <a:rPr lang="en-GB" sz="3200" b="1" dirty="0"/>
              <a:t>Active listening</a:t>
            </a:r>
            <a:r>
              <a:rPr lang="en-GB" sz="3200" dirty="0"/>
              <a:t> – Engage, clarify, and confirm understanding.</a:t>
            </a:r>
            <a:endParaRPr lang="en-US" sz="3200" dirty="0"/>
          </a:p>
          <a:p>
            <a:pPr marL="571500" lvl="0" indent="-571500">
              <a:buFont typeface="+mj-lt"/>
              <a:buAutoNum type="romanLcPeriod" startAt="4"/>
            </a:pPr>
            <a:r>
              <a:rPr lang="en-GB" sz="3200" b="1" dirty="0"/>
              <a:t>Cultural awareness</a:t>
            </a:r>
            <a:r>
              <a:rPr lang="en-GB" sz="3200" dirty="0"/>
              <a:t> – Adjust tone and format to cultural contexts.</a:t>
            </a:r>
            <a:endParaRPr lang="en-US" sz="3200" dirty="0"/>
          </a:p>
          <a:p>
            <a:pPr marL="571500" lvl="0" indent="-571500">
              <a:buFont typeface="+mj-lt"/>
              <a:buAutoNum type="romanLcPeriod" startAt="4"/>
            </a:pPr>
            <a:r>
              <a:rPr lang="en-GB" sz="3200" b="1" dirty="0"/>
              <a:t>Feedback loops</a:t>
            </a:r>
            <a:r>
              <a:rPr lang="en-GB" sz="3200" dirty="0"/>
              <a:t> – Encourage questions and confirmation.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9318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91" y="982132"/>
            <a:ext cx="10314707" cy="1303867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Identify Appropriate Communication Methods (Given a Scenario)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lang="en-GB" sz="3200" dirty="0"/>
              <a:t>PMBOK categorizes communication methods into </a:t>
            </a:r>
            <a:r>
              <a:rPr lang="en-GB" sz="3200" b="1" dirty="0"/>
              <a:t>three major </a:t>
            </a:r>
            <a:r>
              <a:rPr lang="en-GB" sz="3200" b="1" dirty="0" smtClean="0"/>
              <a:t>types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sz="3200" b="1" dirty="0"/>
              <a:t>Interactive </a:t>
            </a:r>
            <a:r>
              <a:rPr lang="en-GB" sz="3200" b="1" dirty="0" smtClean="0"/>
              <a:t>Communication</a:t>
            </a:r>
            <a:endParaRPr lang="en-US" sz="3200" b="1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GB" sz="3200" b="1" dirty="0"/>
              <a:t>Push </a:t>
            </a:r>
            <a:r>
              <a:rPr lang="en-GB" sz="3200" b="1" dirty="0" smtClean="0"/>
              <a:t>Communication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sz="3200" b="1" dirty="0"/>
              <a:t>Pull Communication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58509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91" y="982132"/>
            <a:ext cx="10314707" cy="1303867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Identify Appropriate Communication Methods (Given a Scenario)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777152" cy="3318936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3200" dirty="0" smtClean="0"/>
              <a:t>.</a:t>
            </a:r>
            <a:endParaRPr lang="en-US" sz="32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6891672"/>
              </p:ext>
            </p:extLst>
          </p:nvPr>
        </p:nvGraphicFramePr>
        <p:xfrm>
          <a:off x="1168198" y="2285998"/>
          <a:ext cx="9728399" cy="403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Document" r:id="rId3" imgW="5956042" imgH="1081534" progId="Word.Document.12">
                  <p:embed/>
                </p:oleObj>
              </mc:Choice>
              <mc:Fallback>
                <p:oleObj name="Document" r:id="rId3" imgW="5956042" imgH="10815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68198" y="2285998"/>
                        <a:ext cx="9728399" cy="403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7366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91" y="982132"/>
            <a:ext cx="10314707" cy="1303867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Identify Appropriate Communication Methods (Given a Scenario)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777152" cy="3318936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3200" dirty="0" smtClean="0"/>
              <a:t>.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026" y="2410691"/>
            <a:ext cx="9428572" cy="373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47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91" y="982132"/>
            <a:ext cx="10314707" cy="1303867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Identify Appropriate Communication Methods (Given a Scenario)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777152" cy="3318936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3200" dirty="0" smtClean="0"/>
              <a:t>.</a:t>
            </a:r>
            <a:endParaRPr lang="en-US" sz="32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978677"/>
              </p:ext>
            </p:extLst>
          </p:nvPr>
        </p:nvGraphicFramePr>
        <p:xfrm>
          <a:off x="1351395" y="2887662"/>
          <a:ext cx="9545203" cy="33967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Document" r:id="rId3" imgW="5956042" imgH="1081534" progId="Word.Document.12">
                  <p:embed/>
                </p:oleObj>
              </mc:Choice>
              <mc:Fallback>
                <p:oleObj name="Document" r:id="rId3" imgW="5956042" imgH="10815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51395" y="2887662"/>
                        <a:ext cx="9545203" cy="33967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2107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91" y="982132"/>
            <a:ext cx="10314707" cy="1303867"/>
          </a:xfrm>
        </p:spPr>
        <p:txBody>
          <a:bodyPr>
            <a:normAutofit/>
          </a:bodyPr>
          <a:lstStyle/>
          <a:p>
            <a:r>
              <a:rPr lang="en-GB" b="1" dirty="0"/>
              <a:t>Scenario Application Examples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GB" sz="3200" b="1" dirty="0" smtClean="0"/>
              <a:t>Daily </a:t>
            </a:r>
            <a:r>
              <a:rPr lang="en-GB" sz="3200" b="1" dirty="0"/>
              <a:t>stand-up meetings (interactive)</a:t>
            </a:r>
            <a:r>
              <a:rPr lang="en-GB" sz="3200" dirty="0"/>
              <a:t> – Agile projects with co-located teams.</a:t>
            </a:r>
            <a:endParaRPr lang="en-US" sz="3200" dirty="0"/>
          </a:p>
          <a:p>
            <a:pPr lvl="0"/>
            <a:r>
              <a:rPr lang="en-GB" sz="3200" b="1" dirty="0"/>
              <a:t>Progress reports via email (push)</a:t>
            </a:r>
            <a:r>
              <a:rPr lang="en-GB" sz="3200" dirty="0"/>
              <a:t> – Regular updates for executive stakeholders.</a:t>
            </a:r>
            <a:endParaRPr lang="en-US" sz="3200" dirty="0"/>
          </a:p>
          <a:p>
            <a:pPr lvl="0"/>
            <a:r>
              <a:rPr lang="en-GB" sz="3200" b="1" dirty="0"/>
              <a:t>Posting updates on intranet (pull)</a:t>
            </a:r>
            <a:r>
              <a:rPr lang="en-GB" sz="3200" dirty="0"/>
              <a:t> – Organisation-wide announcements</a:t>
            </a:r>
            <a:r>
              <a:rPr lang="en-GB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49114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91" y="982132"/>
            <a:ext cx="10314707" cy="1303867"/>
          </a:xfrm>
        </p:spPr>
        <p:txBody>
          <a:bodyPr>
            <a:normAutofit/>
          </a:bodyPr>
          <a:lstStyle/>
          <a:p>
            <a:r>
              <a:rPr lang="en-GB" b="1" dirty="0"/>
              <a:t>Other Communication Contexts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0" lvl="0" indent="-571500">
              <a:buFont typeface="+mj-lt"/>
              <a:buAutoNum type="romanLcPeriod"/>
            </a:pPr>
            <a:r>
              <a:rPr lang="en-GB" sz="3200" b="1" dirty="0"/>
              <a:t>Interpersonal</a:t>
            </a:r>
            <a:r>
              <a:rPr lang="en-GB" sz="3200" dirty="0"/>
              <a:t>: One-on-one discussions (e.g., performance feedback).</a:t>
            </a:r>
            <a:endParaRPr lang="en-US" sz="3200" dirty="0"/>
          </a:p>
          <a:p>
            <a:pPr marL="571500" lvl="0" indent="-571500">
              <a:buFont typeface="+mj-lt"/>
              <a:buAutoNum type="romanLcPeriod"/>
            </a:pPr>
            <a:r>
              <a:rPr lang="en-GB" sz="3200" b="1" dirty="0"/>
              <a:t>Small group</a:t>
            </a:r>
            <a:r>
              <a:rPr lang="en-GB" sz="3200" dirty="0"/>
              <a:t>: Team brainstorming sessions.</a:t>
            </a:r>
            <a:endParaRPr lang="en-US" sz="3200" dirty="0"/>
          </a:p>
          <a:p>
            <a:pPr marL="571500" lvl="0" indent="-571500">
              <a:buFont typeface="+mj-lt"/>
              <a:buAutoNum type="romanLcPeriod"/>
            </a:pPr>
            <a:r>
              <a:rPr lang="en-GB" sz="3200" b="1" dirty="0"/>
              <a:t>Public communication</a:t>
            </a:r>
            <a:r>
              <a:rPr lang="en-GB" sz="3200" dirty="0"/>
              <a:t>: Stakeholder briefings</a:t>
            </a:r>
            <a:r>
              <a:rPr lang="en-GB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61836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91" y="982132"/>
            <a:ext cx="10314707" cy="1303867"/>
          </a:xfrm>
        </p:spPr>
        <p:txBody>
          <a:bodyPr>
            <a:normAutofit/>
          </a:bodyPr>
          <a:lstStyle/>
          <a:p>
            <a:r>
              <a:rPr lang="en-GB" b="1" dirty="0"/>
              <a:t>Other Communication Contexts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0" lvl="0" indent="-571500">
              <a:buFont typeface="+mj-lt"/>
              <a:buAutoNum type="romanLcPeriod" startAt="4"/>
            </a:pPr>
            <a:r>
              <a:rPr lang="en-GB" sz="3200" b="1" dirty="0" smtClean="0"/>
              <a:t>Mass </a:t>
            </a:r>
            <a:r>
              <a:rPr lang="en-GB" sz="3200" b="1" dirty="0"/>
              <a:t>communication</a:t>
            </a:r>
            <a:r>
              <a:rPr lang="en-GB" sz="3200" dirty="0"/>
              <a:t>: Press releases, newsletters.</a:t>
            </a:r>
            <a:endParaRPr lang="en-US" sz="3200" dirty="0"/>
          </a:p>
          <a:p>
            <a:pPr marL="571500" indent="-571500">
              <a:buFont typeface="+mj-lt"/>
              <a:buAutoNum type="romanLcPeriod" startAt="4"/>
            </a:pPr>
            <a:r>
              <a:rPr lang="en-GB" sz="3200" b="1" dirty="0"/>
              <a:t>Social computing</a:t>
            </a:r>
            <a:r>
              <a:rPr lang="en-GB" sz="3200" dirty="0"/>
              <a:t>: Collaborative updates through social media or online platforms.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864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91" y="982132"/>
            <a:ext cx="10314707" cy="1303867"/>
          </a:xfrm>
        </p:spPr>
        <p:txBody>
          <a:bodyPr>
            <a:normAutofit/>
          </a:bodyPr>
          <a:lstStyle/>
          <a:p>
            <a:r>
              <a:rPr lang="en-GB" b="1" dirty="0"/>
              <a:t>Components of a Status Update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3200" dirty="0"/>
              <a:t>A </a:t>
            </a:r>
            <a:r>
              <a:rPr lang="en-GB" sz="3200" b="1" dirty="0"/>
              <a:t>status update</a:t>
            </a:r>
            <a:r>
              <a:rPr lang="en-GB" sz="3200" dirty="0"/>
              <a:t> (or report) communicates current progress against the project plan, helping stakeholders make informed decisions.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38717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91" y="982132"/>
            <a:ext cx="10314707" cy="1303867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A. Typical Components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0" lvl="0" indent="-571500">
              <a:buFont typeface="+mj-lt"/>
              <a:buAutoNum type="romanLcPeriod"/>
            </a:pPr>
            <a:r>
              <a:rPr lang="en-GB" sz="3200" b="1" dirty="0"/>
              <a:t>Project Identification</a:t>
            </a:r>
            <a:r>
              <a:rPr lang="en-GB" sz="3200" dirty="0"/>
              <a:t> – Project name, date, reporting period, author.</a:t>
            </a:r>
            <a:endParaRPr lang="en-US" sz="3200" dirty="0"/>
          </a:p>
          <a:p>
            <a:pPr marL="571500" lvl="0" indent="-571500">
              <a:buFont typeface="+mj-lt"/>
              <a:buAutoNum type="romanLcPeriod"/>
            </a:pPr>
            <a:r>
              <a:rPr lang="en-GB" sz="3200" b="1" dirty="0"/>
              <a:t>Summary of Work Completed</a:t>
            </a:r>
            <a:r>
              <a:rPr lang="en-GB" sz="3200" dirty="0"/>
              <a:t> – Tasks finished since the last update.</a:t>
            </a:r>
            <a:endParaRPr lang="en-US" sz="3200" dirty="0"/>
          </a:p>
          <a:p>
            <a:pPr marL="571500" lvl="0" indent="-571500">
              <a:buFont typeface="+mj-lt"/>
              <a:buAutoNum type="romanLcPeriod"/>
            </a:pPr>
            <a:r>
              <a:rPr lang="en-GB" sz="3200" b="1" dirty="0"/>
              <a:t>Upcoming Work</a:t>
            </a:r>
            <a:r>
              <a:rPr lang="en-GB" sz="3200" dirty="0"/>
              <a:t> – Tasks planned for the next period</a:t>
            </a:r>
            <a:r>
              <a:rPr lang="en-GB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0364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91" y="982132"/>
            <a:ext cx="10314707" cy="1303867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A. Typical Components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0" lvl="0" indent="-571500">
              <a:buFont typeface="+mj-lt"/>
              <a:buAutoNum type="romanLcPeriod" startAt="4"/>
            </a:pPr>
            <a:r>
              <a:rPr lang="en-GB" sz="3200" b="1" dirty="0"/>
              <a:t>Schedule Performance</a:t>
            </a:r>
            <a:r>
              <a:rPr lang="en-GB" sz="3200" dirty="0"/>
              <a:t> – Current timeline vs. planned milestones.</a:t>
            </a:r>
            <a:endParaRPr lang="en-US" sz="3200" dirty="0"/>
          </a:p>
          <a:p>
            <a:pPr marL="571500" lvl="0" indent="-571500">
              <a:buFont typeface="+mj-lt"/>
              <a:buAutoNum type="romanLcPeriod" startAt="4"/>
            </a:pPr>
            <a:r>
              <a:rPr lang="en-GB" sz="3200" b="1" dirty="0"/>
              <a:t>Cost Performance</a:t>
            </a:r>
            <a:r>
              <a:rPr lang="en-GB" sz="3200" dirty="0"/>
              <a:t> – Budget used, cost variances (may include Earned Value data).</a:t>
            </a:r>
            <a:endParaRPr lang="en-US" sz="3200" dirty="0"/>
          </a:p>
          <a:p>
            <a:pPr marL="571500" lvl="0" indent="-571500">
              <a:buFont typeface="+mj-lt"/>
              <a:buAutoNum type="romanLcPeriod" startAt="4"/>
            </a:pPr>
            <a:r>
              <a:rPr lang="en-GB" sz="3200" b="1" dirty="0"/>
              <a:t>Quality Status</a:t>
            </a:r>
            <a:r>
              <a:rPr lang="en-GB" sz="3200" dirty="0"/>
              <a:t> – Defects, rework, compliance with standards.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37839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91" y="982132"/>
            <a:ext cx="10314707" cy="1303867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A. Typical Components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0" lvl="0" indent="-571500">
              <a:buFont typeface="+mj-lt"/>
              <a:buAutoNum type="romanLcPeriod" startAt="7"/>
            </a:pPr>
            <a:r>
              <a:rPr lang="en-GB" sz="3200" b="1" dirty="0"/>
              <a:t>Risks and Issues</a:t>
            </a:r>
            <a:r>
              <a:rPr lang="en-GB" sz="3200" dirty="0"/>
              <a:t> – Newly identified risks, mitigation actions, issue log highlights.</a:t>
            </a:r>
            <a:endParaRPr lang="en-US" sz="3200" dirty="0"/>
          </a:p>
          <a:p>
            <a:pPr marL="571500" lvl="0" indent="-571500">
              <a:buFont typeface="+mj-lt"/>
              <a:buAutoNum type="romanLcPeriod" startAt="7"/>
            </a:pPr>
            <a:r>
              <a:rPr lang="en-GB" sz="3200" b="1" dirty="0"/>
              <a:t>Change Requests</a:t>
            </a:r>
            <a:r>
              <a:rPr lang="en-GB" sz="3200" dirty="0"/>
              <a:t> – Approved or pending scope, cost, or schedule changes</a:t>
            </a:r>
            <a:r>
              <a:rPr lang="en-GB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7418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91" y="982132"/>
            <a:ext cx="10314707" cy="1303867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A. Typical Components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0" lvl="0" indent="-571500">
              <a:buFont typeface="+mj-lt"/>
              <a:buAutoNum type="romanLcPeriod" startAt="9"/>
            </a:pPr>
            <a:r>
              <a:rPr lang="en-GB" sz="3200" b="1" dirty="0" smtClean="0"/>
              <a:t>Key </a:t>
            </a:r>
            <a:r>
              <a:rPr lang="en-GB" sz="3200" b="1" dirty="0"/>
              <a:t>Decisions and Approvals Needed</a:t>
            </a:r>
            <a:r>
              <a:rPr lang="en-GB" sz="3200" dirty="0"/>
              <a:t> – Items requiring management attention.</a:t>
            </a:r>
            <a:endParaRPr lang="en-US" sz="3200" dirty="0"/>
          </a:p>
          <a:p>
            <a:pPr marL="571500" indent="-571500">
              <a:buFont typeface="+mj-lt"/>
              <a:buAutoNum type="romanLcPeriod" startAt="9"/>
            </a:pPr>
            <a:r>
              <a:rPr lang="en-GB" sz="3200" b="1" dirty="0"/>
              <a:t>Stakeholder Communication Summary</a:t>
            </a:r>
            <a:r>
              <a:rPr lang="en-GB" sz="3200" dirty="0"/>
              <a:t> – Who was informed and by what method.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7699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91" y="982132"/>
            <a:ext cx="10314707" cy="1303867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B. Presentation Formats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295400" y="2556932"/>
            <a:ext cx="9993283" cy="3318936"/>
          </a:xfrm>
        </p:spPr>
        <p:txBody>
          <a:bodyPr>
            <a:noAutofit/>
          </a:bodyPr>
          <a:lstStyle/>
          <a:p>
            <a:pPr lvl="0"/>
            <a:r>
              <a:rPr lang="en-GB" sz="3200" b="1" dirty="0"/>
              <a:t>Dashboards or Heat Maps</a:t>
            </a:r>
            <a:r>
              <a:rPr lang="en-GB" sz="3200" dirty="0"/>
              <a:t> – Visual summary of metrics.</a:t>
            </a:r>
            <a:endParaRPr lang="en-US" sz="3200" dirty="0"/>
          </a:p>
          <a:p>
            <a:pPr lvl="0"/>
            <a:r>
              <a:rPr lang="en-GB" sz="3200" b="1" dirty="0"/>
              <a:t>Stoplight (RAG) Reports</a:t>
            </a:r>
            <a:r>
              <a:rPr lang="en-GB" sz="3200" dirty="0"/>
              <a:t> – Red–Amber–Green indicators of project health.</a:t>
            </a:r>
            <a:endParaRPr lang="en-US" sz="3200" dirty="0"/>
          </a:p>
          <a:p>
            <a:pPr lvl="0"/>
            <a:r>
              <a:rPr lang="en-GB" sz="3200" b="1" dirty="0"/>
              <a:t>Graphs/Charts</a:t>
            </a:r>
            <a:r>
              <a:rPr lang="en-GB" sz="3200" dirty="0"/>
              <a:t> – Progress curves, earned value trends.</a:t>
            </a:r>
            <a:endParaRPr lang="en-US" sz="3200" dirty="0"/>
          </a:p>
          <a:p>
            <a:pPr lvl="0"/>
            <a:r>
              <a:rPr lang="en-GB" sz="3200" b="1" dirty="0"/>
              <a:t>Narrative Summary</a:t>
            </a:r>
            <a:r>
              <a:rPr lang="en-GB" sz="3200" dirty="0"/>
              <a:t> – Qualitative explanations for variances.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9779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91" y="982132"/>
            <a:ext cx="10314707" cy="1303867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C. Importance of Status Updates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295400" y="2556932"/>
            <a:ext cx="9993283" cy="3318936"/>
          </a:xfrm>
        </p:spPr>
        <p:txBody>
          <a:bodyPr>
            <a:noAutofit/>
          </a:bodyPr>
          <a:lstStyle/>
          <a:p>
            <a:pPr lvl="0"/>
            <a:r>
              <a:rPr lang="en-GB" sz="3200" dirty="0"/>
              <a:t>Keeps stakeholders informed.</a:t>
            </a:r>
            <a:endParaRPr lang="en-US" sz="3200" dirty="0"/>
          </a:p>
          <a:p>
            <a:pPr lvl="0"/>
            <a:r>
              <a:rPr lang="en-GB" sz="3200" dirty="0"/>
              <a:t>Enables early detection of performance issues.</a:t>
            </a:r>
            <a:endParaRPr lang="en-US" sz="3200" dirty="0"/>
          </a:p>
          <a:p>
            <a:pPr lvl="0"/>
            <a:r>
              <a:rPr lang="en-GB" sz="3200" dirty="0"/>
              <a:t>Provides documentation for monitoring and control.</a:t>
            </a:r>
            <a:endParaRPr lang="en-US" sz="3200" dirty="0"/>
          </a:p>
          <a:p>
            <a:r>
              <a:rPr lang="en-GB" sz="3200" dirty="0"/>
              <a:t>Supports decision-making and governance processes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08914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91" y="982132"/>
            <a:ext cx="10314707" cy="1303867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Summary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295400" y="2556932"/>
            <a:ext cx="9993283" cy="3318936"/>
          </a:xfrm>
        </p:spPr>
        <p:txBody>
          <a:bodyPr>
            <a:noAutofit/>
          </a:bodyPr>
          <a:lstStyle/>
          <a:p>
            <a:pPr lvl="0"/>
            <a:r>
              <a:rPr lang="en-US" sz="3200" dirty="0" smtClean="0"/>
              <a:t>.</a:t>
            </a:r>
            <a:endParaRPr lang="en-US" sz="32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253056"/>
              </p:ext>
            </p:extLst>
          </p:nvPr>
        </p:nvGraphicFramePr>
        <p:xfrm>
          <a:off x="1295400" y="2410690"/>
          <a:ext cx="9601198" cy="4189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Document" r:id="rId3" imgW="5956042" imgH="1683306" progId="Word.Document.12">
                  <p:embed/>
                </p:oleObj>
              </mc:Choice>
              <mc:Fallback>
                <p:oleObj name="Document" r:id="rId3" imgW="5956042" imgH="16833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5400" y="2410690"/>
                        <a:ext cx="9601198" cy="4189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908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9600" dirty="0" smtClean="0"/>
              <a:t>THANK YOU</a:t>
            </a:r>
            <a:endParaRPr lang="en-GB" sz="9600" dirty="0"/>
          </a:p>
        </p:txBody>
      </p:sp>
    </p:spTree>
    <p:extLst>
      <p:ext uri="{BB962C8B-B14F-4D97-AF65-F5344CB8AC3E}">
        <p14:creationId xmlns:p14="http://schemas.microsoft.com/office/powerpoint/2010/main" val="1753773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883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120</TotalTime>
  <Words>678</Words>
  <Application>Microsoft Office PowerPoint</Application>
  <PresentationFormat>Widescreen</PresentationFormat>
  <Paragraphs>81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Garamond</vt:lpstr>
      <vt:lpstr>Wingdings</vt:lpstr>
      <vt:lpstr>Organic</vt:lpstr>
      <vt:lpstr>Microsoft Word Document</vt:lpstr>
      <vt:lpstr>Project Communications</vt:lpstr>
      <vt:lpstr>Definition</vt:lpstr>
      <vt:lpstr>Definition</vt:lpstr>
      <vt:lpstr>Elements of Effective Communication</vt:lpstr>
      <vt:lpstr>A. The 5 Cs of Written Communication</vt:lpstr>
      <vt:lpstr>A. The 5 Cs of Written Communication</vt:lpstr>
      <vt:lpstr>B. Sender–Receiver Model</vt:lpstr>
      <vt:lpstr>C. Key Attributes of Effective Communication</vt:lpstr>
      <vt:lpstr>C. Key Attributes of Effective Communication</vt:lpstr>
      <vt:lpstr>Identify Appropriate Communication Methods (Given a Scenario)</vt:lpstr>
      <vt:lpstr>Identify Appropriate Communication Methods (Given a Scenario)</vt:lpstr>
      <vt:lpstr>Identify Appropriate Communication Methods (Given a Scenario)</vt:lpstr>
      <vt:lpstr>Identify Appropriate Communication Methods (Given a Scenario)</vt:lpstr>
      <vt:lpstr>Scenario Application Examples</vt:lpstr>
      <vt:lpstr>Other Communication Contexts</vt:lpstr>
      <vt:lpstr>Other Communication Contexts</vt:lpstr>
      <vt:lpstr>Components of a Status Update</vt:lpstr>
      <vt:lpstr>A. Typical Components</vt:lpstr>
      <vt:lpstr>A. Typical Components</vt:lpstr>
      <vt:lpstr>A. Typical Components</vt:lpstr>
      <vt:lpstr>A. Typical Components</vt:lpstr>
      <vt:lpstr>B. Presentation Formats</vt:lpstr>
      <vt:lpstr>C. Importance of Status Updates</vt:lpstr>
      <vt:lpstr>Summary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Communications</dc:title>
  <dc:creator>Microsoft account</dc:creator>
  <cp:lastModifiedBy>Microsoft account</cp:lastModifiedBy>
  <cp:revision>8</cp:revision>
  <dcterms:created xsi:type="dcterms:W3CDTF">2025-12-02T12:36:12Z</dcterms:created>
  <dcterms:modified xsi:type="dcterms:W3CDTF">2025-12-02T14:36:57Z</dcterms:modified>
</cp:coreProperties>
</file>