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6" r:id="rId10"/>
    <p:sldId id="264" r:id="rId11"/>
    <p:sldId id="265" r:id="rId12"/>
    <p:sldId id="271" r:id="rId13"/>
    <p:sldId id="270" r:id="rId14"/>
    <p:sldId id="269" r:id="rId15"/>
    <p:sldId id="268" r:id="rId16"/>
    <p:sldId id="272" r:id="rId17"/>
    <p:sldId id="273" r:id="rId18"/>
    <p:sldId id="275" r:id="rId19"/>
    <p:sldId id="274" r:id="rId20"/>
    <p:sldId id="276" r:id="rId21"/>
    <p:sldId id="277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7" r:id="rId30"/>
    <p:sldId id="289" r:id="rId31"/>
    <p:sldId id="288" r:id="rId32"/>
    <p:sldId id="290" r:id="rId33"/>
    <p:sldId id="291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58" autoAdjust="0"/>
    <p:restoredTop sz="94660"/>
  </p:normalViewPr>
  <p:slideViewPr>
    <p:cSldViewPr snapToGrid="0">
      <p:cViewPr varScale="1">
        <p:scale>
          <a:sx n="50" d="100"/>
          <a:sy n="50" d="100"/>
        </p:scale>
        <p:origin x="38" y="6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b="1" dirty="0"/>
              <a:t>Project Management Plan and Project Scope</a:t>
            </a:r>
            <a:endParaRPr lang="en-GB" sz="48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DHS 413</a:t>
            </a:r>
          </a:p>
          <a:p>
            <a:endParaRPr lang="en-GB" dirty="0"/>
          </a:p>
          <a:p>
            <a:r>
              <a:rPr lang="en-GB" dirty="0" smtClean="0"/>
              <a:t>Dr. Emmanuel Ehimen Okoh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7474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Project Management Plan (PMP) is a formally approved document that defines how a project is executed, monitored, controlled, and closed</a:t>
            </a:r>
            <a:r>
              <a:rPr lang="en-US" dirty="0" smtClean="0"/>
              <a:t>.</a:t>
            </a:r>
          </a:p>
          <a:p>
            <a:r>
              <a:rPr lang="en-US" dirty="0"/>
              <a:t>The Project Management Plan integrates subsidiary management plans and baselines into a single, coherent document.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serves as the primary reference point for decision-making throughout the project life cycle.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3925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Purpose of the Project Management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key purposes of the Project Management Plan are to: </a:t>
            </a:r>
            <a:endParaRPr lang="en-US" dirty="0" smtClean="0"/>
          </a:p>
          <a:p>
            <a:pPr marL="514350" indent="-514350">
              <a:buFont typeface="+mj-lt"/>
              <a:buAutoNum type="romanLcPeriod"/>
            </a:pPr>
            <a:r>
              <a:rPr lang="en-US" dirty="0" smtClean="0"/>
              <a:t>Provide </a:t>
            </a:r>
            <a:r>
              <a:rPr lang="en-US" dirty="0"/>
              <a:t>a unified and approved roadmap for managing the project </a:t>
            </a:r>
            <a:endParaRPr lang="en-US" dirty="0" smtClean="0"/>
          </a:p>
          <a:p>
            <a:pPr marL="514350" indent="-514350">
              <a:buFont typeface="+mj-lt"/>
              <a:buAutoNum type="romanLcPeriod"/>
            </a:pPr>
            <a:r>
              <a:rPr lang="en-US" dirty="0" smtClean="0"/>
              <a:t>Establish </a:t>
            </a:r>
            <a:r>
              <a:rPr lang="en-US" dirty="0"/>
              <a:t>performance baselines for scope, schedule, and </a:t>
            </a:r>
            <a:r>
              <a:rPr lang="en-US" dirty="0" smtClean="0"/>
              <a:t>cost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 smtClean="0"/>
              <a:t>Define </a:t>
            </a:r>
            <a:r>
              <a:rPr lang="en-US" dirty="0"/>
              <a:t>management approaches for handling risks, changes, and resources </a:t>
            </a:r>
            <a:endParaRPr lang="en-US" dirty="0" smtClean="0"/>
          </a:p>
          <a:p>
            <a:pPr marL="514350" indent="-514350">
              <a:buFont typeface="+mj-lt"/>
              <a:buAutoNum type="romanLcPeriod"/>
            </a:pPr>
            <a:r>
              <a:rPr lang="en-US" dirty="0" smtClean="0"/>
              <a:t>Serve </a:t>
            </a:r>
            <a:r>
              <a:rPr lang="en-US" dirty="0"/>
              <a:t>as a communication and control tool for stakeholders </a:t>
            </a:r>
            <a:endParaRPr lang="en-US" dirty="0" smtClean="0"/>
          </a:p>
          <a:p>
            <a:pPr marL="514350" indent="-514350">
              <a:buFont typeface="+mj-lt"/>
              <a:buAutoNum type="romanLcPeriod"/>
            </a:pPr>
            <a:r>
              <a:rPr lang="en-US" dirty="0" smtClean="0"/>
              <a:t>Support </a:t>
            </a:r>
            <a:r>
              <a:rPr lang="en-US" dirty="0"/>
              <a:t>integration across all project management knowledge areas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2702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Purpose of Key Components of a Project Management Plan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Project Management Plan is composed of subsidiary plans and baselines. </a:t>
            </a:r>
            <a:endParaRPr lang="en-US" dirty="0" smtClean="0"/>
          </a:p>
          <a:p>
            <a:r>
              <a:rPr lang="en-US" dirty="0" smtClean="0"/>
              <a:t>Among </a:t>
            </a:r>
            <a:r>
              <a:rPr lang="en-US" dirty="0"/>
              <a:t>the most critical components are the scope, schedule, budget (cost), and risk management plans.</a:t>
            </a:r>
          </a:p>
        </p:txBody>
      </p:sp>
    </p:spTree>
    <p:extLst>
      <p:ext uri="{BB962C8B-B14F-4D97-AF65-F5344CB8AC3E}">
        <p14:creationId xmlns:p14="http://schemas.microsoft.com/office/powerpoint/2010/main" val="4172097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a. Scope Management 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scope component defines what work is included and excluded from the project. </a:t>
            </a:r>
            <a:endParaRPr lang="en-US" dirty="0" smtClean="0"/>
          </a:p>
          <a:p>
            <a:r>
              <a:rPr lang="en-US" dirty="0" smtClean="0"/>
              <a:t>Its </a:t>
            </a:r>
            <a:r>
              <a:rPr lang="en-US" dirty="0"/>
              <a:t>purpose is to: </a:t>
            </a:r>
            <a:r>
              <a:rPr lang="en-US" dirty="0" smtClean="0"/>
              <a:t>- </a:t>
            </a:r>
            <a:r>
              <a:rPr lang="en-US" dirty="0"/>
              <a:t>Prevent scope creep by clearly defining project boundaries </a:t>
            </a:r>
            <a:endParaRPr lang="en-US" dirty="0" smtClean="0"/>
          </a:p>
          <a:p>
            <a:r>
              <a:rPr lang="en-US" dirty="0" smtClean="0"/>
              <a:t>- </a:t>
            </a:r>
            <a:r>
              <a:rPr lang="en-US" dirty="0"/>
              <a:t>Ensure alignment between stakeholder expectations and deliverables </a:t>
            </a:r>
            <a:endParaRPr lang="en-US" dirty="0" smtClean="0"/>
          </a:p>
          <a:p>
            <a:r>
              <a:rPr lang="en-US" dirty="0" smtClean="0"/>
              <a:t>- </a:t>
            </a:r>
            <a:r>
              <a:rPr lang="en-US" dirty="0"/>
              <a:t>Provide a basis for developing the Work Breakdown Structure (WBS)</a:t>
            </a:r>
          </a:p>
          <a:p>
            <a:r>
              <a:rPr lang="en-US" dirty="0"/>
              <a:t>A clearly defined scope ensures that project resources are focused only on authorized work.</a:t>
            </a:r>
          </a:p>
        </p:txBody>
      </p:sp>
    </p:spTree>
    <p:extLst>
      <p:ext uri="{BB962C8B-B14F-4D97-AF65-F5344CB8AC3E}">
        <p14:creationId xmlns:p14="http://schemas.microsoft.com/office/powerpoint/2010/main" val="292007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b. Schedule Management 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schedule component establishes how and when project activities will be performed. Its purpose is to: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- </a:t>
            </a:r>
            <a:r>
              <a:rPr lang="en-US" dirty="0"/>
              <a:t>Translate scope into time-bound activities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- </a:t>
            </a:r>
            <a:r>
              <a:rPr lang="en-US" dirty="0"/>
              <a:t>Define milestones and critical paths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- </a:t>
            </a:r>
            <a:r>
              <a:rPr lang="en-US" dirty="0"/>
              <a:t>Enable progress tracking and schedule control</a:t>
            </a:r>
          </a:p>
          <a:p>
            <a:r>
              <a:rPr lang="en-US" dirty="0"/>
              <a:t>The schedule serves as a time-based performance baseline against which actual progress is measured.</a:t>
            </a:r>
          </a:p>
        </p:txBody>
      </p:sp>
    </p:spTree>
    <p:extLst>
      <p:ext uri="{BB962C8B-B14F-4D97-AF65-F5344CB8AC3E}">
        <p14:creationId xmlns:p14="http://schemas.microsoft.com/office/powerpoint/2010/main" val="2220735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c. Budget (Cost) Management 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budget component defines how project costs are estimated, funded, managed, and controlled. Its purpose is to: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- </a:t>
            </a:r>
            <a:r>
              <a:rPr lang="en-US" dirty="0"/>
              <a:t>Establish a cost baseline for performance measurement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- </a:t>
            </a:r>
            <a:r>
              <a:rPr lang="en-US" dirty="0"/>
              <a:t>Ensure financial feasibility and accountability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- </a:t>
            </a:r>
            <a:r>
              <a:rPr lang="en-US" dirty="0"/>
              <a:t>Support earned value and cost control analysis</a:t>
            </a:r>
          </a:p>
          <a:p>
            <a:r>
              <a:rPr lang="en-US" dirty="0"/>
              <a:t>The budget reflects the financial expression of the approved project scope.</a:t>
            </a:r>
          </a:p>
        </p:txBody>
      </p:sp>
    </p:spTree>
    <p:extLst>
      <p:ext uri="{BB962C8B-B14F-4D97-AF65-F5344CB8AC3E}">
        <p14:creationId xmlns:p14="http://schemas.microsoft.com/office/powerpoint/2010/main" val="2572551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d. Risk Management 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risk management component outlines how project risks are identified, analyzed, and addressed. </a:t>
            </a:r>
            <a:endParaRPr lang="en-US" dirty="0" smtClean="0"/>
          </a:p>
          <a:p>
            <a:r>
              <a:rPr lang="en-US" dirty="0" smtClean="0"/>
              <a:t>Its </a:t>
            </a:r>
            <a:r>
              <a:rPr lang="en-US" dirty="0"/>
              <a:t>purpose is to: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- </a:t>
            </a:r>
            <a:r>
              <a:rPr lang="en-US" dirty="0"/>
              <a:t>Anticipate uncertainties that may affect project objectives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- </a:t>
            </a:r>
            <a:r>
              <a:rPr lang="en-US" dirty="0"/>
              <a:t>Reduce negative impacts and enhance positive opportunities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- </a:t>
            </a:r>
            <a:r>
              <a:rPr lang="en-US" dirty="0"/>
              <a:t>Support proactive rather than reactive project control</a:t>
            </a:r>
          </a:p>
          <a:p>
            <a:r>
              <a:rPr lang="en-US" dirty="0"/>
              <a:t>Effective risk planning improves decision quality and project resilience.</a:t>
            </a:r>
          </a:p>
        </p:txBody>
      </p:sp>
    </p:spTree>
    <p:extLst>
      <p:ext uri="{BB962C8B-B14F-4D97-AF65-F5344CB8AC3E}">
        <p14:creationId xmlns:p14="http://schemas.microsoft.com/office/powerpoint/2010/main" val="2346806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 smtClean="0"/>
              <a:t>Worked Example: Project Management Plan Components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600028"/>
          </a:xfrm>
        </p:spPr>
        <p:txBody>
          <a:bodyPr>
            <a:normAutofit fontScale="92500"/>
          </a:bodyPr>
          <a:lstStyle/>
          <a:p>
            <a:r>
              <a:rPr lang="en-US" b="1" dirty="0" smtClean="0"/>
              <a:t>Scenario</a:t>
            </a:r>
            <a:r>
              <a:rPr lang="en-US" b="1" dirty="0"/>
              <a:t>:</a:t>
            </a:r>
            <a:r>
              <a:rPr lang="en-US" dirty="0"/>
              <a:t> A university is implementing a new Learning Management System (LMS). - </a:t>
            </a:r>
            <a:r>
              <a:rPr lang="en-US" b="1" dirty="0"/>
              <a:t>Scope:</a:t>
            </a:r>
            <a:r>
              <a:rPr lang="en-US" dirty="0"/>
              <a:t> Configure LMS, migrate existing courses, train staff and students </a:t>
            </a:r>
            <a:endParaRPr lang="en-US" dirty="0" smtClean="0"/>
          </a:p>
          <a:p>
            <a:r>
              <a:rPr lang="en-US" dirty="0" smtClean="0"/>
              <a:t>- </a:t>
            </a:r>
            <a:r>
              <a:rPr lang="en-US" b="1" dirty="0"/>
              <a:t>Schedule:</a:t>
            </a:r>
            <a:r>
              <a:rPr lang="en-US" dirty="0"/>
              <a:t> 6-month implementation with milestones for configuration, testing, and rollout </a:t>
            </a:r>
            <a:endParaRPr lang="en-US" dirty="0" smtClean="0"/>
          </a:p>
          <a:p>
            <a:r>
              <a:rPr lang="en-US" dirty="0" smtClean="0"/>
              <a:t>- </a:t>
            </a:r>
            <a:r>
              <a:rPr lang="en-US" b="1" dirty="0"/>
              <a:t>Budget:</a:t>
            </a:r>
            <a:r>
              <a:rPr lang="en-US" dirty="0"/>
              <a:t> Includes software licensing, consultant fees, training costs </a:t>
            </a:r>
            <a:endParaRPr lang="en-US" dirty="0" smtClean="0"/>
          </a:p>
          <a:p>
            <a:r>
              <a:rPr lang="en-US" dirty="0" smtClean="0"/>
              <a:t>- </a:t>
            </a:r>
            <a:r>
              <a:rPr lang="en-US" b="1" dirty="0"/>
              <a:t>Risk:</a:t>
            </a:r>
            <a:r>
              <a:rPr lang="en-US" dirty="0"/>
              <a:t> Resistance to change, data migration errors, schedule delays</a:t>
            </a:r>
          </a:p>
          <a:p>
            <a:r>
              <a:rPr lang="en-US" dirty="0"/>
              <a:t>This example demonstrates how each PMP component guides decision-making and control.</a:t>
            </a:r>
          </a:p>
        </p:txBody>
      </p:sp>
    </p:spTree>
    <p:extLst>
      <p:ext uri="{BB962C8B-B14F-4D97-AF65-F5344CB8AC3E}">
        <p14:creationId xmlns:p14="http://schemas.microsoft.com/office/powerpoint/2010/main" val="3328606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 </a:t>
            </a:r>
            <a:r>
              <a:rPr lang="en-US" b="1" dirty="0"/>
              <a:t>Interdependency of Scope, Schedule, and Budget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Scope, schedule, and budget form the core constraints of project management, often referred to as the “triple constraint.” </a:t>
            </a:r>
            <a:endParaRPr lang="en-US" dirty="0" smtClean="0"/>
          </a:p>
          <a:p>
            <a:r>
              <a:rPr lang="en-US" dirty="0" smtClean="0"/>
              <a:t>These </a:t>
            </a:r>
            <a:r>
              <a:rPr lang="en-US" dirty="0"/>
              <a:t>elements are highly interdependent:</a:t>
            </a:r>
          </a:p>
          <a:p>
            <a:pPr lvl="0"/>
            <a:r>
              <a:rPr lang="en-US" b="1" dirty="0"/>
              <a:t>Scope defines the work</a:t>
            </a:r>
            <a:r>
              <a:rPr lang="en-US" dirty="0"/>
              <a:t> that must be completed</a:t>
            </a:r>
          </a:p>
          <a:p>
            <a:pPr lvl="0"/>
            <a:r>
              <a:rPr lang="en-US" b="1" dirty="0"/>
              <a:t>Schedule defines the time</a:t>
            </a:r>
            <a:r>
              <a:rPr lang="en-US" dirty="0"/>
              <a:t> required to complete the work</a:t>
            </a:r>
          </a:p>
          <a:p>
            <a:pPr lvl="0"/>
            <a:r>
              <a:rPr lang="en-US" b="1" dirty="0"/>
              <a:t>Budget defines the cost</a:t>
            </a:r>
            <a:r>
              <a:rPr lang="en-US" dirty="0"/>
              <a:t> of completing the work within the given time frame</a:t>
            </a:r>
          </a:p>
        </p:txBody>
      </p:sp>
    </p:spTree>
    <p:extLst>
      <p:ext uri="{BB962C8B-B14F-4D97-AF65-F5344CB8AC3E}">
        <p14:creationId xmlns:p14="http://schemas.microsoft.com/office/powerpoint/2010/main" val="2211087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Nature of the Interdependency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An increase in scope typically leads to longer schedules and higher costs</a:t>
            </a:r>
          </a:p>
          <a:p>
            <a:pPr lvl="0"/>
            <a:r>
              <a:rPr lang="en-US" dirty="0"/>
              <a:t>A compressed schedule often increases costs due to overtime or additional resources</a:t>
            </a:r>
          </a:p>
          <a:p>
            <a:pPr lvl="0"/>
            <a:r>
              <a:rPr lang="en-US" dirty="0"/>
              <a:t>Budget constraints may require scope reduction or schedule extensions</a:t>
            </a:r>
          </a:p>
          <a:p>
            <a:pPr marL="0" indent="0">
              <a:buNone/>
            </a:pPr>
            <a:r>
              <a:rPr lang="en-US" dirty="0"/>
              <a:t>Changes to one constraint almost always require adjustments to the others.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Managing </a:t>
            </a:r>
            <a:r>
              <a:rPr lang="en-US" dirty="0"/>
              <a:t>this interdependency is a key responsibility of the project manager and a central function of integrated change control.</a:t>
            </a:r>
          </a:p>
        </p:txBody>
      </p:sp>
    </p:spTree>
    <p:extLst>
      <p:ext uri="{BB962C8B-B14F-4D97-AF65-F5344CB8AC3E}">
        <p14:creationId xmlns:p14="http://schemas.microsoft.com/office/powerpoint/2010/main" val="1294204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 smtClean="0"/>
              <a:t>Concept </a:t>
            </a:r>
            <a:r>
              <a:rPr lang="en-US" sz="5400" b="1" dirty="0"/>
              <a:t>of Project Scope</a:t>
            </a:r>
            <a:endParaRPr lang="en-GB" sz="5400" dirty="0"/>
          </a:p>
        </p:txBody>
      </p:sp>
    </p:spTree>
    <p:extLst>
      <p:ext uri="{BB962C8B-B14F-4D97-AF65-F5344CB8AC3E}">
        <p14:creationId xmlns:p14="http://schemas.microsoft.com/office/powerpoint/2010/main" val="2058263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Introduction </a:t>
            </a:r>
            <a:r>
              <a:rPr lang="en-US" b="1" dirty="0"/>
              <a:t>to Project Scope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Project </a:t>
            </a:r>
            <a:r>
              <a:rPr lang="en-US" dirty="0"/>
              <a:t>scope refers to the totality of work required to deliver a product, service, or result with specified features and functions. </a:t>
            </a:r>
            <a:endParaRPr lang="en-US" dirty="0" smtClean="0"/>
          </a:p>
          <a:p>
            <a:r>
              <a:rPr lang="en-US" dirty="0" smtClean="0"/>
              <a:t>At </a:t>
            </a:r>
            <a:r>
              <a:rPr lang="en-US" dirty="0"/>
              <a:t>an advanced level, scope is understood as both a technical and managerial construct that defines project boundaries and success criteria.</a:t>
            </a:r>
          </a:p>
          <a:p>
            <a:r>
              <a:rPr lang="en-US" dirty="0"/>
              <a:t>Project scope answers the question: </a:t>
            </a:r>
            <a:r>
              <a:rPr lang="en-US" i="1" dirty="0"/>
              <a:t>What work must be done to successfully complete the project?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104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5738" y="1752606"/>
            <a:ext cx="8408019" cy="1822514"/>
          </a:xfrm>
        </p:spPr>
        <p:txBody>
          <a:bodyPr/>
          <a:lstStyle/>
          <a:p>
            <a:r>
              <a:rPr lang="en-US" b="1" dirty="0" smtClean="0"/>
              <a:t>Common </a:t>
            </a:r>
            <a:r>
              <a:rPr lang="en-US" b="1" dirty="0"/>
              <a:t>Terminology Related to Project Scope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4680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a. Scope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scope statement is a formal description of the project deliverables and the work required to create them.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typically includes: </a:t>
            </a:r>
            <a:endParaRPr lang="en-US" dirty="0" smtClean="0"/>
          </a:p>
          <a:p>
            <a:r>
              <a:rPr lang="en-US" dirty="0" smtClean="0"/>
              <a:t>- </a:t>
            </a:r>
            <a:r>
              <a:rPr lang="en-US" dirty="0"/>
              <a:t>Product scope description </a:t>
            </a:r>
            <a:r>
              <a:rPr lang="en-US" dirty="0" smtClean="0"/>
              <a:t>- </a:t>
            </a:r>
            <a:r>
              <a:rPr lang="en-US" dirty="0"/>
              <a:t>Major deliverables </a:t>
            </a:r>
            <a:r>
              <a:rPr lang="en-US" dirty="0" smtClean="0"/>
              <a:t>- </a:t>
            </a:r>
            <a:r>
              <a:rPr lang="en-US" dirty="0"/>
              <a:t>Acceptance criteria - Exclusions - Constraints and </a:t>
            </a:r>
            <a:r>
              <a:rPr lang="en-US" dirty="0" smtClean="0"/>
              <a:t>assumptions</a:t>
            </a:r>
          </a:p>
          <a:p>
            <a:r>
              <a:rPr lang="en-US" dirty="0" smtClean="0"/>
              <a:t>The scope statement provides a shared understanding of project objectives among stakeholders.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904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b. In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“In scope” refers to all work, deliverables, and activities that are explicitly included in the project scope statement. Only in-scope work is authorized for execution and funding.</a:t>
            </a:r>
          </a:p>
        </p:txBody>
      </p:sp>
    </p:spTree>
    <p:extLst>
      <p:ext uri="{BB962C8B-B14F-4D97-AF65-F5344CB8AC3E}">
        <p14:creationId xmlns:p14="http://schemas.microsoft.com/office/powerpoint/2010/main" val="1634606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c. Out of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“Out of scope” refers to work or deliverables that are explicitly excluded from the project. </a:t>
            </a:r>
            <a:endParaRPr lang="en-US" dirty="0" smtClean="0"/>
          </a:p>
          <a:p>
            <a:r>
              <a:rPr lang="en-US" dirty="0" smtClean="0"/>
              <a:t>Clearly </a:t>
            </a:r>
            <a:r>
              <a:rPr lang="en-US" dirty="0"/>
              <a:t>identifying out-of-scope items helps manage stakeholder expectations and reduces the risk of unauthorized work.</a:t>
            </a:r>
          </a:p>
        </p:txBody>
      </p:sp>
    </p:spTree>
    <p:extLst>
      <p:ext uri="{BB962C8B-B14F-4D97-AF65-F5344CB8AC3E}">
        <p14:creationId xmlns:p14="http://schemas.microsoft.com/office/powerpoint/2010/main" val="21039733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/>
              <a:t>Concept </a:t>
            </a:r>
            <a:r>
              <a:rPr lang="en-US" sz="4800" b="1" dirty="0"/>
              <a:t>of a Work Breakdown Structure (WBS)</a:t>
            </a:r>
            <a:endParaRPr lang="en-GB" sz="4800" b="1" dirty="0"/>
          </a:p>
        </p:txBody>
      </p:sp>
    </p:spTree>
    <p:extLst>
      <p:ext uri="{BB962C8B-B14F-4D97-AF65-F5344CB8AC3E}">
        <p14:creationId xmlns:p14="http://schemas.microsoft.com/office/powerpoint/2010/main" val="3474469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Work Breakdown Structure (WBS) is a hierarchical decomposition of the total project scope into smaller, more manageable components called work packages.</a:t>
            </a:r>
          </a:p>
        </p:txBody>
      </p:sp>
    </p:spTree>
    <p:extLst>
      <p:ext uri="{BB962C8B-B14F-4D97-AF65-F5344CB8AC3E}">
        <p14:creationId xmlns:p14="http://schemas.microsoft.com/office/powerpoint/2010/main" val="17342752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Purpose of the WBS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WBS serves several critical purposes: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- </a:t>
            </a:r>
            <a:r>
              <a:rPr lang="en-US" dirty="0"/>
              <a:t>Translates scope into manageable units of work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- </a:t>
            </a:r>
            <a:r>
              <a:rPr lang="en-US" dirty="0"/>
              <a:t>Provides a foundation for scheduling, cost estimating, and resource </a:t>
            </a:r>
            <a:r>
              <a:rPr lang="en-US" dirty="0" smtClean="0"/>
              <a:t>	planning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- </a:t>
            </a:r>
            <a:r>
              <a:rPr lang="en-US" dirty="0"/>
              <a:t>Enhances scope clarity and accountability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- </a:t>
            </a:r>
            <a:r>
              <a:rPr lang="en-US" dirty="0"/>
              <a:t>Supports performance measurement and control</a:t>
            </a:r>
          </a:p>
        </p:txBody>
      </p:sp>
    </p:spTree>
    <p:extLst>
      <p:ext uri="{BB962C8B-B14F-4D97-AF65-F5344CB8AC3E}">
        <p14:creationId xmlns:p14="http://schemas.microsoft.com/office/powerpoint/2010/main" val="2354512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Structure and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The top level represents the overall project deliverable</a:t>
            </a:r>
          </a:p>
          <a:p>
            <a:pPr lvl="0"/>
            <a:r>
              <a:rPr lang="en-US" dirty="0"/>
              <a:t>Lower levels represent progressively detailed components</a:t>
            </a:r>
          </a:p>
          <a:p>
            <a:pPr lvl="0"/>
            <a:r>
              <a:rPr lang="en-US" dirty="0"/>
              <a:t>Work packages are the lowest level and can be scheduled, cost-estimated, and assigned</a:t>
            </a:r>
          </a:p>
        </p:txBody>
      </p:sp>
    </p:spTree>
    <p:extLst>
      <p:ext uri="{BB962C8B-B14F-4D97-AF65-F5344CB8AC3E}">
        <p14:creationId xmlns:p14="http://schemas.microsoft.com/office/powerpoint/2010/main" val="26078415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Structure and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The top level represents the overall project deliverable</a:t>
            </a:r>
          </a:p>
          <a:p>
            <a:pPr lvl="0"/>
            <a:r>
              <a:rPr lang="en-US" dirty="0"/>
              <a:t>Lower levels represent progressively detailed components</a:t>
            </a:r>
          </a:p>
          <a:p>
            <a:pPr lvl="0"/>
            <a:r>
              <a:rPr lang="en-US" dirty="0"/>
              <a:t>Work packages are the lowest level and can be scheduled, cost-estimated, and </a:t>
            </a:r>
            <a:r>
              <a:rPr lang="en-US" dirty="0" smtClean="0"/>
              <a:t>assigned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4158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Types of WBS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two types of WBS: </a:t>
            </a:r>
            <a:endParaRPr lang="en-US" dirty="0" smtClean="0"/>
          </a:p>
          <a:p>
            <a:r>
              <a:rPr lang="en-US" dirty="0" smtClean="0">
                <a:solidFill>
                  <a:schemeClr val="tx1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) </a:t>
            </a:r>
            <a:r>
              <a:rPr lang="en-US" dirty="0"/>
              <a:t>Deliverable-Based </a:t>
            </a:r>
            <a:r>
              <a:rPr lang="en-US" dirty="0">
                <a:solidFill>
                  <a:schemeClr val="tx1"/>
                </a:solidFill>
              </a:rPr>
              <a:t> and 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 </a:t>
            </a:r>
            <a:r>
              <a:rPr lang="en-US" dirty="0"/>
              <a:t>Phase-Based </a:t>
            </a:r>
            <a:endParaRPr lang="en-US" dirty="0" smtClean="0"/>
          </a:p>
          <a:p>
            <a:r>
              <a:rPr lang="en-US" dirty="0" smtClean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chemeClr val="tx1"/>
                </a:solidFill>
              </a:rPr>
              <a:t>most common and preferred </a:t>
            </a:r>
            <a:r>
              <a:rPr lang="en-US" dirty="0"/>
              <a:t>approach is the Deliverable-Based approach.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main difference between the two approaches </a:t>
            </a:r>
            <a:r>
              <a:rPr lang="en-US" dirty="0" smtClean="0"/>
              <a:t>are the</a:t>
            </a:r>
            <a:r>
              <a:rPr lang="en-US" dirty="0"/>
              <a:t> </a:t>
            </a:r>
            <a:r>
              <a:rPr lang="en-US" b="1" dirty="0"/>
              <a:t>Elements</a:t>
            </a:r>
            <a:r>
              <a:rPr lang="en-US" dirty="0"/>
              <a:t> </a:t>
            </a:r>
            <a:r>
              <a:rPr lang="en-US" dirty="0" smtClean="0"/>
              <a:t>identified in </a:t>
            </a:r>
            <a:r>
              <a:rPr lang="en-US" dirty="0"/>
              <a:t>the first Level of the WBS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2233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Types of WBS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two types of WBS: </a:t>
            </a:r>
            <a:endParaRPr lang="en-US" dirty="0" smtClean="0"/>
          </a:p>
          <a:p>
            <a:r>
              <a:rPr lang="en-US" dirty="0" smtClean="0">
                <a:solidFill>
                  <a:schemeClr val="tx1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) </a:t>
            </a:r>
            <a:r>
              <a:rPr lang="en-US" dirty="0"/>
              <a:t>Deliverable-Based </a:t>
            </a:r>
            <a:r>
              <a:rPr lang="en-US" dirty="0">
                <a:solidFill>
                  <a:schemeClr val="tx1"/>
                </a:solidFill>
              </a:rPr>
              <a:t> and 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 </a:t>
            </a:r>
            <a:r>
              <a:rPr lang="en-US" dirty="0"/>
              <a:t>Phase-Based </a:t>
            </a:r>
            <a:endParaRPr lang="en-US" dirty="0" smtClean="0"/>
          </a:p>
          <a:p>
            <a:r>
              <a:rPr lang="en-US" dirty="0" smtClean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chemeClr val="tx1"/>
                </a:solidFill>
              </a:rPr>
              <a:t>most common and preferred </a:t>
            </a:r>
            <a:r>
              <a:rPr lang="en-US" dirty="0"/>
              <a:t>approach is the Deliverable-Based approach.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main difference between the two approaches </a:t>
            </a:r>
            <a:r>
              <a:rPr lang="en-US" dirty="0" smtClean="0"/>
              <a:t>are the</a:t>
            </a:r>
            <a:r>
              <a:rPr lang="en-US" dirty="0"/>
              <a:t> </a:t>
            </a:r>
            <a:r>
              <a:rPr lang="en-US" b="1" dirty="0"/>
              <a:t>Elements</a:t>
            </a:r>
            <a:r>
              <a:rPr lang="en-US" dirty="0"/>
              <a:t> </a:t>
            </a:r>
            <a:r>
              <a:rPr lang="en-US" dirty="0" smtClean="0"/>
              <a:t>identified in </a:t>
            </a:r>
            <a:r>
              <a:rPr lang="en-US" dirty="0"/>
              <a:t>the first Level of the WBS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4687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Deliverable-Based Work Breakdown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Deliverable-Based Work Breakdown Structure clearly demonstrates the relationship between the project deliverables (i.e., products, services or results) and the scope (i.e., work to be executed). </a:t>
            </a:r>
            <a:endParaRPr lang="en-US" dirty="0" smtClean="0"/>
          </a:p>
          <a:p>
            <a:r>
              <a:rPr lang="en-US" dirty="0" smtClean="0"/>
              <a:t>Figure </a:t>
            </a:r>
            <a:r>
              <a:rPr lang="en-US" dirty="0"/>
              <a:t>1 is an example of a Deliverable-Based WBS for building a house. </a:t>
            </a:r>
          </a:p>
        </p:txBody>
      </p:sp>
    </p:spTree>
    <p:extLst>
      <p:ext uri="{BB962C8B-B14F-4D97-AF65-F5344CB8AC3E}">
        <p14:creationId xmlns:p14="http://schemas.microsoft.com/office/powerpoint/2010/main" val="30891499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Deliverable-Based Work Breakdown Structure</a:t>
            </a:r>
          </a:p>
        </p:txBody>
      </p:sp>
      <p:pic>
        <p:nvPicPr>
          <p:cNvPr id="1026" name="Picture 2" descr="https://www.workbreakdownstructure.com/img/deliverable-based-wbs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2" y="2285999"/>
            <a:ext cx="9601195" cy="3977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82152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Phase-Based Work Breakdown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Figure 2, a Phase-Based WBS, the Level 1 has five Elements. </a:t>
            </a:r>
            <a:endParaRPr lang="en-US" dirty="0" smtClean="0"/>
          </a:p>
          <a:p>
            <a:r>
              <a:rPr lang="en-US" dirty="0" smtClean="0"/>
              <a:t>Each </a:t>
            </a:r>
            <a:r>
              <a:rPr lang="en-US" dirty="0"/>
              <a:t>of these Elements are typical phases of a project.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Level 2 Elements are the unique deliverables in each phase. </a:t>
            </a:r>
            <a:endParaRPr lang="en-US" dirty="0" smtClean="0"/>
          </a:p>
          <a:p>
            <a:r>
              <a:rPr lang="en-US" dirty="0" smtClean="0"/>
              <a:t>Regardless </a:t>
            </a:r>
            <a:r>
              <a:rPr lang="en-US" dirty="0"/>
              <a:t>of the type of WBS, the lower Level Elements are all deliverables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 </a:t>
            </a:r>
            <a:r>
              <a:rPr lang="en-US" dirty="0"/>
              <a:t>Notice that Elements in different Legs have the same name.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Phase-Based WBS requires work associated with multiple elements be divided into the work unique to each Level 1 Element.</a:t>
            </a:r>
          </a:p>
        </p:txBody>
      </p:sp>
    </p:spTree>
    <p:extLst>
      <p:ext uri="{BB962C8B-B14F-4D97-AF65-F5344CB8AC3E}">
        <p14:creationId xmlns:p14="http://schemas.microsoft.com/office/powerpoint/2010/main" val="39202551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Phase-Based Work Breakdown Structure</a:t>
            </a:r>
          </a:p>
        </p:txBody>
      </p:sp>
      <p:pic>
        <p:nvPicPr>
          <p:cNvPr id="2050" name="Picture 2" descr="wbs chart, work breakdown structure, phase base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423160"/>
            <a:ext cx="9601200" cy="3809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81917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QUESTION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Which of the following best describes the primary purpose of a WBS?</a:t>
            </a:r>
            <a:r>
              <a:rPr lang="en-US" dirty="0"/>
              <a:t> A. To list project activities in sequence</a:t>
            </a:r>
            <a:br>
              <a:rPr lang="en-US" dirty="0"/>
            </a:br>
            <a:r>
              <a:rPr lang="en-US" dirty="0"/>
              <a:t>B. To decompose project scope into manageable deliverables</a:t>
            </a:r>
            <a:br>
              <a:rPr lang="en-US" dirty="0"/>
            </a:br>
            <a:r>
              <a:rPr lang="en-US" dirty="0"/>
              <a:t>C. To estimate project duration</a:t>
            </a:r>
            <a:br>
              <a:rPr lang="en-US" dirty="0"/>
            </a:br>
            <a:r>
              <a:rPr lang="en-US" dirty="0"/>
              <a:t>D. To allocate the project </a:t>
            </a:r>
            <a:r>
              <a:rPr lang="en-US" dirty="0" smtClean="0"/>
              <a:t>budget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0691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QUESTION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Which of the following best describes the primary purpose of a WBS?</a:t>
            </a:r>
            <a:r>
              <a:rPr lang="en-US" dirty="0"/>
              <a:t> A. To list project activities in sequence</a:t>
            </a:r>
            <a:br>
              <a:rPr lang="en-US" dirty="0"/>
            </a:br>
            <a:r>
              <a:rPr lang="en-US" dirty="0"/>
              <a:t>B. To decompose project scope into manageable deliverables</a:t>
            </a:r>
            <a:br>
              <a:rPr lang="en-US" dirty="0"/>
            </a:br>
            <a:r>
              <a:rPr lang="en-US" dirty="0"/>
              <a:t>C. To estimate project duration</a:t>
            </a:r>
            <a:br>
              <a:rPr lang="en-US" dirty="0"/>
            </a:br>
            <a:r>
              <a:rPr lang="en-US" dirty="0"/>
              <a:t>D. To allocate the project budget</a:t>
            </a:r>
          </a:p>
          <a:p>
            <a:r>
              <a:rPr lang="en-US" b="1" dirty="0"/>
              <a:t>Correct Answer:</a:t>
            </a:r>
            <a:r>
              <a:rPr lang="en-US" dirty="0"/>
              <a:t> B</a:t>
            </a:r>
          </a:p>
        </p:txBody>
      </p:sp>
    </p:spTree>
    <p:extLst>
      <p:ext uri="{BB962C8B-B14F-4D97-AF65-F5344CB8AC3E}">
        <p14:creationId xmlns:p14="http://schemas.microsoft.com/office/powerpoint/2010/main" val="20311565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DISCUSSION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Why is the Project Management Plan considered an integration document rather than a standalone plan</a:t>
            </a:r>
            <a:r>
              <a:rPr lang="en-US" dirty="0" smtClean="0"/>
              <a:t>?</a:t>
            </a:r>
          </a:p>
          <a:p>
            <a:pPr lvl="0"/>
            <a:r>
              <a:rPr lang="en-US" dirty="0"/>
              <a:t>Discuss how poor scope definition can negatively affect both schedule and budget.</a:t>
            </a:r>
          </a:p>
          <a:p>
            <a:pPr lvl="0"/>
            <a:r>
              <a:rPr lang="en-US" dirty="0" smtClean="0"/>
              <a:t>In </a:t>
            </a:r>
            <a:r>
              <a:rPr lang="en-US" dirty="0"/>
              <a:t>what ways does the WBS support risk identification and cost estimation?</a:t>
            </a:r>
          </a:p>
          <a:p>
            <a:r>
              <a:rPr lang="en-US" dirty="0"/>
              <a:t>How can clearly defined out-of-scope items reduce stakeholder conflict?</a:t>
            </a:r>
          </a:p>
        </p:txBody>
      </p:sp>
    </p:spTree>
    <p:extLst>
      <p:ext uri="{BB962C8B-B14F-4D97-AF65-F5344CB8AC3E}">
        <p14:creationId xmlns:p14="http://schemas.microsoft.com/office/powerpoint/2010/main" val="289571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The Project Management Plan provides an integrated framework for managing complex projects. </a:t>
            </a:r>
            <a:endParaRPr lang="en-US" dirty="0" smtClean="0"/>
          </a:p>
          <a:p>
            <a:pPr algn="just"/>
            <a:r>
              <a:rPr lang="en-US" dirty="0" smtClean="0"/>
              <a:t>Understanding </a:t>
            </a:r>
            <a:r>
              <a:rPr lang="en-US" dirty="0"/>
              <a:t>the purpose and interdependency of its components—particularly scope, schedule, and budget—is essential for effective project control. </a:t>
            </a:r>
            <a:endParaRPr lang="en-US" dirty="0" smtClean="0"/>
          </a:p>
          <a:p>
            <a:pPr algn="just"/>
            <a:r>
              <a:rPr lang="en-US" dirty="0" smtClean="0"/>
              <a:t>Project </a:t>
            </a:r>
            <a:r>
              <a:rPr lang="en-US" dirty="0"/>
              <a:t>scope, when properly defined and decomposed through a Work Breakdown Structure, forms the foundation upon which all other planning and execution activities are built.</a:t>
            </a:r>
          </a:p>
        </p:txBody>
      </p:sp>
    </p:spTree>
    <p:extLst>
      <p:ext uri="{BB962C8B-B14F-4D97-AF65-F5344CB8AC3E}">
        <p14:creationId xmlns:p14="http://schemas.microsoft.com/office/powerpoint/2010/main" val="34186050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9600" b="1" dirty="0" smtClean="0"/>
              <a:t>THANK YOU</a:t>
            </a:r>
            <a:endParaRPr lang="en-GB" sz="9600" b="1" dirty="0"/>
          </a:p>
        </p:txBody>
      </p:sp>
    </p:spTree>
    <p:extLst>
      <p:ext uri="{BB962C8B-B14F-4D97-AF65-F5344CB8AC3E}">
        <p14:creationId xmlns:p14="http://schemas.microsoft.com/office/powerpoint/2010/main" val="24577917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173</TotalTime>
  <Words>1194</Words>
  <Application>Microsoft Office PowerPoint</Application>
  <PresentationFormat>Widescreen</PresentationFormat>
  <Paragraphs>133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Garamond</vt:lpstr>
      <vt:lpstr>Organic</vt:lpstr>
      <vt:lpstr>Project Management Plan and Project Scope</vt:lpstr>
      <vt:lpstr>Introduction</vt:lpstr>
      <vt:lpstr>Purpose of the Project Management Plan</vt:lpstr>
      <vt:lpstr>Purpose of Key Components of a Project Management Plan</vt:lpstr>
      <vt:lpstr>a. Scope Management Component</vt:lpstr>
      <vt:lpstr>b. Schedule Management Component</vt:lpstr>
      <vt:lpstr>c. Budget (Cost) Management Component</vt:lpstr>
      <vt:lpstr>d. Risk Management Component</vt:lpstr>
      <vt:lpstr>Worked Example: Project Management Plan Components</vt:lpstr>
      <vt:lpstr> Interdependency of Scope, Schedule, and Budget</vt:lpstr>
      <vt:lpstr>Nature of the Interdependency</vt:lpstr>
      <vt:lpstr>Concept of Project Scope</vt:lpstr>
      <vt:lpstr>Introduction to Project Scope</vt:lpstr>
      <vt:lpstr>Common Terminology Related to Project Scope</vt:lpstr>
      <vt:lpstr>a. Scope Statement</vt:lpstr>
      <vt:lpstr>b. In Scope</vt:lpstr>
      <vt:lpstr>c. Out of Scope</vt:lpstr>
      <vt:lpstr>Concept of a Work Breakdown Structure (WBS)</vt:lpstr>
      <vt:lpstr>Definition</vt:lpstr>
      <vt:lpstr>Purpose of the WBS</vt:lpstr>
      <vt:lpstr>Structure and Characteristics</vt:lpstr>
      <vt:lpstr>Structure and Characteristics</vt:lpstr>
      <vt:lpstr>Types of WBS</vt:lpstr>
      <vt:lpstr>Types of WBS</vt:lpstr>
      <vt:lpstr>Deliverable-Based Work Breakdown Structure</vt:lpstr>
      <vt:lpstr>Deliverable-Based Work Breakdown Structure</vt:lpstr>
      <vt:lpstr>Phase-Based Work Breakdown Structure</vt:lpstr>
      <vt:lpstr>Phase-Based Work Breakdown Structure</vt:lpstr>
      <vt:lpstr>QUESTION</vt:lpstr>
      <vt:lpstr>QUESTION</vt:lpstr>
      <vt:lpstr>DISCUSSION QUESTIONS</vt:lpstr>
      <vt:lpstr>SUMMARY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Plan and Project Scope</dc:title>
  <dc:creator>Microsoft account</dc:creator>
  <cp:lastModifiedBy>Microsoft account</cp:lastModifiedBy>
  <cp:revision>12</cp:revision>
  <dcterms:created xsi:type="dcterms:W3CDTF">2026-01-13T11:10:00Z</dcterms:created>
  <dcterms:modified xsi:type="dcterms:W3CDTF">2026-01-13T14:03:27Z</dcterms:modified>
</cp:coreProperties>
</file>